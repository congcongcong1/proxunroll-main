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780689afec469f" /><Relationship Type="http://schemas.openxmlformats.org/officeDocument/2006/relationships/extended-properties" Target="/docProps/app.xml" Id="R37e8a7327e4d41e1" /><Relationship Type="http://schemas.openxmlformats.org/officeDocument/2006/relationships/officeDocument" Target="/ppt/presentation.xml" Id="R634cadacf07846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9a550988b4663"/>
  </p:sldMasterIdLst>
  <p:notesMasterIdLst>
    <p:notesMasterId xmlns:r="http://schemas.openxmlformats.org/officeDocument/2006/relationships" r:id="R7dab7b89b53e4488"/>
  </p:notesMasterIdLst>
  <p:sldIdLst>
    <p:sldId xmlns:r="http://schemas.openxmlformats.org/officeDocument/2006/relationships" id="256" r:id="Rb24b24c74e4044e6"/>
    <p:sldId xmlns:r="http://schemas.openxmlformats.org/officeDocument/2006/relationships" id="257" r:id="Rb0aa6542b4b44742"/>
    <p:sldId xmlns:r="http://schemas.openxmlformats.org/officeDocument/2006/relationships" id="258" r:id="R35d1fe8d643c4654"/>
    <p:sldId xmlns:r="http://schemas.openxmlformats.org/officeDocument/2006/relationships" id="259" r:id="R1868f2aa88b64c57"/>
    <p:sldId xmlns:r="http://schemas.openxmlformats.org/officeDocument/2006/relationships" id="260" r:id="R8fecf24a1d4143c7"/>
    <p:sldId xmlns:r="http://schemas.openxmlformats.org/officeDocument/2006/relationships" id="261" r:id="R35bf97eb1084426f"/>
    <p:sldId xmlns:r="http://schemas.openxmlformats.org/officeDocument/2006/relationships" id="262" r:id="Read1210523c64736"/>
    <p:sldId xmlns:r="http://schemas.openxmlformats.org/officeDocument/2006/relationships" id="263" r:id="Rc4711aeef9024823"/>
    <p:sldId xmlns:r="http://schemas.openxmlformats.org/officeDocument/2006/relationships" id="264" r:id="Raf766c49eaa24fca"/>
    <p:sldId xmlns:r="http://schemas.openxmlformats.org/officeDocument/2006/relationships" id="265" r:id="R10c5db5f08004ada"/>
    <p:sldId xmlns:r="http://schemas.openxmlformats.org/officeDocument/2006/relationships" id="266" r:id="R6d527b36ccb448f6"/>
    <p:sldId xmlns:r="http://schemas.openxmlformats.org/officeDocument/2006/relationships" id="267" r:id="Re69073c042be43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631ae5999c4fad" /><Relationship Type="http://schemas.openxmlformats.org/officeDocument/2006/relationships/slideMaster" Target="/ppt/slideMasters/slideMaster1.xml" Id="R2039a550988b4663" /><Relationship Type="http://schemas.openxmlformats.org/officeDocument/2006/relationships/notesMaster" Target="/ppt/notesMasters/notesMaster1.xml" Id="R7dab7b89b53e4488" /><Relationship Type="http://schemas.openxmlformats.org/officeDocument/2006/relationships/presProps" Target="/ppt/presProps.xml" Id="Rf00899c7902140c4" /><Relationship Type="http://schemas.openxmlformats.org/officeDocument/2006/relationships/tableStyles" Target="/ppt/tableStyles.xml" Id="R78e5bd2ac88c4925" /><Relationship Type="http://schemas.openxmlformats.org/officeDocument/2006/relationships/slide" Target="/ppt/slides/slide1.xml" Id="Rb24b24c74e4044e6" /><Relationship Type="http://schemas.openxmlformats.org/officeDocument/2006/relationships/slide" Target="/ppt/slides/slide2.xml" Id="Rb0aa6542b4b44742" /><Relationship Type="http://schemas.openxmlformats.org/officeDocument/2006/relationships/slide" Target="/ppt/slides/slide3.xml" Id="R35d1fe8d643c4654" /><Relationship Type="http://schemas.openxmlformats.org/officeDocument/2006/relationships/slide" Target="/ppt/slides/slide4.xml" Id="R1868f2aa88b64c57" /><Relationship Type="http://schemas.openxmlformats.org/officeDocument/2006/relationships/slide" Target="/ppt/slides/slide5.xml" Id="R8fecf24a1d4143c7" /><Relationship Type="http://schemas.openxmlformats.org/officeDocument/2006/relationships/slide" Target="/ppt/slides/slide6.xml" Id="R35bf97eb1084426f" /><Relationship Type="http://schemas.openxmlformats.org/officeDocument/2006/relationships/slide" Target="/ppt/slides/slide7.xml" Id="Read1210523c64736" /><Relationship Type="http://schemas.openxmlformats.org/officeDocument/2006/relationships/slide" Target="/ppt/slides/slide8.xml" Id="Rc4711aeef9024823" /><Relationship Type="http://schemas.openxmlformats.org/officeDocument/2006/relationships/slide" Target="/ppt/slides/slide9.xml" Id="Raf766c49eaa24fca" /><Relationship Type="http://schemas.openxmlformats.org/officeDocument/2006/relationships/slide" Target="/ppt/slides/slide10.xml" Id="R10c5db5f08004ada" /><Relationship Type="http://schemas.openxmlformats.org/officeDocument/2006/relationships/slide" Target="/ppt/slides/slide11.xml" Id="R6d527b36ccb448f6" /><Relationship Type="http://schemas.openxmlformats.org/officeDocument/2006/relationships/slide" Target="/ppt/slides/slide12.xml" Id="Re69073c042be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8aeb9d701a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c9b5e08624454" /><Relationship Type="http://schemas.openxmlformats.org/officeDocument/2006/relationships/notesMaster" Target="/ppt/notesMasters/notesMaster1.xml" Id="R6f5f46a19c4d4d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59861736074807" /><Relationship Type="http://schemas.openxmlformats.org/officeDocument/2006/relationships/notesMaster" Target="/ppt/notesMasters/notesMaster1.xml" Id="R6fa5aaf8344949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081e5259c49ca" /><Relationship Type="http://schemas.openxmlformats.org/officeDocument/2006/relationships/notesMaster" Target="/ppt/notesMasters/notesMaster1.xml" Id="Ra4b89b3fa105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700284de274439" /><Relationship Type="http://schemas.openxmlformats.org/officeDocument/2006/relationships/notesMaster" Target="/ppt/notesMasters/notesMaster1.xml" Id="R16bac792593d49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9ace4806fd48f9" /><Relationship Type="http://schemas.openxmlformats.org/officeDocument/2006/relationships/notesMaster" Target="/ppt/notesMasters/notesMaster1.xml" Id="R11d652470d774d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f40568f3804a89" /><Relationship Type="http://schemas.openxmlformats.org/officeDocument/2006/relationships/notesMaster" Target="/ppt/notesMasters/notesMaster1.xml" Id="Rf25467b85202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3945d6d5184c18" /><Relationship Type="http://schemas.openxmlformats.org/officeDocument/2006/relationships/notesMaster" Target="/ppt/notesMasters/notesMaster1.xml" Id="R8207ad9b85c3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46da2bdb34526" /><Relationship Type="http://schemas.openxmlformats.org/officeDocument/2006/relationships/notesMaster" Target="/ppt/notesMasters/notesMaster1.xml" Id="Rb480490ff5e144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d8454483b741b6" /><Relationship Type="http://schemas.openxmlformats.org/officeDocument/2006/relationships/notesMaster" Target="/ppt/notesMasters/notesMaster1.xml" Id="R44bbc15c26dc42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5bfab22b4d4c2a" /><Relationship Type="http://schemas.openxmlformats.org/officeDocument/2006/relationships/notesMaster" Target="/ppt/notesMasters/notesMaster1.xml" Id="R6f3c9116504449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778197f234493" /><Relationship Type="http://schemas.openxmlformats.org/officeDocument/2006/relationships/notesMaster" Target="/ppt/notesMasters/notesMaster1.xml" Id="R533badd17f2c44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970d7f87d34182" /><Relationship Type="http://schemas.openxmlformats.org/officeDocument/2006/relationships/notesMaster" Target="/ppt/notesMasters/notesMaster1.xml" Id="R29cbefa6e67b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25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compare four reconstruction solvers, complete 10000 total HQS updates and evaluate 30 team-curated Nanjing web photographs. These are externally authored photographs, not team captures. Percentage improvement means reduction in equally weighted mean reconstruction MSE, with first-round HQS as the primary reference. Codex assisted with code, experiments, analysis and writing. Architecture and weights: https://github.com/pwangcs/ProxUnroll.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45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 = H X W^T + E simulates integrated single-pixel measurements from existing grayscale images. The experiment does not demonstrate optical acquisition. Source: Duarte et al., doi:10.1109/MSP.2007.914730.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45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four initial solvers use the same matrices and measured values. New and previous HQS variants also share the common MAT operator. DCT-FISTA lambda is fixed from the original separate validation experiment. Sources: Beck and Teboulle, doi:10.1137/080716542; Wang et al., arXiv:2505.23180.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50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supplied restorer uses convolution, window attention and memory between optimization stages within one image. It does not connect video frames. Source diagram and architecture: https://github.com/pwangcs/ProxUnroll.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50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 location-selected photographs, locked before inference and used only for testing. 18 campus photographs: Gulou and Xianlin, 9 each. 12 scenic photographs: Xuanwu Lake, Sun Yat-sen Mausoleum, Ming Xiaoling and Qinhuai/Fuzimiao, 3 each. These are externally authored web photographs collected by our team, not our own captures. Full-size PNG transcodes via wsrv.nl precede center-square Y grayscale / area resize to 256 x 256. Hashes and dimensions are recorded. This convenience collection contains related sites and repeated photographers.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Zhongshan Building in Nanjing University Gulou Campus 01 2012-11.JPG; 猫猫的日记本; CC BY-SA 3.0; source https://commons.wikimedia.org/wiki/File:Zhongshan_Building_in_Nanjing_University_Gulou_Campus_01_2012-11.JPG; license https://creativecommons.org/licenses/by-sa/3.0/. Adapted by gray center crop, area resize, and (where applicable) reconstruction. Full credits: runs/nanjing_web30_20261009/ATTRIBUTION.md.</a:t>
            </a:r>
          </a:p>
          <a:p xmlns:a="http://schemas.openxmlformats.org/drawingml/2006/main">
            <a:r>
              <a:t>南大仙林天文台.jpg; panoramio用户KrUDSO4†www.panoramio.com; CC BY-SA 3.0; source https://commons.wikimedia.org/wiki/File:%E5%8D%97%E5%A4%A7%E4%BB%99%E6%9E%97%E5%A4%A9%E6%96%87%E5%8F%B0.jpg; license https://creativecommons.org/licenses/by-sa/3.0/. Adapted by gray center crop, area resize, and (where applicable) reconstruction. Full credits: runs/nanjing_web30_20261009/ATTRIBUTION.md.</a:t>
            </a:r>
          </a:p>
          <a:p xmlns:a="http://schemas.openxmlformats.org/drawingml/2006/main">
            <a:r>
              <a:t>Night View of Qinhuai River with Scenic Cruise in Fuzi Miao 20170519.jpg; 4084470 0.smil; CC BY 4.0; source https://commons.wikimedia.org/wiki/File:Night_View_of_Qinhuai_River_with_Scenic_Cruise_in_Fuzi_Miao_20170519.jpg; license https://creativecommons.org/licenses/by/4.0/. Adapted by gray center crop, area resize, and (where applicable) reconstruction. Full credits: runs/nanjing_web30_20261009/ATTRIBUTION.md.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60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18 campus originals, every clean ratio. Four methods share the same common MAT sensing operator and the exact same measurements. No favorable photographs are removed. DCT-FISTA uses the frozen original validation lambda and 200 iterations. Both campus and scenic subset tables remain in the six-page report and comparison/dataset_summary.csv.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50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800 DIV2K training originals and 16 separate selection originals. First 100-step fine-tuning uses official weights. Round 2 initializes its selected weights with a new Adam optimizer; later continuation restores all optimizer, scheduler, RNG and step states. All six sensing factors stay frozen. Direct GT RMSE weights .01 for five intermediate outputs and .95 for final; noise choices 0,0,.01,.05. Data, objective and noise changes are not separately attributed. The same round-2 rule continues from 5000 to 10000 total updates within a 150-minute continuation budget. Exit code 0, actual checkpoint and training audit establish completion. Source: https://data.vision.ee.ethz.ch/cvl/DIV2K/.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60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 selection originals at sampling 10%/25% and noise 0/.01/.05. Mixed PSNR chooses the eligible best checkpoint, with clean PSNR at least initialization minus .03 dB. Initialization remains a candidate. The 5000-budget checkpoint selected step 4500; continuation selected step 10000. New photographs and their reconstruction scores are not used in selection. Full trace: runs/lab244_10000_20261009/finetune/validation.csv.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60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Ratio of equal-photograph mean MSE: 1 - mean candidate MSE / mean reference MSE. Candidate is the validation-selected 10000-step state. Official and 100-step references concern overall fine-tuning changes. The 5000-budget reference is the selected step-4500 state under the same round-2 rule. Noise repetitions are averaged inside each original. These related-site web samples support descriptive conclusions, not population confidence claims. All sources and preprocessing were locked before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60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clean/.01/.05 measurement noise levels at 10% sampling, compared with the 100-step HQS checkpoint. The same measurement values reach every method. All three predeclared seeds are averaged per photo; all six locations and every negative case remain in CSV. Strong-noise improvements do not imply equal gains for clean acquisition.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50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Smallest first-seed MSE reduction relative to the 5000-budget state. Photo web_xuanwu_lake_03, sampling 0.01, noise 0.0. Chosen after testing for diagnosis, not for model selection. Xuanwu Lake: small boats, building boundaries and water ripples blur under 1% clean measurements. Diagnostic skyline rows 106-161 raise MSE 14.02%, versus sky 8.72% and water 5.27%. Those bands are selected after test for diagnosis. Smoothing unsupported fine detail is a plausible prior effect, not an isolated training cause. All negative cases retained. 玄武湖13.jpg; 西安兵马俑; CC BY-SA 4.0; source https://commons.wikimedia.org/wiki/File:%E7%8E%84%E6%AD%A6%E6%B9%9613.jpg; license https://creativecommons.org/licenses/by-sa/4.0/. Adapted by gray center crop, area resize, and (where applicable) reconstruction. Full credits: runs/nanjing_web30_20261009/ATTRIBUTION.md.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speaking time: 45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collection is external-author web photography curated by the team, not self-captured data. One training seed, related scenes and unknown official-pretraining exposure limit generalization. The earlier 32-image DIV2K clean result was 1.84% improvement for the 5000-budget model; it remains preserved. 52 locked DIV2K holdout originals still await evaluation of the 10000-step model. No more training is selected from these test results. Six-page technical report, three-page literature review and this 12-slide deck are available. Timed rehearsal, student understanding and course registration/submission require the students. Codex assisted with code, execution, analysis, writing and slides. Architecture: Wang et al., CVPR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4070e5ef84c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e6f25208c475c" /><Relationship Type="http://schemas.openxmlformats.org/officeDocument/2006/relationships/slideLayout" Target="/ppt/slideLayouts/slideLayout1.xml" Id="R35b1214dad6a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b1214dad6a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772211804042" /><Relationship Type="http://schemas.openxmlformats.org/officeDocument/2006/relationships/image" Target="/ppt/media/image.png" Id="R82e0affce91b4e96" /><Relationship Type="http://schemas.openxmlformats.org/officeDocument/2006/relationships/notesSlide" Target="/ppt/notesSlides/notesSlide1.xml" Id="Rd70d8f30f02f47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038042e704719" /><Relationship Type="http://schemas.openxmlformats.org/officeDocument/2006/relationships/notesSlide" Target="/ppt/notesSlides/notesSlide2.xml" Id="R0f09878bae5245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558c788394eee" /><Relationship Type="http://schemas.openxmlformats.org/officeDocument/2006/relationships/notesSlide" Target="/ppt/notesSlides/notesSlide3.xml" Id="R913711078706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1b5e67a5e4907" /><Relationship Type="http://schemas.openxmlformats.org/officeDocument/2006/relationships/image" Target="/ppt/media/image2.png" Id="R1aab26704964413d" /><Relationship Type="http://schemas.openxmlformats.org/officeDocument/2006/relationships/notesSlide" Target="/ppt/notesSlides/notesSlide4.xml" Id="Rc93f28f9522f49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26eb3dcf1401c" /><Relationship Type="http://schemas.openxmlformats.org/officeDocument/2006/relationships/image" Target="/ppt/media/image3.png" Id="R3049231280764224" /><Relationship Type="http://schemas.openxmlformats.org/officeDocument/2006/relationships/image" Target="/ppt/media/image4.png" Id="R56c03ef059154681" /><Relationship Type="http://schemas.openxmlformats.org/officeDocument/2006/relationships/image" Target="/ppt/media/image5.png" Id="Rec69fac371ab4b63" /><Relationship Type="http://schemas.openxmlformats.org/officeDocument/2006/relationships/notesSlide" Target="/ppt/notesSlides/notesSlide5.xml" Id="R3b8c4320961f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0e7e0bad64fc5" /><Relationship Type="http://schemas.openxmlformats.org/officeDocument/2006/relationships/chart" Target="/ppt/slides/charts/chart1.xml" Id="Rea99127c2bd84c30" /><Relationship Type="http://schemas.openxmlformats.org/officeDocument/2006/relationships/notesSlide" Target="/ppt/notesSlides/notesSlide6.xml" Id="Rfa41fd61f8b5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ff0959ba54d29" /><Relationship Type="http://schemas.openxmlformats.org/officeDocument/2006/relationships/notesSlide" Target="/ppt/notesSlides/notesSlide7.xml" Id="Re70463c07d6349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6fd62f0b946bd" /><Relationship Type="http://schemas.openxmlformats.org/officeDocument/2006/relationships/chart" Target="/ppt/slides/charts/chart2.xml" Id="R7c3bce663de34dea" /><Relationship Type="http://schemas.openxmlformats.org/officeDocument/2006/relationships/notesSlide" Target="/ppt/notesSlides/notesSlide8.xml" Id="Rbb5e722047d447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eda12bbb440ae" /><Relationship Type="http://schemas.openxmlformats.org/officeDocument/2006/relationships/chart" Target="/ppt/slides/charts/chart3.xml" Id="R340bbebebd7a40ca" /><Relationship Type="http://schemas.openxmlformats.org/officeDocument/2006/relationships/notesSlide" Target="/ppt/notesSlides/notesSlide9.xml" Id="R111d9369e9d8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cc6cfe02640ae" /><Relationship Type="http://schemas.openxmlformats.org/officeDocument/2006/relationships/chart" Target="/ppt/slides/charts/chart4.xml" Id="R8a4113c084034042" /><Relationship Type="http://schemas.openxmlformats.org/officeDocument/2006/relationships/notesSlide" Target="/ppt/notesSlides/notesSlide10.xml" Id="Re01e57734fb748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b2e4c36a844ab" /><Relationship Type="http://schemas.openxmlformats.org/officeDocument/2006/relationships/image" Target="/ppt/media/image6.png" Id="Raa8729fe7a824059" /><Relationship Type="http://schemas.openxmlformats.org/officeDocument/2006/relationships/notesSlide" Target="/ppt/notesSlides/notesSlide11.xml" Id="R827ff604111543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f674e1c364e51" /><Relationship Type="http://schemas.openxmlformats.org/officeDocument/2006/relationships/notesSlide" Target="/ppt/notesSlides/notesSlide12.xml" Id="Rc2df8637c055463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Adjoint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28575">
              <a:solidFill>
                <a:srgbClr val="777777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0.00</c:formatCode>
                <c:ptCount val="5"/>
                <c:pt idx="0">
                  <c:v>20.43703</c:v>
                </c:pt>
                <c:pt idx="1">
                  <c:v>22.33662</c:v>
                </c:pt>
                <c:pt idx="2">
                  <c:v>23.9208</c:v>
                </c:pt>
                <c:pt idx="3">
                  <c:v>26.41853</c:v>
                </c:pt>
                <c:pt idx="4">
                  <c:v>29.43856</c:v>
                </c:pt>
              </c:numCache>
            </c:numRef>
          </c:yVal>
        </c:ser>
        <c:ser>
          <c:idx val="1"/>
          <c:order val="1"/>
          <c:tx>
            <c:v>DCT-FISTA</c:v>
          </c:tx>
          <c:spPr>
            <a:solidFill xmlns:a="http://schemas.openxmlformats.org/drawingml/2006/main">
              <a:srgbClr val="D78924"/>
            </a:solidFill>
            <a:ln xmlns:a="http://schemas.openxmlformats.org/drawingml/2006/main" w="28575">
              <a:solidFill>
                <a:srgbClr val="D78924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D78924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</c:numCache>
            </c:numRef>
          </c:xVal>
          <c:yVal>
            <c:numRef>
              <c:f>'Chart Data'!$D$2:$D$6</c:f>
              <c:numCache>
                <c:formatCode>0.00</c:formatCode>
                <c:ptCount val="5"/>
                <c:pt idx="0">
                  <c:v>21.05715</c:v>
                </c:pt>
                <c:pt idx="1">
                  <c:v>22.90554</c:v>
                </c:pt>
                <c:pt idx="2">
                  <c:v>24.60409</c:v>
                </c:pt>
                <c:pt idx="3">
                  <c:v>27.24662</c:v>
                </c:pt>
                <c:pt idx="4">
                  <c:v>30.34438</c:v>
                </c:pt>
              </c:numCache>
            </c:numRef>
          </c:yVal>
        </c:ser>
        <c:ser>
          <c:idx val="2"/>
          <c:order val="2"/>
          <c:tx>
            <c:v>Official HQS</c:v>
          </c:tx>
          <c:spPr>
            <a:solidFill xmlns:a="http://schemas.openxmlformats.org/drawingml/2006/main">
              <a:srgbClr val="147D78"/>
            </a:solidFill>
            <a:ln xmlns:a="http://schemas.openxmlformats.org/drawingml/2006/main" w="28575">
              <a:solidFill>
                <a:srgbClr val="147D7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47D78"/>
              </a:solidFill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</c:numCache>
            </c:numRef>
          </c:xVal>
          <c:yVal>
            <c:numRef>
              <c:f>'Chart Data'!$F$2:$F$6</c:f>
              <c:numCache>
                <c:formatCode>0.00</c:formatCode>
                <c:ptCount val="5"/>
                <c:pt idx="0">
                  <c:v>22.46843</c:v>
                </c:pt>
                <c:pt idx="1">
                  <c:v>25.7281</c:v>
                </c:pt>
                <c:pt idx="2">
                  <c:v>28.34543</c:v>
                </c:pt>
                <c:pt idx="3">
                  <c:v>32.51164</c:v>
                </c:pt>
                <c:pt idx="4">
                  <c:v>38.01563</c:v>
                </c:pt>
              </c:numCache>
            </c:numRef>
          </c:yVal>
        </c:ser>
        <c:ser>
          <c:idx val="3"/>
          <c:order val="3"/>
          <c:tx>
            <c:v>Official ADMM</c:v>
          </c:tx>
          <c:spPr>
            <a:solidFill xmlns:a="http://schemas.openxmlformats.org/drawingml/2006/main">
              <a:srgbClr val="B74760"/>
            </a:solidFill>
            <a:ln xmlns:a="http://schemas.openxmlformats.org/drawingml/2006/main" w="28575">
              <a:solidFill>
                <a:srgbClr val="B74760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74760"/>
              </a:solidFill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1</c:v>
                </c:pt>
                <c:pt idx="1">
                  <c:v>4</c:v>
                </c:pt>
                <c:pt idx="2">
                  <c:v>10</c:v>
                </c:pt>
                <c:pt idx="3">
                  <c:v>25</c:v>
                </c:pt>
                <c:pt idx="4">
                  <c:v>50</c:v>
                </c:pt>
              </c:numCache>
            </c:numRef>
          </c:xVal>
          <c:yVal>
            <c:numRef>
              <c:f>'Chart Data'!$H$2:$H$6</c:f>
              <c:numCache>
                <c:formatCode>0.00</c:formatCode>
                <c:ptCount val="5"/>
                <c:pt idx="0">
                  <c:v>22.45372</c:v>
                </c:pt>
                <c:pt idx="1">
                  <c:v>25.72056</c:v>
                </c:pt>
                <c:pt idx="2">
                  <c:v>28.37833</c:v>
                </c:pt>
                <c:pt idx="3">
                  <c:v>32.54311</c:v>
                </c:pt>
                <c:pt idx="4">
                  <c:v>38.03693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PSNR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Nominal clean sampling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Clean</c:v>
          </c:tx>
          <c:spPr>
            <a:solidFill xmlns:a="http://schemas.openxmlformats.org/drawingml/2006/main">
              <a:srgbClr val="147D78"/>
            </a:solidFill>
            <a:ln xmlns:a="http://schemas.openxmlformats.org/drawingml/2006/main" w="28575">
              <a:solidFill>
                <a:srgbClr val="147D7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147D78"/>
              </a:solidFill>
            </c:spPr>
          </c:marker>
          <c:xVal>
            <c:numRef>
              <c:f>'Chart Data'!$A$2:$A$51</c:f>
              <c:numCache>
                <c:formatCode>General</c:formatCode>
                <c:ptCount val="50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100</c:v>
                </c:pt>
                <c:pt idx="4">
                  <c:v>200</c:v>
                </c:pt>
                <c:pt idx="5">
                  <c:v>300</c:v>
                </c:pt>
                <c:pt idx="6">
                  <c:v>400</c:v>
                </c:pt>
                <c:pt idx="7">
                  <c:v>500</c:v>
                </c:pt>
                <c:pt idx="8">
                  <c:v>600</c:v>
                </c:pt>
                <c:pt idx="9">
                  <c:v>700</c:v>
                </c:pt>
                <c:pt idx="10">
                  <c:v>800</c:v>
                </c:pt>
                <c:pt idx="11">
                  <c:v>900</c:v>
                </c:pt>
                <c:pt idx="12">
                  <c:v>946</c:v>
                </c:pt>
                <c:pt idx="13">
                  <c:v>1000</c:v>
                </c:pt>
                <c:pt idx="14">
                  <c:v>1250</c:v>
                </c:pt>
                <c:pt idx="15">
                  <c:v>1500</c:v>
                </c:pt>
                <c:pt idx="16">
                  <c:v>1750</c:v>
                </c:pt>
                <c:pt idx="17">
                  <c:v>2000</c:v>
                </c:pt>
                <c:pt idx="18">
                  <c:v>2250</c:v>
                </c:pt>
                <c:pt idx="19">
                  <c:v>2500</c:v>
                </c:pt>
                <c:pt idx="20">
                  <c:v>2750</c:v>
                </c:pt>
                <c:pt idx="21">
                  <c:v>3000</c:v>
                </c:pt>
                <c:pt idx="22">
                  <c:v>3250</c:v>
                </c:pt>
                <c:pt idx="23">
                  <c:v>3500</c:v>
                </c:pt>
                <c:pt idx="24">
                  <c:v>3750</c:v>
                </c:pt>
                <c:pt idx="25">
                  <c:v>4000</c:v>
                </c:pt>
                <c:pt idx="26">
                  <c:v>4250</c:v>
                </c:pt>
                <c:pt idx="27">
                  <c:v>4500</c:v>
                </c:pt>
                <c:pt idx="28">
                  <c:v>4750</c:v>
                </c:pt>
                <c:pt idx="29">
                  <c:v>5000</c:v>
                </c:pt>
                <c:pt idx="30">
                  <c:v>5250</c:v>
                </c:pt>
                <c:pt idx="31">
                  <c:v>5500</c:v>
                </c:pt>
                <c:pt idx="32">
                  <c:v>5750</c:v>
                </c:pt>
                <c:pt idx="33">
                  <c:v>6000</c:v>
                </c:pt>
                <c:pt idx="34">
                  <c:v>6250</c:v>
                </c:pt>
                <c:pt idx="35">
                  <c:v>6500</c:v>
                </c:pt>
                <c:pt idx="36">
                  <c:v>6750</c:v>
                </c:pt>
                <c:pt idx="37">
                  <c:v>7000</c:v>
                </c:pt>
                <c:pt idx="38">
                  <c:v>7250</c:v>
                </c:pt>
                <c:pt idx="39">
                  <c:v>7500</c:v>
                </c:pt>
                <c:pt idx="40">
                  <c:v>7750</c:v>
                </c:pt>
                <c:pt idx="41">
                  <c:v>8000</c:v>
                </c:pt>
                <c:pt idx="42">
                  <c:v>8250</c:v>
                </c:pt>
                <c:pt idx="43">
                  <c:v>8500</c:v>
                </c:pt>
                <c:pt idx="44">
                  <c:v>8750</c:v>
                </c:pt>
                <c:pt idx="45">
                  <c:v>9000</c:v>
                </c:pt>
                <c:pt idx="46">
                  <c:v>9250</c:v>
                </c:pt>
                <c:pt idx="47">
                  <c:v>9500</c:v>
                </c:pt>
                <c:pt idx="48">
                  <c:v>9750</c:v>
                </c:pt>
                <c:pt idx="49">
                  <c:v>10000</c:v>
                </c:pt>
              </c:numCache>
            </c:numRef>
          </c:xVal>
          <c:yVal>
            <c:numRef>
              <c:f>'Chart Data'!$B$2:$B$51</c:f>
              <c:numCache>
                <c:formatCode>0.00</c:formatCode>
                <c:ptCount val="50"/>
                <c:pt idx="0">
                  <c:v>29.34043</c:v>
                </c:pt>
                <c:pt idx="1">
                  <c:v>29.339</c:v>
                </c:pt>
                <c:pt idx="2">
                  <c:v>29.33944</c:v>
                </c:pt>
                <c:pt idx="3">
                  <c:v>29.34632</c:v>
                </c:pt>
                <c:pt idx="4">
                  <c:v>29.3334</c:v>
                </c:pt>
                <c:pt idx="5">
                  <c:v>29.36886</c:v>
                </c:pt>
                <c:pt idx="6">
                  <c:v>29.3754</c:v>
                </c:pt>
                <c:pt idx="7">
                  <c:v>29.36451</c:v>
                </c:pt>
                <c:pt idx="8">
                  <c:v>29.38445</c:v>
                </c:pt>
                <c:pt idx="9">
                  <c:v>29.36841</c:v>
                </c:pt>
                <c:pt idx="10">
                  <c:v>29.37941</c:v>
                </c:pt>
                <c:pt idx="11">
                  <c:v>29.37734</c:v>
                </c:pt>
                <c:pt idx="12">
                  <c:v>29.37189</c:v>
                </c:pt>
                <c:pt idx="13">
                  <c:v>29.36871</c:v>
                </c:pt>
                <c:pt idx="14">
                  <c:v>29.39772</c:v>
                </c:pt>
                <c:pt idx="15">
                  <c:v>29.38803</c:v>
                </c:pt>
                <c:pt idx="16">
                  <c:v>29.39896</c:v>
                </c:pt>
                <c:pt idx="17">
                  <c:v>29.40047</c:v>
                </c:pt>
                <c:pt idx="18">
                  <c:v>29.40967</c:v>
                </c:pt>
                <c:pt idx="19">
                  <c:v>29.42584</c:v>
                </c:pt>
                <c:pt idx="20">
                  <c:v>29.42691</c:v>
                </c:pt>
                <c:pt idx="21">
                  <c:v>29.40747</c:v>
                </c:pt>
                <c:pt idx="22">
                  <c:v>29.43052</c:v>
                </c:pt>
                <c:pt idx="23">
                  <c:v>29.43647</c:v>
                </c:pt>
                <c:pt idx="24">
                  <c:v>29.42315</c:v>
                </c:pt>
                <c:pt idx="25">
                  <c:v>29.42304</c:v>
                </c:pt>
                <c:pt idx="26">
                  <c:v>29.42081</c:v>
                </c:pt>
                <c:pt idx="27">
                  <c:v>29.43121</c:v>
                </c:pt>
                <c:pt idx="28">
                  <c:v>29.42978</c:v>
                </c:pt>
                <c:pt idx="29">
                  <c:v>29.41309</c:v>
                </c:pt>
                <c:pt idx="30">
                  <c:v>29.43719</c:v>
                </c:pt>
                <c:pt idx="31">
                  <c:v>29.42561</c:v>
                </c:pt>
                <c:pt idx="32">
                  <c:v>29.44336</c:v>
                </c:pt>
                <c:pt idx="33">
                  <c:v>29.42087</c:v>
                </c:pt>
                <c:pt idx="34">
                  <c:v>29.4242</c:v>
                </c:pt>
                <c:pt idx="35">
                  <c:v>29.4298</c:v>
                </c:pt>
                <c:pt idx="36">
                  <c:v>29.44407</c:v>
                </c:pt>
                <c:pt idx="37">
                  <c:v>29.44569</c:v>
                </c:pt>
                <c:pt idx="38">
                  <c:v>29.43225</c:v>
                </c:pt>
                <c:pt idx="39">
                  <c:v>29.44738</c:v>
                </c:pt>
                <c:pt idx="40">
                  <c:v>29.43727</c:v>
                </c:pt>
                <c:pt idx="41">
                  <c:v>29.44021</c:v>
                </c:pt>
                <c:pt idx="42">
                  <c:v>29.4393</c:v>
                </c:pt>
                <c:pt idx="43">
                  <c:v>29.43957</c:v>
                </c:pt>
                <c:pt idx="44">
                  <c:v>29.44756</c:v>
                </c:pt>
                <c:pt idx="45">
                  <c:v>29.45934</c:v>
                </c:pt>
                <c:pt idx="46">
                  <c:v>29.44194</c:v>
                </c:pt>
                <c:pt idx="47">
                  <c:v>29.45257</c:v>
                </c:pt>
                <c:pt idx="48">
                  <c:v>29.45201</c:v>
                </c:pt>
                <c:pt idx="49">
                  <c:v>29.45765</c:v>
                </c:pt>
              </c:numCache>
            </c:numRef>
          </c:yVal>
        </c:ser>
        <c:ser>
          <c:idx val="1"/>
          <c:order val="1"/>
          <c:tx>
            <c:v>Mixed</c:v>
          </c:tx>
          <c:spPr>
            <a:solidFill xmlns:a="http://schemas.openxmlformats.org/drawingml/2006/main">
              <a:srgbClr val="D78924"/>
            </a:solidFill>
            <a:ln xmlns:a="http://schemas.openxmlformats.org/drawingml/2006/main" w="28575">
              <a:solidFill>
                <a:srgbClr val="D7892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D78924"/>
              </a:solidFill>
            </c:spPr>
          </c:marker>
          <c:xVal>
            <c:numRef>
              <c:f>'Chart Data'!$C$2:$C$51</c:f>
              <c:numCache>
                <c:formatCode>General</c:formatCode>
                <c:ptCount val="50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100</c:v>
                </c:pt>
                <c:pt idx="4">
                  <c:v>200</c:v>
                </c:pt>
                <c:pt idx="5">
                  <c:v>300</c:v>
                </c:pt>
                <c:pt idx="6">
                  <c:v>400</c:v>
                </c:pt>
                <c:pt idx="7">
                  <c:v>500</c:v>
                </c:pt>
                <c:pt idx="8">
                  <c:v>600</c:v>
                </c:pt>
                <c:pt idx="9">
                  <c:v>700</c:v>
                </c:pt>
                <c:pt idx="10">
                  <c:v>800</c:v>
                </c:pt>
                <c:pt idx="11">
                  <c:v>900</c:v>
                </c:pt>
                <c:pt idx="12">
                  <c:v>946</c:v>
                </c:pt>
                <c:pt idx="13">
                  <c:v>1000</c:v>
                </c:pt>
                <c:pt idx="14">
                  <c:v>1250</c:v>
                </c:pt>
                <c:pt idx="15">
                  <c:v>1500</c:v>
                </c:pt>
                <c:pt idx="16">
                  <c:v>1750</c:v>
                </c:pt>
                <c:pt idx="17">
                  <c:v>2000</c:v>
                </c:pt>
                <c:pt idx="18">
                  <c:v>2250</c:v>
                </c:pt>
                <c:pt idx="19">
                  <c:v>2500</c:v>
                </c:pt>
                <c:pt idx="20">
                  <c:v>2750</c:v>
                </c:pt>
                <c:pt idx="21">
                  <c:v>3000</c:v>
                </c:pt>
                <c:pt idx="22">
                  <c:v>3250</c:v>
                </c:pt>
                <c:pt idx="23">
                  <c:v>3500</c:v>
                </c:pt>
                <c:pt idx="24">
                  <c:v>3750</c:v>
                </c:pt>
                <c:pt idx="25">
                  <c:v>4000</c:v>
                </c:pt>
                <c:pt idx="26">
                  <c:v>4250</c:v>
                </c:pt>
                <c:pt idx="27">
                  <c:v>4500</c:v>
                </c:pt>
                <c:pt idx="28">
                  <c:v>4750</c:v>
                </c:pt>
                <c:pt idx="29">
                  <c:v>5000</c:v>
                </c:pt>
                <c:pt idx="30">
                  <c:v>5250</c:v>
                </c:pt>
                <c:pt idx="31">
                  <c:v>5500</c:v>
                </c:pt>
                <c:pt idx="32">
                  <c:v>5750</c:v>
                </c:pt>
                <c:pt idx="33">
                  <c:v>6000</c:v>
                </c:pt>
                <c:pt idx="34">
                  <c:v>6250</c:v>
                </c:pt>
                <c:pt idx="35">
                  <c:v>6500</c:v>
                </c:pt>
                <c:pt idx="36">
                  <c:v>6750</c:v>
                </c:pt>
                <c:pt idx="37">
                  <c:v>7000</c:v>
                </c:pt>
                <c:pt idx="38">
                  <c:v>7250</c:v>
                </c:pt>
                <c:pt idx="39">
                  <c:v>7500</c:v>
                </c:pt>
                <c:pt idx="40">
                  <c:v>7750</c:v>
                </c:pt>
                <c:pt idx="41">
                  <c:v>8000</c:v>
                </c:pt>
                <c:pt idx="42">
                  <c:v>8250</c:v>
                </c:pt>
                <c:pt idx="43">
                  <c:v>8500</c:v>
                </c:pt>
                <c:pt idx="44">
                  <c:v>8750</c:v>
                </c:pt>
                <c:pt idx="45">
                  <c:v>9000</c:v>
                </c:pt>
                <c:pt idx="46">
                  <c:v>9250</c:v>
                </c:pt>
                <c:pt idx="47">
                  <c:v>9500</c:v>
                </c:pt>
                <c:pt idx="48">
                  <c:v>9750</c:v>
                </c:pt>
                <c:pt idx="49">
                  <c:v>10000</c:v>
                </c:pt>
              </c:numCache>
            </c:numRef>
          </c:xVal>
          <c:yVal>
            <c:numRef>
              <c:f>'Chart Data'!$D$2:$D$51</c:f>
              <c:numCache>
                <c:formatCode>0.00</c:formatCode>
                <c:ptCount val="50"/>
                <c:pt idx="0">
                  <c:v>28.2664</c:v>
                </c:pt>
                <c:pt idx="1">
                  <c:v>28.26237</c:v>
                </c:pt>
                <c:pt idx="2">
                  <c:v>28.26528</c:v>
                </c:pt>
                <c:pt idx="3">
                  <c:v>28.35145</c:v>
                </c:pt>
                <c:pt idx="4">
                  <c:v>28.37442</c:v>
                </c:pt>
                <c:pt idx="5">
                  <c:v>28.45131</c:v>
                </c:pt>
                <c:pt idx="6">
                  <c:v>28.47225</c:v>
                </c:pt>
                <c:pt idx="7">
                  <c:v>28.47873</c:v>
                </c:pt>
                <c:pt idx="8">
                  <c:v>28.48952</c:v>
                </c:pt>
                <c:pt idx="9">
                  <c:v>28.48582</c:v>
                </c:pt>
                <c:pt idx="10">
                  <c:v>28.5011</c:v>
                </c:pt>
                <c:pt idx="11">
                  <c:v>28.50404</c:v>
                </c:pt>
                <c:pt idx="12">
                  <c:v>28.49948</c:v>
                </c:pt>
                <c:pt idx="13">
                  <c:v>28.4864</c:v>
                </c:pt>
                <c:pt idx="14">
                  <c:v>28.51877</c:v>
                </c:pt>
                <c:pt idx="15">
                  <c:v>28.50846</c:v>
                </c:pt>
                <c:pt idx="16">
                  <c:v>28.52345</c:v>
                </c:pt>
                <c:pt idx="17">
                  <c:v>28.53456</c:v>
                </c:pt>
                <c:pt idx="18">
                  <c:v>28.54111</c:v>
                </c:pt>
                <c:pt idx="19">
                  <c:v>28.54483</c:v>
                </c:pt>
                <c:pt idx="20">
                  <c:v>28.55525</c:v>
                </c:pt>
                <c:pt idx="21">
                  <c:v>28.53229</c:v>
                </c:pt>
                <c:pt idx="22">
                  <c:v>28.55705</c:v>
                </c:pt>
                <c:pt idx="23">
                  <c:v>28.56105</c:v>
                </c:pt>
                <c:pt idx="24">
                  <c:v>28.55613</c:v>
                </c:pt>
                <c:pt idx="25">
                  <c:v>28.55816</c:v>
                </c:pt>
                <c:pt idx="26">
                  <c:v>28.55045</c:v>
                </c:pt>
                <c:pt idx="27">
                  <c:v>28.56119</c:v>
                </c:pt>
                <c:pt idx="28">
                  <c:v>28.5593</c:v>
                </c:pt>
                <c:pt idx="29">
                  <c:v>28.5528</c:v>
                </c:pt>
                <c:pt idx="30">
                  <c:v>28.56553</c:v>
                </c:pt>
                <c:pt idx="31">
                  <c:v>28.55651</c:v>
                </c:pt>
                <c:pt idx="32">
                  <c:v>28.56875</c:v>
                </c:pt>
                <c:pt idx="33">
                  <c:v>28.5579</c:v>
                </c:pt>
                <c:pt idx="34">
                  <c:v>28.55866</c:v>
                </c:pt>
                <c:pt idx="35">
                  <c:v>28.56374</c:v>
                </c:pt>
                <c:pt idx="36">
                  <c:v>28.57004</c:v>
                </c:pt>
                <c:pt idx="37">
                  <c:v>28.57762</c:v>
                </c:pt>
                <c:pt idx="38">
                  <c:v>28.56648</c:v>
                </c:pt>
                <c:pt idx="39">
                  <c:v>28.57566</c:v>
                </c:pt>
                <c:pt idx="40">
                  <c:v>28.56883</c:v>
                </c:pt>
                <c:pt idx="41">
                  <c:v>28.57162</c:v>
                </c:pt>
                <c:pt idx="42">
                  <c:v>28.56651</c:v>
                </c:pt>
                <c:pt idx="43">
                  <c:v>28.56513</c:v>
                </c:pt>
                <c:pt idx="44">
                  <c:v>28.57777</c:v>
                </c:pt>
                <c:pt idx="45">
                  <c:v>28.58134</c:v>
                </c:pt>
                <c:pt idx="46">
                  <c:v>28.57242</c:v>
                </c:pt>
                <c:pt idx="47">
                  <c:v>28.58168</c:v>
                </c:pt>
                <c:pt idx="48">
                  <c:v>28.57806</c:v>
                </c:pt>
                <c:pt idx="49">
                  <c:v>28.58515</c:v>
                </c:pt>
              </c:numCache>
            </c:numRef>
          </c:yVal>
        </c:ser>
        <c:ser>
          <c:idx val="2"/>
          <c:order val="2"/>
          <c:tx>
            <c:v>Strong noise</c:v>
          </c:tx>
          <c:spPr>
            <a:solidFill xmlns:a="http://schemas.openxmlformats.org/drawingml/2006/main">
              <a:srgbClr val="B74760"/>
            </a:solidFill>
            <a:ln xmlns:a="http://schemas.openxmlformats.org/drawingml/2006/main" w="28575">
              <a:solidFill>
                <a:srgbClr val="B7476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74760"/>
              </a:solidFill>
            </c:spPr>
          </c:marke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100</c:v>
                </c:pt>
                <c:pt idx="4">
                  <c:v>200</c:v>
                </c:pt>
                <c:pt idx="5">
                  <c:v>300</c:v>
                </c:pt>
                <c:pt idx="6">
                  <c:v>400</c:v>
                </c:pt>
                <c:pt idx="7">
                  <c:v>500</c:v>
                </c:pt>
                <c:pt idx="8">
                  <c:v>600</c:v>
                </c:pt>
                <c:pt idx="9">
                  <c:v>700</c:v>
                </c:pt>
                <c:pt idx="10">
                  <c:v>800</c:v>
                </c:pt>
                <c:pt idx="11">
                  <c:v>900</c:v>
                </c:pt>
                <c:pt idx="12">
                  <c:v>946</c:v>
                </c:pt>
                <c:pt idx="13">
                  <c:v>1000</c:v>
                </c:pt>
                <c:pt idx="14">
                  <c:v>1250</c:v>
                </c:pt>
                <c:pt idx="15">
                  <c:v>1500</c:v>
                </c:pt>
                <c:pt idx="16">
                  <c:v>1750</c:v>
                </c:pt>
                <c:pt idx="17">
                  <c:v>2000</c:v>
                </c:pt>
                <c:pt idx="18">
                  <c:v>2250</c:v>
                </c:pt>
                <c:pt idx="19">
                  <c:v>2500</c:v>
                </c:pt>
                <c:pt idx="20">
                  <c:v>2750</c:v>
                </c:pt>
                <c:pt idx="21">
                  <c:v>3000</c:v>
                </c:pt>
                <c:pt idx="22">
                  <c:v>3250</c:v>
                </c:pt>
                <c:pt idx="23">
                  <c:v>3500</c:v>
                </c:pt>
                <c:pt idx="24">
                  <c:v>3750</c:v>
                </c:pt>
                <c:pt idx="25">
                  <c:v>4000</c:v>
                </c:pt>
                <c:pt idx="26">
                  <c:v>4250</c:v>
                </c:pt>
                <c:pt idx="27">
                  <c:v>4500</c:v>
                </c:pt>
                <c:pt idx="28">
                  <c:v>4750</c:v>
                </c:pt>
                <c:pt idx="29">
                  <c:v>5000</c:v>
                </c:pt>
                <c:pt idx="30">
                  <c:v>5250</c:v>
                </c:pt>
                <c:pt idx="31">
                  <c:v>5500</c:v>
                </c:pt>
                <c:pt idx="32">
                  <c:v>5750</c:v>
                </c:pt>
                <c:pt idx="33">
                  <c:v>6000</c:v>
                </c:pt>
                <c:pt idx="34">
                  <c:v>6250</c:v>
                </c:pt>
                <c:pt idx="35">
                  <c:v>6500</c:v>
                </c:pt>
                <c:pt idx="36">
                  <c:v>6750</c:v>
                </c:pt>
                <c:pt idx="37">
                  <c:v>7000</c:v>
                </c:pt>
                <c:pt idx="38">
                  <c:v>7250</c:v>
                </c:pt>
                <c:pt idx="39">
                  <c:v>7500</c:v>
                </c:pt>
                <c:pt idx="40">
                  <c:v>7750</c:v>
                </c:pt>
                <c:pt idx="41">
                  <c:v>8000</c:v>
                </c:pt>
                <c:pt idx="42">
                  <c:v>8250</c:v>
                </c:pt>
                <c:pt idx="43">
                  <c:v>8500</c:v>
                </c:pt>
                <c:pt idx="44">
                  <c:v>8750</c:v>
                </c:pt>
                <c:pt idx="45">
                  <c:v>9000</c:v>
                </c:pt>
                <c:pt idx="46">
                  <c:v>9250</c:v>
                </c:pt>
                <c:pt idx="47">
                  <c:v>9500</c:v>
                </c:pt>
                <c:pt idx="48">
                  <c:v>9750</c:v>
                </c:pt>
                <c:pt idx="49">
                  <c:v>10000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26.46019</c:v>
                </c:pt>
                <c:pt idx="1">
                  <c:v>26.45135</c:v>
                </c:pt>
                <c:pt idx="2">
                  <c:v>26.45732</c:v>
                </c:pt>
                <c:pt idx="3">
                  <c:v>26.67232</c:v>
                </c:pt>
                <c:pt idx="4">
                  <c:v>26.76623</c:v>
                </c:pt>
                <c:pt idx="5">
                  <c:v>26.93399</c:v>
                </c:pt>
                <c:pt idx="6">
                  <c:v>26.98562</c:v>
                </c:pt>
                <c:pt idx="7">
                  <c:v>27.02276</c:v>
                </c:pt>
                <c:pt idx="8">
                  <c:v>27.02462</c:v>
                </c:pt>
                <c:pt idx="9">
                  <c:v>27.04038</c:v>
                </c:pt>
                <c:pt idx="10">
                  <c:v>27.06391</c:v>
                </c:pt>
                <c:pt idx="11">
                  <c:v>27.07677</c:v>
                </c:pt>
                <c:pt idx="12">
                  <c:v>27.07486</c:v>
                </c:pt>
                <c:pt idx="13">
                  <c:v>27.04372</c:v>
                </c:pt>
                <c:pt idx="14">
                  <c:v>27.08997</c:v>
                </c:pt>
                <c:pt idx="15">
                  <c:v>27.07363</c:v>
                </c:pt>
                <c:pt idx="16">
                  <c:v>27.10096</c:v>
                </c:pt>
                <c:pt idx="17">
                  <c:v>27.12674</c:v>
                </c:pt>
                <c:pt idx="18">
                  <c:v>27.13348</c:v>
                </c:pt>
                <c:pt idx="19">
                  <c:v>27.11752</c:v>
                </c:pt>
                <c:pt idx="20">
                  <c:v>27.14184</c:v>
                </c:pt>
                <c:pt idx="21">
                  <c:v>27.1112</c:v>
                </c:pt>
                <c:pt idx="22">
                  <c:v>27.14492</c:v>
                </c:pt>
                <c:pt idx="23">
                  <c:v>27.14644</c:v>
                </c:pt>
                <c:pt idx="24">
                  <c:v>27.14835</c:v>
                </c:pt>
                <c:pt idx="25">
                  <c:v>27.1577</c:v>
                </c:pt>
                <c:pt idx="26">
                  <c:v>27.14076</c:v>
                </c:pt>
                <c:pt idx="27">
                  <c:v>27.1562</c:v>
                </c:pt>
                <c:pt idx="28">
                  <c:v>27.15398</c:v>
                </c:pt>
                <c:pt idx="29">
                  <c:v>27.15805</c:v>
                </c:pt>
                <c:pt idx="30">
                  <c:v>27.15828</c:v>
                </c:pt>
                <c:pt idx="31">
                  <c:v>27.15312</c:v>
                </c:pt>
                <c:pt idx="32">
                  <c:v>27.15423</c:v>
                </c:pt>
                <c:pt idx="33">
                  <c:v>27.15922</c:v>
                </c:pt>
                <c:pt idx="34">
                  <c:v>27.15847</c:v>
                </c:pt>
                <c:pt idx="35">
                  <c:v>27.16309</c:v>
                </c:pt>
                <c:pt idx="36">
                  <c:v>27.15976</c:v>
                </c:pt>
                <c:pt idx="37">
                  <c:v>27.1752</c:v>
                </c:pt>
                <c:pt idx="38">
                  <c:v>27.16871</c:v>
                </c:pt>
                <c:pt idx="39">
                  <c:v>27.16859</c:v>
                </c:pt>
                <c:pt idx="40">
                  <c:v>27.16636</c:v>
                </c:pt>
                <c:pt idx="41">
                  <c:v>27.16772</c:v>
                </c:pt>
                <c:pt idx="42">
                  <c:v>27.15582</c:v>
                </c:pt>
                <c:pt idx="43">
                  <c:v>27.15534</c:v>
                </c:pt>
                <c:pt idx="44">
                  <c:v>27.17427</c:v>
                </c:pt>
                <c:pt idx="45">
                  <c:v>27.16798</c:v>
                </c:pt>
                <c:pt idx="46">
                  <c:v>27.1715</c:v>
                </c:pt>
                <c:pt idx="47">
                  <c:v>27.1783</c:v>
                </c:pt>
                <c:pt idx="48">
                  <c:v>27.17134</c:v>
                </c:pt>
                <c:pt idx="49">
                  <c:v>27.18201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2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Selection PSNR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1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Round-2 total optimization step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vs official</c:v>
          </c:tx>
          <c:spPr>
            <a:solidFill xmlns:a="http://schemas.openxmlformats.org/drawingml/2006/main">
              <a:srgbClr val="D78924"/>
            </a:solidFill>
          </c:spPr>
          <c:cat>
            <c:strRef>
              <c:f>'Chart Data'!$A$2:$A$3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0.03902</c:v>
                </c:pt>
                <c:pt idx="1">
                  <c:v>0.05244</c:v>
                </c:pt>
              </c:numCache>
            </c:numRef>
          </c:val>
        </c:ser>
        <c:ser>
          <c:idx val="1"/>
          <c:order val="1"/>
          <c:tx>
            <c:v>vs 100-step</c:v>
          </c:tx>
          <c:spPr>
            <a:solidFill xmlns:a="http://schemas.openxmlformats.org/drawingml/2006/main">
              <a:srgbClr val="147D78"/>
            </a:solidFill>
          </c:spPr>
          <c:cat>
            <c:strRef>
              <c:f>'Chart Data'!$C$2:$C$3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0.01733</c:v>
                </c:pt>
                <c:pt idx="1">
                  <c:v>0.01912</c:v>
                </c:pt>
              </c:numCache>
            </c:numRef>
          </c:val>
        </c:ser>
        <c:ser>
          <c:idx val="2"/>
          <c:order val="2"/>
          <c:tx>
            <c:v>vs 5000-budget</c:v>
          </c:tx>
          <c:spPr>
            <a:solidFill xmlns:a="http://schemas.openxmlformats.org/drawingml/2006/main">
              <a:srgbClr val="B74760"/>
            </a:solidFill>
          </c:spPr>
          <c:cat>
            <c:strRef>
              <c:f>'Chart Data'!$E$2:$E$3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0.00367</c:v>
                </c:pt>
                <c:pt idx="1">
                  <c:v>0.00471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MSE reduction: 10000-step HQS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noise 0</c:v>
          </c:tx>
          <c:spPr>
            <a:solidFill xmlns:a="http://schemas.openxmlformats.org/drawingml/2006/main">
              <a:srgbClr val="147D78"/>
            </a:solidFill>
          </c:spPr>
          <c:cat>
            <c:strRef>
              <c:f>'Chart Data'!$A$2:$A$3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0.01733</c:v>
                </c:pt>
                <c:pt idx="1">
                  <c:v>0.01912</c:v>
                </c:pt>
              </c:numCache>
            </c:numRef>
          </c:val>
        </c:ser>
        <c:ser>
          <c:idx val="1"/>
          <c:order val="1"/>
          <c:tx>
            <c:v>noise 0.01</c:v>
          </c:tx>
          <c:spPr>
            <a:solidFill xmlns:a="http://schemas.openxmlformats.org/drawingml/2006/main">
              <a:srgbClr val="D78924"/>
            </a:solidFill>
          </c:spPr>
          <c:cat>
            <c:strRef>
              <c:f>'Chart Data'!$C$2:$C$3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0.02056</c:v>
                </c:pt>
                <c:pt idx="1">
                  <c:v>0.0237</c:v>
                </c:pt>
              </c:numCache>
            </c:numRef>
          </c:val>
        </c:ser>
        <c:ser>
          <c:idx val="2"/>
          <c:order val="2"/>
          <c:tx>
            <c:v>noise 0.05</c:v>
          </c:tx>
          <c:spPr>
            <a:solidFill xmlns:a="http://schemas.openxmlformats.org/drawingml/2006/main">
              <a:srgbClr val="B74760"/>
            </a:solidFill>
          </c:spPr>
          <c:cat>
            <c:strRef>
              <c:f>'Chart Data'!$E$2:$E$3</c:f>
              <c:strCache>
                <c:ptCount val="2"/>
                <c:pt idx="0">
                  <c:v>NJU campus (18)</c:v>
                </c:pt>
                <c:pt idx="1">
                  <c:v>Nanjing scenic (12)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0.22757</c:v>
                </c:pt>
                <c:pt idx="1">
                  <c:v>0.24904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MSE reduction vs 100-step HQS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29E2-A9E8-41BD-826F-C8D0C74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Single-Pixel Imaging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44788-E3AF-4551-AD7D-5179A851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FDEEF-B780-4A2D-9E28-629D0BF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Noisy measurements</a:t>
            </a:r>
          </a:p>
          <a:p xmlns:a="http://schemas.openxmlformats.org/drawingml/2006/main">
            <a:pPr>
              <a:buNone/>
              <a:defRPr sz="2850" b="0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and bounded HQS fine-tuning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2D5D0-B91F-44D7-95CB-1EC3E3BD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Zicong Luo    522026230043</a:t>
            </a:r>
          </a:p>
          <a:p xmlns:a="http://schemas.openxmlformats.org/drawingml/2006/main">
            <a:pPr>
              <a:buNone/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Shuhao Yang    502026230083</a:t>
            </a:r>
          </a:p>
          <a:p xmlns:a="http://schemas.openxmlformats.org/drawingml/2006/main">
            <a:pPr>
              <a:buNone/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Yubowen Li    502026230092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0EA1E-02CA-4AA1-8E6B-D2BA82F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Topic 7  /  Computational Imaging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0affce91b4e96"/>
          <a:stretch xmlns:a="http://schemas.openxmlformats.org/drawingml/2006/main"/>
        </p:blipFill>
        <p:spPr>
          <a:xfrm xmlns:a="http://schemas.openxmlformats.org/drawingml/2006/main">
            <a:off x="8382000" y="182880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00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552AD-C385-43E2-BACE-1FA7CAC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The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F36D6-B69B-47FA-BBA3-81BEE98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CC025-ECAC-4294-8179-019C6B0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Y = H X W^T +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F390-B401-4139-A951-38BF4334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X: image     H, W: known sensing factors     E: measurement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4D130-3F39-47A3-A8EA-123C5CA1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One integrated measurement per mask</a:t>
            </a:r>
          </a:p>
          <a:p xmlns:a="http://schemas.openxmlformats.org/drawingml/2006/main">
            <a:pPr>
              <a:buNone/>
              <a:def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A sequence of masks supplies spatial constraints</a:t>
            </a:r>
          </a:p>
          <a:p xmlns:a="http://schemas.openxmlformats.org/drawingml/2006/main">
            <a:pPr>
              <a:buNone/>
              <a:def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Fewer measurements leave more ambiguity</a:t>
            </a:r>
          </a:p>
        </p:txBody>
      </p:sp>
    </p:spTree>
    <p:extLst>
      <p:ext uri="{BB962C8B-B14F-4D97-AF65-F5344CB8AC3E}">
        <p14:creationId xmlns:p14="http://schemas.microsoft.com/office/powerpoint/2010/main" val="801518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91289-3F0A-4CC2-9697-E6A3EB5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Explicit sparsity and a learned prior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8C9C6-37C9-4960-81FE-9E9DCBE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EE474-773F-4EE4-9C00-9986EE5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D789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78924"/>
                </a:solidFill>
                <a:latin typeface="Helvetica Neue"/>
                <a:ea typeface="Helvetica Neue"/>
                <a:cs typeface="Helvetica Neue"/>
              </a:rPr>
              <a:t>DCT-FISTA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73E26-A713-4F7A-A6C9-A7F1BC7A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50482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Explicit transform penalty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200 optimization iterations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Validation-selected regularization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No network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1370E-9A23-4569-BBE9-12C7C297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2400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ProxUnroll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DD062-8CE5-4AD5-9DB9-B7F3DFDE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43150"/>
            <a:ext cx="4905375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Official HQS and ADMM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Six shared-weight stages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Common sensing operator</a:t>
            </a:r>
          </a:p>
          <a:p xmlns:a="http://schemas.openxmlformats.org/drawingml/2006/main">
            <a:pPr>
              <a:buNone/>
              <a:def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Noise-aware HQS fine-tuning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42CD8-6DEE-4230-B549-04E43A44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Main comparison: identical images, sensing factors, measurements, and noise</a:t>
            </a:r>
          </a:p>
        </p:txBody>
      </p:sp>
    </p:spTree>
    <p:extLst>
      <p:ext uri="{BB962C8B-B14F-4D97-AF65-F5344CB8AC3E}">
        <p14:creationId xmlns:p14="http://schemas.microsoft.com/office/powerpoint/2010/main" val="241594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8904A-09CB-4F27-80C5-103D7F5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The shared image restorer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9698D-F6A8-4AC1-9C50-2726E62C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b26704964413d"/>
          <a:stretch xmlns:a="http://schemas.openxmlformats.org/drawingml/2006/main"/>
        </p:blipFill>
        <p:spPr>
          <a:xfrm xmlns:a="http://schemas.openxmlformats.org/drawingml/2006/main">
            <a:off x="619125" y="1675544"/>
            <a:ext cx="10906125" cy="27925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0B238-6886-444E-8FF2-4A448E7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Convolution and attention restore the image at multiple scales</a:t>
            </a:r>
          </a:p>
          <a:p xmlns:a="http://schemas.openxmlformats.org/drawingml/2006/main">
            <a:pPr>
              <a:buNone/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Shared weights and feature memory link the six stages</a:t>
            </a:r>
          </a:p>
        </p:txBody>
      </p:sp>
    </p:spTree>
    <p:extLst>
      <p:ext uri="{BB962C8B-B14F-4D97-AF65-F5344CB8AC3E}">
        <p14:creationId xmlns:p14="http://schemas.microsoft.com/office/powerpoint/2010/main" val="1308605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2454C-0CF8-495C-9888-806E82F0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Nanjing campus and scenic web photographs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F3BA-6EDE-4DEC-969D-0E8F758D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60DAD-A9FF-4776-AEA5-6176810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18 campus photos + 12 scenic photos</a:t>
            </a:r>
          </a:p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Fixed list; test only; 256 × 256 grayscale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9231280764224"/>
          <a:stretch xmlns:a="http://schemas.openxmlformats.org/drawingml/2006/main"/>
        </p:blipFill>
        <p:spPr>
          <a:xfrm xmlns:a="http://schemas.openxmlformats.org/drawingml/2006/main">
            <a:off x="809625" y="24479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F60D7-89E6-4793-A52C-0C73960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00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NJU Gulou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03ef059154681"/>
          <a:stretch xmlns:a="http://schemas.openxmlformats.org/drawingml/2006/main"/>
        </p:blipFill>
        <p:spPr>
          <a:xfrm xmlns:a="http://schemas.openxmlformats.org/drawingml/2006/main">
            <a:off x="4524375" y="24479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D6759-DFBD-480B-A3E9-C4103314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00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NJU Xianlin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fac371ab4b63"/>
          <a:stretch xmlns:a="http://schemas.openxmlformats.org/drawingml/2006/main"/>
        </p:blipFill>
        <p:spPr>
          <a:xfrm xmlns:a="http://schemas.openxmlformats.org/drawingml/2006/main">
            <a:off x="8239125" y="2447925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C013C-63E5-46F5-82C0-A0467F71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00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Qinhuai night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A1AB7-1AC7-4C92-816D-BF17FDF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Team-curated web images; original authors credited</a:t>
            </a:r>
          </a:p>
        </p:txBody>
      </p:sp>
    </p:spTree>
    <p:extLst>
      <p:ext uri="{BB962C8B-B14F-4D97-AF65-F5344CB8AC3E}">
        <p14:creationId xmlns:p14="http://schemas.microsoft.com/office/powerpoint/2010/main" val="661252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7CA09-1D21-45FC-AD55-AC01AF45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Four-method reconstruction on campus scenes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F5BD8-0DE5-4BF5-98D0-0AB9995B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99127c2bd84c3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A30B-4AE0-44C1-AD4E-119FA6E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Every source photograph contributes equally</a:t>
            </a:r>
          </a:p>
        </p:txBody>
      </p:sp>
    </p:spTree>
    <p:extLst>
      <p:ext uri="{BB962C8B-B14F-4D97-AF65-F5344CB8AC3E}">
        <p14:creationId xmlns:p14="http://schemas.microsoft.com/office/powerpoint/2010/main" val="586973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BCDE3-6A3F-45C8-854E-F5E4B429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Completed HQS fine-tuning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029B9-7A77-405C-AD3B-96B87DC4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16DD3-C13A-4C28-9D37-D022553B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Sensing factors frozen; reconstruction parameters trained</a:t>
            </a:r>
          </a:p>
          <a:p xmlns:a="http://schemas.openxmlformats.org/drawingml/2006/main">
            <a:pPr>
              <a:def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800 training originals / 16 selection originals</a:t>
            </a:r>
          </a:p>
          <a:p xmlns:a="http://schemas.openxmlformats.org/drawingml/2006/main">
            <a:pPr>
              <a:def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Full-state continuation preserves the update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14752-3D92-4399-BE18-8B4A8067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10000 total round-2 updates; selected 10000</a:t>
            </a:r>
          </a:p>
          <a:p xmlns:a="http://schemas.openxmlformats.org/drawingml/2006/main">
            <a:pPr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5000 → 10000: 125.2 min</a:t>
            </a:r>
          </a:p>
          <a:p xmlns:a="http://schemas.openxmlformats.org/drawingml/2006/main">
            <a:pPr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All round-2 phases: 247.0 min</a:t>
            </a:r>
          </a:p>
          <a:p xmlns:a="http://schemas.openxmlformats.org/drawingml/2006/main">
            <a:pPr>
              <a:def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Peak allocated memory: 10.84 GiB</a:t>
            </a:r>
          </a:p>
        </p:txBody>
      </p:sp>
    </p:spTree>
    <p:extLst>
      <p:ext uri="{BB962C8B-B14F-4D97-AF65-F5344CB8AC3E}">
        <p14:creationId xmlns:p14="http://schemas.microsoft.com/office/powerpoint/2010/main" val="995989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C7B3E-88CA-48B8-8853-2ECE319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Validation-only checkpoint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FBF8B-7D62-44B7-9F73-01A5271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3bce663de34d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60551-99C7-48AD-8A6B-216BF363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No test photograph chooses the checkpoint</a:t>
            </a:r>
          </a:p>
        </p:txBody>
      </p:sp>
    </p:spTree>
    <p:extLst>
      <p:ext uri="{BB962C8B-B14F-4D97-AF65-F5344CB8AC3E}">
        <p14:creationId xmlns:p14="http://schemas.microsoft.com/office/powerpoint/2010/main" val="1982388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E5137-3E71-45C8-9F8A-C1D1977A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Clean 10% reconstruction error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9DDE-0546-4217-8D29-911A7BC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0bbebebd7a40c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3B1BF-6505-4AC9-B71C-A40F85AD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Requested target: 5–10% less MSE than the 100-step model</a:t>
            </a:r>
          </a:p>
        </p:txBody>
      </p:sp>
    </p:spTree>
    <p:extLst>
      <p:ext uri="{BB962C8B-B14F-4D97-AF65-F5344CB8AC3E}">
        <p14:creationId xmlns:p14="http://schemas.microsoft.com/office/powerpoint/2010/main" val="1885512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274CA-38DB-45D9-B4C5-EF486941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Measurement noise and reconstruction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FA38A-B171-41C1-B6E7-E52CA55E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1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4113c08403404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562C2-22D4-48AC-BBE7-1D19F52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Positive: less error    Negative: more error</a:t>
            </a:r>
          </a:p>
        </p:txBody>
      </p:sp>
    </p:spTree>
    <p:extLst>
      <p:ext uri="{BB962C8B-B14F-4D97-AF65-F5344CB8AC3E}">
        <p14:creationId xmlns:p14="http://schemas.microsoft.com/office/powerpoint/2010/main" val="623199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91B2-27B9-4DE7-B095-4AD553FE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Case that worsens with continued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618CF-4C29-4541-81CF-3D8E923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729fe7a824059"/>
          <a:stretch xmlns:a="http://schemas.openxmlformats.org/drawingml/2006/main"/>
        </p:blipFill>
        <p:spPr>
          <a:xfrm xmlns:a="http://schemas.openxmlformats.org/drawingml/2006/main">
            <a:off x="619125" y="1719943"/>
            <a:ext cx="10858500" cy="299901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18557-AC73-4F4A-8595-0270596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MSE reduction vs 5000-budget model: -10.70%</a:t>
            </a:r>
          </a:p>
          <a:p xmlns:a="http://schemas.openxmlformats.org/drawingml/2006/main">
            <a:pPr>
              <a:defRPr sz="210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Sampling 1%; noise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BB8B7-4D47-4629-ADB0-F910E13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Skyline region MSE rises 14.02%; training cause unproven</a:t>
            </a:r>
          </a:p>
        </p:txBody>
      </p:sp>
    </p:spTree>
    <p:extLst>
      <p:ext uri="{BB962C8B-B14F-4D97-AF65-F5344CB8AC3E}">
        <p14:creationId xmlns:p14="http://schemas.microsoft.com/office/powerpoint/2010/main" val="8557180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CE905-AA64-4961-BA8B-7105043B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0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Results and remaining course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6F38-36BA-49A8-8479-88EEFDB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BFB0-C0F7-48C8-A8AC-3EF16F2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6680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Clean MSE reduction vs 100-step HQS</a:t>
            </a:r>
          </a:p>
          <a:p xmlns:a="http://schemas.openxmlformats.org/drawingml/2006/main">
            <a:pPr>
              <a:def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78"/>
                </a:solidFill>
                <a:latin typeface="Helvetica Neue"/>
                <a:ea typeface="Helvetica Neue"/>
                <a:cs typeface="Helvetica Neue"/>
              </a:rPr>
              <a:t>Campus: 1.73%   Scenic: 1.91%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C48AD-D749-4D73-B400-28B4F0D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66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Retain weak results and every negative case</a:t>
            </a:r>
          </a:p>
          <a:p xmlns:a="http://schemas.openxmlformats.org/drawingml/2006/main">
            <a:pPr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Web collection adds scene tests; self-capture remains optional</a:t>
            </a:r>
          </a:p>
          <a:p xmlns:a="http://schemas.openxmlformats.org/drawingml/2006/main">
            <a:pPr>
              <a:def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2B"/>
                </a:solidFill>
                <a:latin typeface="Helvetica Neue"/>
                <a:ea typeface="Helvetica Neue"/>
                <a:cs typeface="Helvetica Neue"/>
              </a:rPr>
              <a:t>Next: timed rehearsal and the locked DIV2K52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D712-F244-4252-A368-F96DF84D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72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AI disclosure: Codex assisted with code, experiments and writing</a:t>
            </a:r>
          </a:p>
          <a:p xmlns:a="http://schemas.openxmlformats.org/drawingml/2006/main">
            <a:pPr>
              <a:defRPr sz="14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66C"/>
                </a:solidFill>
                <a:latin typeface="Helvetica Neue"/>
                <a:ea typeface="Helvetica Neue"/>
                <a:cs typeface="Helvetica Neue"/>
              </a:rPr>
              <a:t>Architecture and official weights: Wang et al., CVPR 2025</a:t>
            </a:r>
          </a:p>
        </p:txBody>
      </p:sp>
    </p:spTree>
    <p:extLst>
      <p:ext uri="{BB962C8B-B14F-4D97-AF65-F5344CB8AC3E}">
        <p14:creationId xmlns:p14="http://schemas.microsoft.com/office/powerpoint/2010/main" val="9652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2026-10-09T08:05:21.5470000Z</dcterms:created>
  <dcterms:modified xsi:type="dcterms:W3CDTF">2026-10-09T08:05:21.5470000Z</dcterms:modified>
</coreProperties>
</file>