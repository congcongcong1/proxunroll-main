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a4788629e1e4b99" /><Relationship Type="http://schemas.openxmlformats.org/officeDocument/2006/relationships/extended-properties" Target="/docProps/app.xml" Id="R96d3f7d7157b4f06" /><Relationship Type="http://schemas.openxmlformats.org/officeDocument/2006/relationships/officeDocument" Target="/ppt/presentation.xml" Id="R18dd0fe8fbba47b5" /></Relationships>
</file>

<file path=ppt/presentation.xml><?xml version="1.0" encoding="utf-8"?>
<p:presentation xmlns:p="http://schemas.openxmlformats.org/presentationml/2006/main">
  <p:sldMasterIdLst>
    <p:sldMasterId xmlns:r="http://schemas.openxmlformats.org/officeDocument/2006/relationships" id="2147483648" r:id="R27e39fbc284346fe"/>
  </p:sldMasterIdLst>
  <p:notesMasterIdLst>
    <p:notesMasterId xmlns:r="http://schemas.openxmlformats.org/officeDocument/2006/relationships" r:id="R2027b6a8acbb4432"/>
  </p:notesMasterIdLst>
  <p:sldIdLst>
    <p:sldId xmlns:r="http://schemas.openxmlformats.org/officeDocument/2006/relationships" id="256" r:id="R477aea61ebd14792"/>
    <p:sldId xmlns:r="http://schemas.openxmlformats.org/officeDocument/2006/relationships" id="257" r:id="R6a7f22e890ab442e"/>
    <p:sldId xmlns:r="http://schemas.openxmlformats.org/officeDocument/2006/relationships" id="258" r:id="R05dfca9662394a06"/>
    <p:sldId xmlns:r="http://schemas.openxmlformats.org/officeDocument/2006/relationships" id="259" r:id="R27b94bcc6dde4af1"/>
    <p:sldId xmlns:r="http://schemas.openxmlformats.org/officeDocument/2006/relationships" id="260" r:id="Rd6f4f15055834e0d"/>
    <p:sldId xmlns:r="http://schemas.openxmlformats.org/officeDocument/2006/relationships" id="261" r:id="R774fcf3c7295409c"/>
    <p:sldId xmlns:r="http://schemas.openxmlformats.org/officeDocument/2006/relationships" id="262" r:id="Rc7866020afff4a03"/>
    <p:sldId xmlns:r="http://schemas.openxmlformats.org/officeDocument/2006/relationships" id="263" r:id="R9f86675670614aaa"/>
    <p:sldId xmlns:r="http://schemas.openxmlformats.org/officeDocument/2006/relationships" id="264" r:id="R5c64faf6d9c34cc5"/>
    <p:sldId xmlns:r="http://schemas.openxmlformats.org/officeDocument/2006/relationships" id="265" r:id="Rfe18ce9d2f1b4bbc"/>
    <p:sldId xmlns:r="http://schemas.openxmlformats.org/officeDocument/2006/relationships" id="266" r:id="R62f67f158ce6422c"/>
    <p:sldId xmlns:r="http://schemas.openxmlformats.org/officeDocument/2006/relationships" id="267" r:id="R5656eb48e72c41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aaaeaa6e304ca8" /><Relationship Type="http://schemas.openxmlformats.org/officeDocument/2006/relationships/slideMaster" Target="/ppt/slideMasters/slideMaster1.xml" Id="R27e39fbc284346fe" /><Relationship Type="http://schemas.openxmlformats.org/officeDocument/2006/relationships/notesMaster" Target="/ppt/notesMasters/notesMaster1.xml" Id="R2027b6a8acbb4432" /><Relationship Type="http://schemas.openxmlformats.org/officeDocument/2006/relationships/presProps" Target="/ppt/presProps.xml" Id="Rcc034747bedb4fcd" /><Relationship Type="http://schemas.openxmlformats.org/officeDocument/2006/relationships/tableStyles" Target="/ppt/tableStyles.xml" Id="Ra0b3857f5b8b41e7" /><Relationship Type="http://schemas.openxmlformats.org/officeDocument/2006/relationships/slide" Target="/ppt/slides/slide1.xml" Id="R477aea61ebd14792" /><Relationship Type="http://schemas.openxmlformats.org/officeDocument/2006/relationships/slide" Target="/ppt/slides/slide2.xml" Id="R6a7f22e890ab442e" /><Relationship Type="http://schemas.openxmlformats.org/officeDocument/2006/relationships/slide" Target="/ppt/slides/slide3.xml" Id="R05dfca9662394a06" /><Relationship Type="http://schemas.openxmlformats.org/officeDocument/2006/relationships/slide" Target="/ppt/slides/slide4.xml" Id="R27b94bcc6dde4af1" /><Relationship Type="http://schemas.openxmlformats.org/officeDocument/2006/relationships/slide" Target="/ppt/slides/slide5.xml" Id="Rd6f4f15055834e0d" /><Relationship Type="http://schemas.openxmlformats.org/officeDocument/2006/relationships/slide" Target="/ppt/slides/slide6.xml" Id="R774fcf3c7295409c" /><Relationship Type="http://schemas.openxmlformats.org/officeDocument/2006/relationships/slide" Target="/ppt/slides/slide7.xml" Id="Rc7866020afff4a03" /><Relationship Type="http://schemas.openxmlformats.org/officeDocument/2006/relationships/slide" Target="/ppt/slides/slide8.xml" Id="R9f86675670614aaa" /><Relationship Type="http://schemas.openxmlformats.org/officeDocument/2006/relationships/slide" Target="/ppt/slides/slide9.xml" Id="R5c64faf6d9c34cc5" /><Relationship Type="http://schemas.openxmlformats.org/officeDocument/2006/relationships/slide" Target="/ppt/slides/slide10.xml" Id="Rfe18ce9d2f1b4bbc" /><Relationship Type="http://schemas.openxmlformats.org/officeDocument/2006/relationships/slide" Target="/ppt/slides/slide11.xml" Id="R62f67f158ce6422c" /><Relationship Type="http://schemas.openxmlformats.org/officeDocument/2006/relationships/slide" Target="/ppt/slides/slide12.xml" Id="R5656eb48e72c41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22b84486354e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09e725309e45cc" /><Relationship Type="http://schemas.openxmlformats.org/officeDocument/2006/relationships/notesMaster" Target="/ppt/notesMasters/notesMaster1.xml" Id="R7ca2c749c30444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2b85d6805142d9" /><Relationship Type="http://schemas.openxmlformats.org/officeDocument/2006/relationships/notesMaster" Target="/ppt/notesMasters/notesMaster1.xml" Id="R7405520abb9249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7567d42fc74f3a" /><Relationship Type="http://schemas.openxmlformats.org/officeDocument/2006/relationships/notesMaster" Target="/ppt/notesMasters/notesMaster1.xml" Id="Ra05339be82ce46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1be8945a144864" /><Relationship Type="http://schemas.openxmlformats.org/officeDocument/2006/relationships/notesMaster" Target="/ppt/notesMasters/notesMaster1.xml" Id="Re6c3229371f941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68cd5e589545f0" /><Relationship Type="http://schemas.openxmlformats.org/officeDocument/2006/relationships/notesMaster" Target="/ppt/notesMasters/notesMaster1.xml" Id="Rc150c2d5ad6f4a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461959a61542be" /><Relationship Type="http://schemas.openxmlformats.org/officeDocument/2006/relationships/notesMaster" Target="/ppt/notesMasters/notesMaster1.xml" Id="Re99ac4b11b2149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501e6574e54bba" /><Relationship Type="http://schemas.openxmlformats.org/officeDocument/2006/relationships/notesMaster" Target="/ppt/notesMasters/notesMaster1.xml" Id="R691563cb4d9641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5dcfb9664947be" /><Relationship Type="http://schemas.openxmlformats.org/officeDocument/2006/relationships/notesMaster" Target="/ppt/notesMasters/notesMaster1.xml" Id="Ra060e2acdf5c40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88200b537a4a57" /><Relationship Type="http://schemas.openxmlformats.org/officeDocument/2006/relationships/notesMaster" Target="/ppt/notesMasters/notesMaster1.xml" Id="R7d160cba7fbc49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2a14c8238f4e56" /><Relationship Type="http://schemas.openxmlformats.org/officeDocument/2006/relationships/notesMaster" Target="/ppt/notesMasters/notesMaster1.xml" Id="Rdba20e68e0254f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336a92c81e427e" /><Relationship Type="http://schemas.openxmlformats.org/officeDocument/2006/relationships/notesMaster" Target="/ppt/notesMasters/notesMaster1.xml" Id="Rc8efd9a1203d47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6b8b2f584f40d5" /><Relationship Type="http://schemas.openxmlformats.org/officeDocument/2006/relationships/notesMaster" Target="/ppt/notesMasters/notesMaster1.xml" Id="R6c2c18a0ff844a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25 seconds.</a:t>
            </a:r>
          </a:p>
          <a:p xmlns:a="http://schemas.openxmlformats.org/drawingml/2006/main">
            <a:r>
              <a:t/>
            </a:r>
          </a:p>
          <a:p xmlns:a="http://schemas.openxmlformats.org/drawingml/2006/main">
            <a:r>
              <a:t>We study reconstruction when only a fraction of image measurements is available. Our course project pairs the classic compressed-sensing formulation with the released ProxUnroll networks. This is a reproducible software evaluation using pretrained models. It includes controlled comparisons and deliberately difficult inputs. The report and code disclose AI assistance and retain the original model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A single detector produces one scalar for each spatial mask. An image requires a sequence of masks, so single pixel does not mean one observation. In our simulation, separable factors implement the masks efficiently. The adjoint maps measurements back to image space but cannot determine the unobserved component. A reconstruction prior resolves some of this ambiguity. We simulate this arithmetic and do not claim an optical prototype. Source: Duarte et al., https://doi.org/10.1109/MSP.2007.914730.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Our classical comparator minimizes squared measurement error plus an L1 penalty on an orthonormal DCT representation. FISTA combines a gradient step, transform-domain thresholding, and momentum. Its regularization weight is chosen only on validation images. The modern comparator replaces the hand-designed shrinkage step with a learned image restorer. Both use the same measurement residual in the main experiment. This comparison is not the exact reconstruction implementation of the 2008 paper. Sources: Beck and Teboulle, https://doi.org/10.1137/080716542; Wang et al., https://arxiv.org/abs/2505.23180.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55 seconds.</a:t>
            </a:r>
          </a:p>
          <a:p xmlns:a="http://schemas.openxmlformats.org/drawingml/2006/main">
            <a:r>
              <a:t/>
            </a:r>
          </a:p>
          <a:p xmlns:a="http://schemas.openxmlformats.org/drawingml/2006/main">
            <a:r>
              <a:t>The released restorer has an encoder-decoder structure combining convolution and window attention. Feature memory passes information between stages. HQS applies a data-consistency correction and then the restorer. ADMM also updates a dual state that records the split-variable disagreement. The pretrained weights remain fixed in our experiments. The training-time target uses the clean image, but our reconstruction interface receives measurements only. We test equality with the original clean forward path. Figure from the official ProxUnroll repository, fig/network.png, https://github.com/pwangcs/ProxUnroll.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We use six regular evaluation images and two independent validation images, all resized to 256 by 256 grayscale. Two procedural stress targets test periodic detail and small text. The clean experiment sweeps five sampling ratios. At ten percent sampling, two Gaussian noise levels each use three seeded realizations. We found that the checkpoints contain different sensing factors. The main comparison therefore supplies the same factors from the released MAT file to both networks, and separate diagnostics retain each native operator. The study includes operator transfer and is not an official Set11 or CBSD68 benchmark. Data source: https://scikit-image.org/docs/stable/api/skimage.data.html.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55 seconds.</a:t>
            </a:r>
          </a:p>
          <a:p xmlns:a="http://schemas.openxmlformats.org/drawingml/2006/main">
            <a:r>
              <a:t/>
            </a:r>
          </a:p>
          <a:p xmlns:a="http://schemas.openxmlformats.org/drawingml/2006/main">
            <a:r>
              <a:t>The chart shows mean PSNR on the same six evaluation images. The horizontal labels are nominal sampling ratios. The raw files record realized ratios after rounding and the stored-matrix row limit. Nominal 50% uses 49.9893%. HQS minus DCT-FISTA at ten percent is 5.21 dB on average. These values describe this small image suite and this common operator. They do not establish superiority over all classical algorithms. Source: coursework/results/summary.csv; measurements generated by coursework/run_experiments.py.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35 seconds.</a:t>
            </a:r>
          </a:p>
          <a:p xmlns:a="http://schemas.openxmlformats.org/drawingml/2006/main">
            <a:r>
              <a:t/>
            </a:r>
          </a:p>
          <a:p xmlns:a="http://schemas.openxmlformats.org/drawingml/2006/main">
            <a:r>
              <a:t>The chart uses median reconstruction time at nominal ten percent. All methods run locally, and this run uses cpu. Timing excludes measurement generation and data transfer. Neural execution follows a full warmup. FISTA includes its spectral-norm calculation. One timed execution is recorded for each input, so these are workflow measurements rather than a dedicated hardware benchmark. The result should not be compared directly with GPU timings in the paper. Source: coursework/results/summary.csv and 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We perturb the measurements before reconstruction. Noise standard deviation is a fixed fraction of the clean measurement RMS. Every solver receives exactly the same realization. Three seeds reduce dependence on a single random draw, but the six images remain the unit of aggregation. The noise model does not simulate photon counting, detector calibration, motion, or quantization. The chart therefore supports a claim about this perturbation model only. Source: coursework/results/summary.csv.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45 seconds.</a:t>
            </a:r>
          </a:p>
          <a:p xmlns:a="http://schemas.openxmlformats.org/drawingml/2006/main">
            <a:r>
              <a:t/>
            </a:r>
          </a:p>
          <a:p xmlns:a="http://schemas.openxmlformats.org/drawingml/2006/main">
            <a:r>
              <a:t>We retain the output of every restorer stage. This reveals the finite optimization trajectory instead of looking only at the final image. At ten percent, disabling HQS memory gives 30.58 dB compared with 34.31 dB for the intact checkpoint. This is an inference intervention. A causal architecture ablation would require retraining. Six-stage behavior also cannot prove convergence under infinitely repeated updates. Sources: coursework/results/stages.csv and interventions.csv.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55 seconds.</a:t>
            </a:r>
          </a:p>
          <a:p xmlns:a="http://schemas.openxmlformats.org/drawingml/2006/main">
            <a:r>
              <a:t/>
            </a:r>
          </a:p>
          <a:p xmlns:a="http://schemas.openxmlformats.org/drawingml/2006/main">
            <a:r>
              <a:t>These images use the camera test image at ten percent nominal sampling, with no measurement noise. All methods receive the same data. Compare the edges and local textures, not just the overall silhouette. Images use a fixed display range and come directly from the saved reconstructions. Metrics are computed before export to eight-bit PNG. Source: coursework/data/camera.png and coursework/results/reconstructions/camera_cr0.1_noise0_*.png.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90 seconds.</a:t>
            </a:r>
          </a:p>
          <a:p xmlns:a="http://schemas.openxmlformats.org/drawingml/2006/main">
            <a:r>
              <a:t/>
            </a:r>
          </a:p>
          <a:p xmlns:a="http://schemas.openxmlformats.org/drawingml/2006/main">
            <a:r>
              <a:t>The top row uses a periodic checkerboard at ten percent. The bottom row uses small text at one percent. These targets are generated, not self-collected photographs. Under undersampling, image priors must resolve ambiguity, and the selected structure can be incorrect. Inspect contrast, repeated boundaries, missing strokes, and merged letters. Neither PSNR nor SSIM directly certifies legibility. These examples motivate additional measurements or task-specific validation before relying on fine details. Sources: coursework/data and coursework/results/reconstructions; fixed conditions and unretouched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speaking time: 60 seconds.</a:t>
            </a:r>
          </a:p>
          <a:p xmlns:a="http://schemas.openxmlformats.org/drawingml/2006/main">
            <a:r>
              <a:t/>
            </a:r>
          </a:p>
          <a:p xmlns:a="http://schemas.openxmlformats.org/drawingml/2006/main">
            <a:r>
              <a:t>The contribution is a reproducible controlled study around the released model, with a classical baseline, parameter validation, noise tests, stage records, and failure cases. The main comparison holds sensing fixed, but that requires transfer away from the checkpoint-native operators. The study has six regular evaluation images, no training-set overlap audit, no retraining, and no optical camera experiment. Our files include raw results and reproduction commands. Codex assisted with code, experiment execution, analysis, English writing, and presentation preparation. The original authors supplied the architecture and weights. The team must understand and review the work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ecb784730f4c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f9a067479d464c" /><Relationship Type="http://schemas.openxmlformats.org/officeDocument/2006/relationships/slideLayout" Target="/ppt/slideLayouts/slideLayout1.xml" Id="R9563ba807bbc4f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63ba807bbc4f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357cd921644256" /><Relationship Type="http://schemas.openxmlformats.org/officeDocument/2006/relationships/image" Target="/ppt/media/image.png" Id="R177ed25aa0894737" /><Relationship Type="http://schemas.openxmlformats.org/officeDocument/2006/relationships/notesSlide" Target="/ppt/notesSlides/notesSlide1.xml" Id="R9ab7b8ffbdaa40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8bdd57eeb74e5e" /><Relationship Type="http://schemas.openxmlformats.org/officeDocument/2006/relationships/notesSlide" Target="/ppt/notesSlides/notesSlide2.xml" Id="Reb10971fe8a544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d2a55b4b4a4422" /><Relationship Type="http://schemas.openxmlformats.org/officeDocument/2006/relationships/notesSlide" Target="/ppt/notesSlides/notesSlide3.xml" Id="R727744e9f29145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35d0f7dea6482f" /><Relationship Type="http://schemas.openxmlformats.org/officeDocument/2006/relationships/image" Target="/ppt/media/image2.png" Id="R0bc96727d89341e5" /><Relationship Type="http://schemas.openxmlformats.org/officeDocument/2006/relationships/notesSlide" Target="/ppt/notesSlides/notesSlide4.xml" Id="Rfb2695ca048841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8eb455198843de" /><Relationship Type="http://schemas.openxmlformats.org/officeDocument/2006/relationships/image" Target="/ppt/media/image3.png" Id="R0c38c59217974317" /><Relationship Type="http://schemas.openxmlformats.org/officeDocument/2006/relationships/image" Target="/ppt/media/image4.png" Id="R97c796314fd94e21" /><Relationship Type="http://schemas.openxmlformats.org/officeDocument/2006/relationships/image" Target="/ppt/media/image5.png" Id="Rc76733d04150439c" /><Relationship Type="http://schemas.openxmlformats.org/officeDocument/2006/relationships/image" Target="/ppt/media/image6.png" Id="Rac6dd3403d6d4a63" /><Relationship Type="http://schemas.openxmlformats.org/officeDocument/2006/relationships/notesSlide" Target="/ppt/notesSlides/notesSlide5.xml" Id="R59a50b04d6094d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5980262a734d85" /><Relationship Type="http://schemas.openxmlformats.org/officeDocument/2006/relationships/chart" Target="/ppt/slides/charts/chart1.xml" Id="R5012bb31c8414c07" /><Relationship Type="http://schemas.openxmlformats.org/officeDocument/2006/relationships/notesSlide" Target="/ppt/notesSlides/notesSlide6.xml" Id="Rb16220661a3646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8f071954c044552" /><Relationship Type="http://schemas.openxmlformats.org/officeDocument/2006/relationships/chart" Target="/ppt/slides/charts/chart2.xml" Id="R55338785c5974806" /><Relationship Type="http://schemas.openxmlformats.org/officeDocument/2006/relationships/notesSlide" Target="/ppt/notesSlides/notesSlide7.xml" Id="R0775a6c2c7b44f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86efa839be46ef" /><Relationship Type="http://schemas.openxmlformats.org/officeDocument/2006/relationships/chart" Target="/ppt/slides/charts/chart3.xml" Id="R4b7e5da6e7b047ea" /><Relationship Type="http://schemas.openxmlformats.org/officeDocument/2006/relationships/notesSlide" Target="/ppt/notesSlides/notesSlide8.xml" Id="R567f2f9ea31a49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3e44eb69bd4476" /><Relationship Type="http://schemas.openxmlformats.org/officeDocument/2006/relationships/chart" Target="/ppt/slides/charts/chart4.xml" Id="R1b45bcd5658e4635" /><Relationship Type="http://schemas.openxmlformats.org/officeDocument/2006/relationships/notesSlide" Target="/ppt/notesSlides/notesSlide9.xml" Id="Rd90e2fece33c4b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74ebd247264428" /><Relationship Type="http://schemas.openxmlformats.org/officeDocument/2006/relationships/image" Target="/ppt/media/image7.png" Id="Rd65c1d8a495941e4" /><Relationship Type="http://schemas.openxmlformats.org/officeDocument/2006/relationships/image" Target="/ppt/media/image8.png" Id="R84d592bf6bf64e31" /><Relationship Type="http://schemas.openxmlformats.org/officeDocument/2006/relationships/image" Target="/ppt/media/image9.png" Id="R182989de9409410f" /><Relationship Type="http://schemas.openxmlformats.org/officeDocument/2006/relationships/image" Target="/ppt/media/image10.png" Id="R598c57327f3e4478" /><Relationship Type="http://schemas.openxmlformats.org/officeDocument/2006/relationships/notesSlide" Target="/ppt/notesSlides/notesSlide10.xml" Id="R920d9c34e00a40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ffc6bd96384491" /><Relationship Type="http://schemas.openxmlformats.org/officeDocument/2006/relationships/image" Target="/ppt/media/image11.png" Id="R477cd174b3e84303" /><Relationship Type="http://schemas.openxmlformats.org/officeDocument/2006/relationships/image" Target="/ppt/media/image12.png" Id="R90b2b17a65084af2" /><Relationship Type="http://schemas.openxmlformats.org/officeDocument/2006/relationships/image" Target="/ppt/media/image13.png" Id="Re914b4653b064847" /><Relationship Type="http://schemas.openxmlformats.org/officeDocument/2006/relationships/image" Target="/ppt/media/image14.png" Id="R0bdd43e45f514cc3" /><Relationship Type="http://schemas.openxmlformats.org/officeDocument/2006/relationships/image" Target="/ppt/media/image15.png" Id="Rdd1e278726924eb4" /><Relationship Type="http://schemas.openxmlformats.org/officeDocument/2006/relationships/image" Target="/ppt/media/image16.png" Id="Re4959b92080e45cb" /><Relationship Type="http://schemas.openxmlformats.org/officeDocument/2006/relationships/image" Target="/ppt/media/image17.png" Id="R3a67eb68d68b4ac5" /><Relationship Type="http://schemas.openxmlformats.org/officeDocument/2006/relationships/image" Target="/ppt/media/image18.png" Id="Rfec31daa73ce4975" /><Relationship Type="http://schemas.openxmlformats.org/officeDocument/2006/relationships/notesSlide" Target="/ppt/notesSlides/notesSlide11.xml" Id="R971bc3dc059a4a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de08bf47594a09" /><Relationship Type="http://schemas.openxmlformats.org/officeDocument/2006/relationships/notesSlide" Target="/ppt/notesSlides/notesSlide12.xml" Id="R68ade5b3f5774f4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Adjoint</c:v>
          </c:tx>
          <c:spPr>
            <a:solidFill xmlns:a="http://schemas.openxmlformats.org/drawingml/2006/main">
              <a:srgbClr val="777777"/>
            </a:solidFill>
            <a:ln xmlns:a="http://schemas.openxmlformats.org/drawingml/2006/main" w="28575">
              <a:solidFill>
                <a:srgbClr val="777777"/>
              </a:solidFill>
            </a:ln>
          </c:spPr>
          <c:marker>
            <c:symbol val="circle"/>
            <c:size val="7"/>
            <c:spPr>
              <a:solidFill xmlns:a="http://schemas.openxmlformats.org/drawingml/2006/main">
                <a:srgbClr val="777777"/>
              </a:solidFill>
            </c:spPr>
          </c:marker>
          <c:cat>
            <c:strRef>
              <c:f>'Chart Data'!$A$2:$A$6</c:f>
              <c:strCache>
                <c:ptCount val="5"/>
                <c:pt idx="0">
                  <c:v>1%</c:v>
                </c:pt>
                <c:pt idx="1">
                  <c:v>4%</c:v>
                </c:pt>
                <c:pt idx="2">
                  <c:v>10%</c:v>
                </c:pt>
                <c:pt idx="3">
                  <c:v>25%</c:v>
                </c:pt>
                <c:pt idx="4">
                  <c:v>50%</c:v>
                </c:pt>
              </c:strCache>
            </c:strRef>
          </c:cat>
          <c:val>
            <c:numRef>
              <c:f>'Chart Data'!$B$2:$B$6</c:f>
              <c:numCache>
                <c:formatCode>0.0</c:formatCode>
                <c:ptCount val="5"/>
                <c:pt idx="0">
                  <c:v>23.66298</c:v>
                </c:pt>
                <c:pt idx="1">
                  <c:v>25.76912</c:v>
                </c:pt>
                <c:pt idx="2">
                  <c:v>27.42851</c:v>
                </c:pt>
                <c:pt idx="3">
                  <c:v>29.94486</c:v>
                </c:pt>
                <c:pt idx="4">
                  <c:v>32.76485</c:v>
                </c:pt>
              </c:numCache>
            </c:numRef>
          </c:val>
          <c:smooth val="0"/>
        </c:ser>
        <c:ser>
          <c:idx val="1"/>
          <c:order val="1"/>
          <c:tx>
            <c:v>DCT-FISTA</c:v>
          </c:tx>
          <c:spPr>
            <a:solidFill xmlns:a="http://schemas.openxmlformats.org/drawingml/2006/main">
              <a:srgbClr val="D78924"/>
            </a:solidFill>
            <a:ln xmlns:a="http://schemas.openxmlformats.org/drawingml/2006/main" w="28575">
              <a:solidFill>
                <a:srgbClr val="D78924"/>
              </a:solidFill>
            </a:ln>
          </c:spPr>
          <c:marker>
            <c:symbol val="circle"/>
            <c:size val="7"/>
            <c:spPr>
              <a:solidFill xmlns:a="http://schemas.openxmlformats.org/drawingml/2006/main">
                <a:srgbClr val="D78924"/>
              </a:solidFill>
            </c:spPr>
          </c:marker>
          <c:cat>
            <c:strRef>
              <c:f>'Chart Data'!$C$2:$C$6</c:f>
              <c:strCache>
                <c:ptCount val="5"/>
                <c:pt idx="0">
                  <c:v>1%</c:v>
                </c:pt>
                <c:pt idx="1">
                  <c:v>4%</c:v>
                </c:pt>
                <c:pt idx="2">
                  <c:v>10%</c:v>
                </c:pt>
                <c:pt idx="3">
                  <c:v>25%</c:v>
                </c:pt>
                <c:pt idx="4">
                  <c:v>50%</c:v>
                </c:pt>
              </c:strCache>
            </c:strRef>
          </c:cat>
          <c:val>
            <c:numRef>
              <c:f>'Chart Data'!$D$2:$D$6</c:f>
              <c:numCache>
                <c:formatCode>0.0</c:formatCode>
                <c:ptCount val="5"/>
                <c:pt idx="0">
                  <c:v>24.7008</c:v>
                </c:pt>
                <c:pt idx="1">
                  <c:v>27.11701</c:v>
                </c:pt>
                <c:pt idx="2">
                  <c:v>29.09978</c:v>
                </c:pt>
                <c:pt idx="3">
                  <c:v>32.5049</c:v>
                </c:pt>
                <c:pt idx="4">
                  <c:v>36.12743</c:v>
                </c:pt>
              </c:numCache>
            </c:numRef>
          </c:val>
          <c:smooth val="0"/>
        </c:ser>
        <c:ser>
          <c:idx val="2"/>
          <c:order val="2"/>
          <c:tx>
            <c:v>HQS</c:v>
          </c:tx>
          <c:spPr>
            <a:solidFill xmlns:a="http://schemas.openxmlformats.org/drawingml/2006/main">
              <a:srgbClr val="147D78"/>
            </a:solidFill>
            <a:ln xmlns:a="http://schemas.openxmlformats.org/drawingml/2006/main" w="28575">
              <a:solidFill>
                <a:srgbClr val="147D78"/>
              </a:solidFill>
            </a:ln>
          </c:spPr>
          <c:marker>
            <c:symbol val="circle"/>
            <c:size val="7"/>
            <c:spPr>
              <a:solidFill xmlns:a="http://schemas.openxmlformats.org/drawingml/2006/main">
                <a:srgbClr val="147D78"/>
              </a:solidFill>
            </c:spPr>
          </c:marker>
          <c:cat>
            <c:strRef>
              <c:f>'Chart Data'!$E$2:$E$6</c:f>
              <c:strCache>
                <c:ptCount val="5"/>
                <c:pt idx="0">
                  <c:v>1%</c:v>
                </c:pt>
                <c:pt idx="1">
                  <c:v>4%</c:v>
                </c:pt>
                <c:pt idx="2">
                  <c:v>10%</c:v>
                </c:pt>
                <c:pt idx="3">
                  <c:v>25%</c:v>
                </c:pt>
                <c:pt idx="4">
                  <c:v>50%</c:v>
                </c:pt>
              </c:strCache>
            </c:strRef>
          </c:cat>
          <c:val>
            <c:numRef>
              <c:f>'Chart Data'!$F$2:$F$6</c:f>
              <c:numCache>
                <c:formatCode>0.0</c:formatCode>
                <c:ptCount val="5"/>
                <c:pt idx="0">
                  <c:v>26.95844</c:v>
                </c:pt>
                <c:pt idx="1">
                  <c:v>31.00009</c:v>
                </c:pt>
                <c:pt idx="2">
                  <c:v>34.30956</c:v>
                </c:pt>
                <c:pt idx="3">
                  <c:v>38.69533</c:v>
                </c:pt>
                <c:pt idx="4">
                  <c:v>43.80456</c:v>
                </c:pt>
              </c:numCache>
            </c:numRef>
          </c:val>
          <c:smooth val="0"/>
        </c:ser>
        <c:ser>
          <c:idx val="3"/>
          <c:order val="3"/>
          <c:tx>
            <c:v>ADMM</c:v>
          </c:tx>
          <c:spPr>
            <a:solidFill xmlns:a="http://schemas.openxmlformats.org/drawingml/2006/main">
              <a:srgbClr val="B74760"/>
            </a:solidFill>
            <a:ln xmlns:a="http://schemas.openxmlformats.org/drawingml/2006/main" w="28575">
              <a:solidFill>
                <a:srgbClr val="B74760"/>
              </a:solidFill>
            </a:ln>
          </c:spPr>
          <c:marker>
            <c:symbol val="circle"/>
            <c:size val="7"/>
            <c:spPr>
              <a:solidFill xmlns:a="http://schemas.openxmlformats.org/drawingml/2006/main">
                <a:srgbClr val="B74760"/>
              </a:solidFill>
            </c:spPr>
          </c:marker>
          <c:cat>
            <c:strRef>
              <c:f>'Chart Data'!$G$2:$G$6</c:f>
              <c:strCache>
                <c:ptCount val="5"/>
                <c:pt idx="0">
                  <c:v>1%</c:v>
                </c:pt>
                <c:pt idx="1">
                  <c:v>4%</c:v>
                </c:pt>
                <c:pt idx="2">
                  <c:v>10%</c:v>
                </c:pt>
                <c:pt idx="3">
                  <c:v>25%</c:v>
                </c:pt>
                <c:pt idx="4">
                  <c:v>50%</c:v>
                </c:pt>
              </c:strCache>
            </c:strRef>
          </c:cat>
          <c:val>
            <c:numRef>
              <c:f>'Chart Data'!$H$2:$H$6</c:f>
              <c:numCache>
                <c:formatCode>0.0</c:formatCode>
                <c:ptCount val="5"/>
                <c:pt idx="0">
                  <c:v>27.20998</c:v>
                </c:pt>
                <c:pt idx="1">
                  <c:v>31.17117</c:v>
                </c:pt>
                <c:pt idx="2">
                  <c:v>34.48822</c:v>
                </c:pt>
                <c:pt idx="3">
                  <c:v>38.70765</c:v>
                </c:pt>
                <c:pt idx="4">
                  <c:v>43.84045</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Nominal sampling ratio</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Mean 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time</c:v>
          </c:tx>
          <c:spPr>
            <a:solidFill xmlns:a="http://schemas.openxmlformats.org/drawingml/2006/main">
              <a:srgbClr val="147D78"/>
            </a:solidFill>
          </c:spPr>
          <c:cat>
            <c:strRef>
              <c:f>'Chart Data'!$A$2:$A$5</c:f>
              <c:strCache>
                <c:ptCount val="4"/>
                <c:pt idx="0">
                  <c:v>Adjoint</c:v>
                </c:pt>
                <c:pt idx="1">
                  <c:v>DCT-FISTA</c:v>
                </c:pt>
                <c:pt idx="2">
                  <c:v>HQS</c:v>
                </c:pt>
                <c:pt idx="3">
                  <c:v>ADMM</c:v>
                </c:pt>
              </c:strCache>
            </c:strRef>
          </c:cat>
          <c:val>
            <c:numRef>
              <c:f>'Chart Data'!$B$2:$B$5</c:f>
              <c:numCache>
                <c:formatCode>0.0</c:formatCode>
                <c:ptCount val="4"/>
                <c:pt idx="0">
                  <c:v>2E-05</c:v>
                </c:pt>
                <c:pt idx="1">
                  <c:v>0.20188</c:v>
                </c:pt>
                <c:pt idx="2">
                  <c:v>2.5148</c:v>
                </c:pt>
                <c:pt idx="3">
                  <c:v>2.61674</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Method</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Seconds per image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DCT-FISTA</c:v>
          </c:tx>
          <c:spPr>
            <a:solidFill xmlns:a="http://schemas.openxmlformats.org/drawingml/2006/main">
              <a:srgbClr val="D78924"/>
            </a:solidFill>
            <a:ln xmlns:a="http://schemas.openxmlformats.org/drawingml/2006/main" w="28575">
              <a:solidFill>
                <a:srgbClr val="D78924"/>
              </a:solidFill>
            </a:ln>
          </c:spPr>
          <c:marker>
            <c:symbol val="circle"/>
            <c:size val="7"/>
            <c:spPr>
              <a:solidFill xmlns:a="http://schemas.openxmlformats.org/drawingml/2006/main">
                <a:srgbClr val="D78924"/>
              </a:solidFill>
            </c:spPr>
          </c:marker>
          <c:cat>
            <c:numRef>
              <c:f>'Chart Data'!$A$2:$A$4</c:f>
              <c:numCache>
                <c:formatCode>General</c:formatCode>
                <c:ptCount val="3"/>
                <c:pt idx="0">
                  <c:v>0</c:v>
                </c:pt>
                <c:pt idx="1">
                  <c:v>0.01</c:v>
                </c:pt>
                <c:pt idx="2">
                  <c:v>0.05</c:v>
                </c:pt>
              </c:numCache>
            </c:numRef>
          </c:cat>
          <c:val>
            <c:numRef>
              <c:f>'Chart Data'!$B$2:$B$4</c:f>
              <c:numCache>
                <c:formatCode>0.0</c:formatCode>
                <c:ptCount val="3"/>
                <c:pt idx="0">
                  <c:v>29.09978</c:v>
                </c:pt>
                <c:pt idx="1">
                  <c:v>28.38982</c:v>
                </c:pt>
                <c:pt idx="2">
                  <c:v>24.81836</c:v>
                </c:pt>
              </c:numCache>
            </c:numRef>
          </c:val>
          <c:smooth val="0"/>
        </c:ser>
        <c:ser>
          <c:idx val="1"/>
          <c:order val="1"/>
          <c:tx>
            <c:v>HQS</c:v>
          </c:tx>
          <c:spPr>
            <a:solidFill xmlns:a="http://schemas.openxmlformats.org/drawingml/2006/main">
              <a:srgbClr val="147D78"/>
            </a:solidFill>
            <a:ln xmlns:a="http://schemas.openxmlformats.org/drawingml/2006/main" w="28575">
              <a:solidFill>
                <a:srgbClr val="147D78"/>
              </a:solidFill>
            </a:ln>
          </c:spPr>
          <c:marker>
            <c:symbol val="circle"/>
            <c:size val="7"/>
            <c:spPr>
              <a:solidFill xmlns:a="http://schemas.openxmlformats.org/drawingml/2006/main">
                <a:srgbClr val="147D78"/>
              </a:solidFill>
            </c:spPr>
          </c:marker>
          <c:cat>
            <c:numRef>
              <c:f>'Chart Data'!$C$2:$C$4</c:f>
              <c:numCache>
                <c:formatCode>General</c:formatCode>
                <c:ptCount val="3"/>
                <c:pt idx="0">
                  <c:v>0</c:v>
                </c:pt>
                <c:pt idx="1">
                  <c:v>0.01</c:v>
                </c:pt>
                <c:pt idx="2">
                  <c:v>0.05</c:v>
                </c:pt>
              </c:numCache>
            </c:numRef>
          </c:cat>
          <c:val>
            <c:numRef>
              <c:f>'Chart Data'!$D$2:$D$4</c:f>
              <c:numCache>
                <c:formatCode>0.0</c:formatCode>
                <c:ptCount val="3"/>
                <c:pt idx="0">
                  <c:v>34.30956</c:v>
                </c:pt>
                <c:pt idx="1">
                  <c:v>32.53758</c:v>
                </c:pt>
                <c:pt idx="2">
                  <c:v>27.13642</c:v>
                </c:pt>
              </c:numCache>
            </c:numRef>
          </c:val>
          <c:smooth val="0"/>
        </c:ser>
        <c:ser>
          <c:idx val="2"/>
          <c:order val="2"/>
          <c:tx>
            <c:v>ADMM</c:v>
          </c:tx>
          <c:spPr>
            <a:solidFill xmlns:a="http://schemas.openxmlformats.org/drawingml/2006/main">
              <a:srgbClr val="B74760"/>
            </a:solidFill>
            <a:ln xmlns:a="http://schemas.openxmlformats.org/drawingml/2006/main" w="28575">
              <a:solidFill>
                <a:srgbClr val="B74760"/>
              </a:solidFill>
            </a:ln>
          </c:spPr>
          <c:marker>
            <c:symbol val="circle"/>
            <c:size val="7"/>
            <c:spPr>
              <a:solidFill xmlns:a="http://schemas.openxmlformats.org/drawingml/2006/main">
                <a:srgbClr val="B74760"/>
              </a:solidFill>
            </c:spPr>
          </c:marker>
          <c:cat>
            <c:numRef>
              <c:f>'Chart Data'!$E$2:$E$4</c:f>
              <c:numCache>
                <c:formatCode>General</c:formatCode>
                <c:ptCount val="3"/>
                <c:pt idx="0">
                  <c:v>0</c:v>
                </c:pt>
                <c:pt idx="1">
                  <c:v>0.01</c:v>
                </c:pt>
                <c:pt idx="2">
                  <c:v>0.05</c:v>
                </c:pt>
              </c:numCache>
            </c:numRef>
          </c:cat>
          <c:val>
            <c:numRef>
              <c:f>'Chart Data'!$F$2:$F$4</c:f>
              <c:numCache>
                <c:formatCode>0.0</c:formatCode>
                <c:ptCount val="3"/>
                <c:pt idx="0">
                  <c:v>34.48822</c:v>
                </c:pt>
                <c:pt idx="1">
                  <c:v>32.71193</c:v>
                </c:pt>
                <c:pt idx="2">
                  <c:v>27.36908</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Noise standard deviation / clean measurement RMS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Mean 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HQS</c:v>
          </c:tx>
          <c:spPr>
            <a:solidFill xmlns:a="http://schemas.openxmlformats.org/drawingml/2006/main">
              <a:srgbClr val="147D78"/>
            </a:solidFill>
            <a:ln xmlns:a="http://schemas.openxmlformats.org/drawingml/2006/main" w="28575">
              <a:solidFill>
                <a:srgbClr val="147D78"/>
              </a:solidFill>
            </a:ln>
          </c:spPr>
          <c:marker>
            <c:symbol val="circle"/>
            <c:size val="7"/>
            <c:spPr>
              <a:solidFill xmlns:a="http://schemas.openxmlformats.org/drawingml/2006/main">
                <a:srgbClr val="147D78"/>
              </a:solidFill>
            </c:spPr>
          </c:marker>
          <c:cat>
            <c:numRef>
              <c:f>'Chart Data'!$A$2:$A$7</c:f>
              <c:numCache>
                <c:formatCode>General</c:formatCode>
                <c:ptCount val="6"/>
                <c:pt idx="0">
                  <c:v>1</c:v>
                </c:pt>
                <c:pt idx="1">
                  <c:v>2</c:v>
                </c:pt>
                <c:pt idx="2">
                  <c:v>3</c:v>
                </c:pt>
                <c:pt idx="3">
                  <c:v>4</c:v>
                </c:pt>
                <c:pt idx="4">
                  <c:v>5</c:v>
                </c:pt>
                <c:pt idx="5">
                  <c:v>6</c:v>
                </c:pt>
              </c:numCache>
            </c:numRef>
          </c:cat>
          <c:val>
            <c:numRef>
              <c:f>'Chart Data'!$B$2:$B$7</c:f>
              <c:numCache>
                <c:formatCode>0.0</c:formatCode>
                <c:ptCount val="6"/>
                <c:pt idx="0">
                  <c:v>29.58363</c:v>
                </c:pt>
                <c:pt idx="1">
                  <c:v>31.58756</c:v>
                </c:pt>
                <c:pt idx="2">
                  <c:v>32.88929</c:v>
                </c:pt>
                <c:pt idx="3">
                  <c:v>33.56422</c:v>
                </c:pt>
                <c:pt idx="4">
                  <c:v>33.94587</c:v>
                </c:pt>
                <c:pt idx="5">
                  <c:v>34.30956</c:v>
                </c:pt>
              </c:numCache>
            </c:numRef>
          </c:val>
          <c:smooth val="0"/>
        </c:ser>
        <c:ser>
          <c:idx val="1"/>
          <c:order val="1"/>
          <c:tx>
            <c:v>ADMM</c:v>
          </c:tx>
          <c:spPr>
            <a:solidFill xmlns:a="http://schemas.openxmlformats.org/drawingml/2006/main">
              <a:srgbClr val="B74760"/>
            </a:solidFill>
            <a:ln xmlns:a="http://schemas.openxmlformats.org/drawingml/2006/main" w="28575">
              <a:solidFill>
                <a:srgbClr val="B74760"/>
              </a:solidFill>
            </a:ln>
          </c:spPr>
          <c:marker>
            <c:symbol val="circle"/>
            <c:size val="7"/>
            <c:spPr>
              <a:solidFill xmlns:a="http://schemas.openxmlformats.org/drawingml/2006/main">
                <a:srgbClr val="B74760"/>
              </a:solidFill>
            </c:spPr>
          </c:marker>
          <c:cat>
            <c:numRef>
              <c:f>'Chart Data'!$C$2:$C$7</c:f>
              <c:numCache>
                <c:formatCode>General</c:formatCode>
                <c:ptCount val="6"/>
                <c:pt idx="0">
                  <c:v>1</c:v>
                </c:pt>
                <c:pt idx="1">
                  <c:v>2</c:v>
                </c:pt>
                <c:pt idx="2">
                  <c:v>3</c:v>
                </c:pt>
                <c:pt idx="3">
                  <c:v>4</c:v>
                </c:pt>
                <c:pt idx="4">
                  <c:v>5</c:v>
                </c:pt>
                <c:pt idx="5">
                  <c:v>6</c:v>
                </c:pt>
              </c:numCache>
            </c:numRef>
          </c:cat>
          <c:val>
            <c:numRef>
              <c:f>'Chart Data'!$D$2:$D$7</c:f>
              <c:numCache>
                <c:formatCode>0.0</c:formatCode>
                <c:ptCount val="6"/>
                <c:pt idx="0">
                  <c:v>29.53275</c:v>
                </c:pt>
                <c:pt idx="1">
                  <c:v>32.29847</c:v>
                </c:pt>
                <c:pt idx="2">
                  <c:v>33.13266</c:v>
                </c:pt>
                <c:pt idx="3">
                  <c:v>33.55592</c:v>
                </c:pt>
                <c:pt idx="4">
                  <c:v>34.13565</c:v>
                </c:pt>
                <c:pt idx="5">
                  <c:v>34.48822</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Restorer stage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3E7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Mean PSNR (dB)</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D829E2-A9E8-41BD-826F-C8D0C7450AE4}"/>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Single-Pixel Imaging</a:t>
            </a:r>
          </a:p>
        </p:txBody>
      </p:sp>
      <p:sp>
        <p:nvSpPr>
          <p:cNvPr id="2" name="">
            <a:extLst xmlns:a="http://schemas.openxmlformats.org/drawingml/2006/main">
              <a:ext uri="{FF2B5EF4-FFF2-40B4-BE49-F238E27FC236}">
                <a16:creationId xmlns:a16="http://schemas.microsoft.com/office/drawing/2014/main" id="{DFB44788-E3AF-4551-AD7D-5179A851E3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4EFDEEF-B780-4A2D-9E28-629D0BF76451}"/>
              </a:ext>
            </a:extLst>
          </p:cNvPr>
          <p:cNvSpPr>
            <a:spLocks xmlns:a="http://schemas.openxmlformats.org/drawingml/2006/main" noGrp="1"/>
          </p:cNvSpPr>
          <p:nvPr/>
        </p:nvSpPr>
        <p:spPr>
          <a:xfrm xmlns:a="http://schemas.openxmlformats.org/drawingml/2006/main">
            <a:off x="619125" y="14097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47D78"/>
                </a:solidFill>
                <a:latin typeface="Helvetica Neue"/>
                <a:ea typeface="Helvetica Neue"/>
                <a:cs typeface="Helvetica Neue"/>
              </a:defRPr>
            </a:pPr>
            <a:r>
              <a:rPr sz="2850" b="0">
                <a:solidFill>
                  <a:srgbClr val="147D78"/>
                </a:solidFill>
                <a:latin typeface="Helvetica Neue"/>
                <a:ea typeface="Helvetica Neue"/>
                <a:cs typeface="Helvetica Neue"/>
              </a:rPr>
              <a:t>Sparse recovery and proximal unrolling</a:t>
            </a:r>
          </a:p>
        </p:txBody>
      </p:sp>
      <p:sp>
        <p:nvSpPr>
          <p:cNvPr id="4" name="">
            <a:extLst xmlns:a="http://schemas.openxmlformats.org/drawingml/2006/main">
              <a:ext uri="{FF2B5EF4-FFF2-40B4-BE49-F238E27FC236}">
                <a16:creationId xmlns:a16="http://schemas.microsoft.com/office/drawing/2014/main" id="{E3F2D5D0-B91F-44D7-95CB-1EC3E3BDE8D0}"/>
              </a:ext>
            </a:extLst>
          </p:cNvPr>
          <p:cNvSpPr>
            <a:spLocks xmlns:a="http://schemas.openxmlformats.org/drawingml/2006/main" noGrp="1"/>
          </p:cNvSpPr>
          <p:nvPr/>
        </p:nvSpPr>
        <p:spPr>
          <a:xfrm xmlns:a="http://schemas.openxmlformats.org/drawingml/2006/main">
            <a:off x="619125" y="29146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Zicong Luo    522026230043</a:t>
            </a:r>
          </a:p>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Shuhao Yang    502026230083</a:t>
            </a:r>
          </a:p>
          <a:p xmlns:a="http://schemas.openxmlformats.org/drawingml/2006/main">
            <a:pPr>
              <a:defRPr sz="2175" b="0">
                <a:solidFill>
                  <a:srgbClr val="20272B"/>
                </a:solidFill>
                <a:latin typeface="Helvetica Neue"/>
                <a:ea typeface="Helvetica Neue"/>
                <a:cs typeface="Helvetica Neue"/>
              </a:defRPr>
            </a:pPr>
            <a:r>
              <a:rPr sz="2175" b="0">
                <a:solidFill>
                  <a:srgbClr val="20272B"/>
                </a:solidFill>
                <a:latin typeface="Helvetica Neue"/>
                <a:ea typeface="Helvetica Neue"/>
                <a:cs typeface="Helvetica Neue"/>
              </a:rPr>
              <a:t>Yubowen Li    502026230092</a:t>
            </a:r>
          </a:p>
        </p:txBody>
      </p:sp>
      <p:sp>
        <p:nvSpPr>
          <p:cNvPr id="5" name="">
            <a:extLst xmlns:a="http://schemas.openxmlformats.org/drawingml/2006/main">
              <a:ext uri="{FF2B5EF4-FFF2-40B4-BE49-F238E27FC236}">
                <a16:creationId xmlns:a16="http://schemas.microsoft.com/office/drawing/2014/main" id="{4C70EA1E-02CA-4AA1-8E6B-D2BA82FDDC92}"/>
              </a:ext>
            </a:extLst>
          </p:cNvPr>
          <p:cNvSpPr>
            <a:spLocks xmlns:a="http://schemas.openxmlformats.org/drawingml/2006/main" noGrp="1"/>
          </p:cNvSpPr>
          <p:nvPr/>
        </p:nvSpPr>
        <p:spPr>
          <a:xfrm xmlns:a="http://schemas.openxmlformats.org/drawingml/2006/main">
            <a:off x="619125" y="55435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Topic 7  /  Computational Imaging</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77ed25aa0894737"/>
          <a:stretch xmlns:a="http://schemas.openxmlformats.org/drawingml/2006/main"/>
        </p:blipFill>
        <p:spPr>
          <a:xfrm xmlns:a="http://schemas.openxmlformats.org/drawingml/2006/main">
            <a:off x="8382000" y="1828800"/>
            <a:ext cx="2857500" cy="2857500"/>
          </a:xfrm>
          <a:prstGeom xmlns:a="http://schemas.openxmlformats.org/drawingml/2006/main" prst="rect">
            <a:avLst/>
          </a:prstGeom>
        </p:spPr>
      </p:pic>
    </p:spTree>
    <p:extLst>
      <p:ext uri="{BB962C8B-B14F-4D97-AF65-F5344CB8AC3E}">
        <p14:creationId xmlns:p14="http://schemas.microsoft.com/office/powerpoint/2010/main" val="7176009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4552AD-C385-43E2-BACE-1FA7CAC8A0A0}"/>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measurement model</a:t>
            </a:r>
          </a:p>
        </p:txBody>
      </p:sp>
      <p:sp>
        <p:nvSpPr>
          <p:cNvPr id="2" name="">
            <a:extLst xmlns:a="http://schemas.openxmlformats.org/drawingml/2006/main">
              <a:ext uri="{FF2B5EF4-FFF2-40B4-BE49-F238E27FC236}">
                <a16:creationId xmlns:a16="http://schemas.microsoft.com/office/drawing/2014/main" id="{D21F36D6-B69B-47FA-BBA3-81BEE98723F8}"/>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62CC025-ECAC-4294-8179-019C6B01A021}"/>
              </a:ext>
            </a:extLst>
          </p:cNvPr>
          <p:cNvSpPr>
            <a:spLocks xmlns:a="http://schemas.openxmlformats.org/drawingml/2006/main" noGrp="1"/>
          </p:cNvSpPr>
          <p:nvPr/>
        </p:nvSpPr>
        <p:spPr>
          <a:xfrm xmlns:a="http://schemas.openxmlformats.org/drawingml/2006/main">
            <a:off x="857250" y="15716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47D78"/>
                </a:solidFill>
                <a:latin typeface="Helvetica Neue"/>
                <a:ea typeface="Helvetica Neue"/>
                <a:cs typeface="Helvetica Neue"/>
              </a:defRPr>
            </a:pPr>
            <a:r>
              <a:rPr sz="4350" b="1">
                <a:solidFill>
                  <a:srgbClr val="147D78"/>
                </a:solidFill>
                <a:latin typeface="Helvetica Neue"/>
                <a:ea typeface="Helvetica Neue"/>
                <a:cs typeface="Helvetica Neue"/>
              </a:rPr>
              <a:t>Y = H X W^T + E</a:t>
            </a:r>
          </a:p>
        </p:txBody>
      </p:sp>
      <p:sp>
        <p:nvSpPr>
          <p:cNvPr id="4" name="">
            <a:extLst xmlns:a="http://schemas.openxmlformats.org/drawingml/2006/main">
              <a:ext uri="{FF2B5EF4-FFF2-40B4-BE49-F238E27FC236}">
                <a16:creationId xmlns:a16="http://schemas.microsoft.com/office/drawing/2014/main" id="{8A58F390-B401-4139-A951-38BF43346E18}"/>
              </a:ext>
            </a:extLst>
          </p:cNvPr>
          <p:cNvSpPr>
            <a:spLocks xmlns:a="http://schemas.openxmlformats.org/drawingml/2006/main" noGrp="1"/>
          </p:cNvSpPr>
          <p:nvPr/>
        </p:nvSpPr>
        <p:spPr>
          <a:xfrm xmlns:a="http://schemas.openxmlformats.org/drawingml/2006/main">
            <a:off x="857250" y="26860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X: image     H, W: known sensing factors     E: measurement noise</a:t>
            </a:r>
          </a:p>
        </p:txBody>
      </p:sp>
      <p:sp>
        <p:nvSpPr>
          <p:cNvPr id="5" name="">
            <a:extLst xmlns:a="http://schemas.openxmlformats.org/drawingml/2006/main">
              <a:ext uri="{FF2B5EF4-FFF2-40B4-BE49-F238E27FC236}">
                <a16:creationId xmlns:a16="http://schemas.microsoft.com/office/drawing/2014/main" id="{23F4D130-3F39-47A3-A8EA-123C5CA1322A}"/>
              </a:ext>
            </a:extLst>
          </p:cNvPr>
          <p:cNvSpPr>
            <a:spLocks xmlns:a="http://schemas.openxmlformats.org/drawingml/2006/main" noGrp="1"/>
          </p:cNvSpPr>
          <p:nvPr/>
        </p:nvSpPr>
        <p:spPr>
          <a:xfrm xmlns:a="http://schemas.openxmlformats.org/drawingml/2006/main">
            <a:off x="857250" y="392430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One integrated measurement per mask</a:t>
            </a:r>
          </a:p>
          <a:p xmlns:a="http://schemas.openxmlformats.org/drawingml/2006/main">
            <a:pPr>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A sequence of masks supplies spatial constraints</a:t>
            </a:r>
          </a:p>
          <a:p xmlns:a="http://schemas.openxmlformats.org/drawingml/2006/main">
            <a:pPr>
              <a:defRPr sz="2475" b="0">
                <a:solidFill>
                  <a:srgbClr val="20272B"/>
                </a:solidFill>
                <a:latin typeface="Helvetica Neue"/>
                <a:ea typeface="Helvetica Neue"/>
                <a:cs typeface="Helvetica Neue"/>
              </a:defRPr>
            </a:pPr>
            <a:r>
              <a:rPr sz="2475" b="0">
                <a:solidFill>
                  <a:srgbClr val="20272B"/>
                </a:solidFill>
                <a:latin typeface="Helvetica Neue"/>
                <a:ea typeface="Helvetica Neue"/>
                <a:cs typeface="Helvetica Neue"/>
              </a:rPr>
              <a:t>Fewer measurements leave more ambiguity</a:t>
            </a:r>
          </a:p>
        </p:txBody>
      </p:sp>
    </p:spTree>
    <p:extLst>
      <p:ext uri="{BB962C8B-B14F-4D97-AF65-F5344CB8AC3E}">
        <p14:creationId xmlns:p14="http://schemas.microsoft.com/office/powerpoint/2010/main" val="8015180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B91289-3F0A-4CC2-9697-E6A3EB54FBED}"/>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Explicit sparsity and a learned prior</a:t>
            </a:r>
          </a:p>
        </p:txBody>
      </p:sp>
      <p:sp>
        <p:nvSpPr>
          <p:cNvPr id="2" name="">
            <a:extLst xmlns:a="http://schemas.openxmlformats.org/drawingml/2006/main">
              <a:ext uri="{FF2B5EF4-FFF2-40B4-BE49-F238E27FC236}">
                <a16:creationId xmlns:a16="http://schemas.microsoft.com/office/drawing/2014/main" id="{4718C9C6-37C9-4960-81FE-9E9DCBEA92D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90EE474-773F-4EE4-9C00-9986EE5BE23D}"/>
              </a:ext>
            </a:extLst>
          </p:cNvPr>
          <p:cNvSpPr>
            <a:spLocks xmlns:a="http://schemas.openxmlformats.org/drawingml/2006/main" noGrp="1"/>
          </p:cNvSpPr>
          <p:nvPr/>
        </p:nvSpPr>
        <p:spPr>
          <a:xfrm xmlns:a="http://schemas.openxmlformats.org/drawingml/2006/main">
            <a:off x="619125" y="15240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78924"/>
                </a:solidFill>
                <a:latin typeface="Helvetica Neue"/>
                <a:ea typeface="Helvetica Neue"/>
                <a:cs typeface="Helvetica Neue"/>
              </a:defRPr>
            </a:pPr>
            <a:r>
              <a:rPr sz="2625" b="1">
                <a:solidFill>
                  <a:srgbClr val="D78924"/>
                </a:solidFill>
                <a:latin typeface="Helvetica Neue"/>
                <a:ea typeface="Helvetica Neue"/>
                <a:cs typeface="Helvetica Neue"/>
              </a:rPr>
              <a:t>DCT-FISTA</a:t>
            </a:r>
          </a:p>
        </p:txBody>
      </p:sp>
      <p:sp>
        <p:nvSpPr>
          <p:cNvPr id="4" name="">
            <a:extLst xmlns:a="http://schemas.openxmlformats.org/drawingml/2006/main">
              <a:ext uri="{FF2B5EF4-FFF2-40B4-BE49-F238E27FC236}">
                <a16:creationId xmlns:a16="http://schemas.microsoft.com/office/drawing/2014/main" id="{5DA73E26-A713-4F7A-A6C9-A7F1BC7AACBC}"/>
              </a:ext>
            </a:extLst>
          </p:cNvPr>
          <p:cNvSpPr>
            <a:spLocks xmlns:a="http://schemas.openxmlformats.org/drawingml/2006/main" noGrp="1"/>
          </p:cNvSpPr>
          <p:nvPr/>
        </p:nvSpPr>
        <p:spPr>
          <a:xfrm xmlns:a="http://schemas.openxmlformats.org/drawingml/2006/main">
            <a:off x="619125" y="2343150"/>
            <a:ext cx="50482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Explicit transform penalty</a:t>
            </a:r>
          </a:p>
          <a:p xmlns:a="http://schemas.openxmlformats.org/drawingml/2006/main">
            <a:pPr>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200 optimization iterations</a:t>
            </a:r>
          </a:p>
          <a:p xmlns:a="http://schemas.openxmlformats.org/drawingml/2006/main">
            <a:pPr>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Validation-selected regularization</a:t>
            </a:r>
          </a:p>
          <a:p xmlns:a="http://schemas.openxmlformats.org/drawingml/2006/main">
            <a:pPr>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No network training</a:t>
            </a:r>
          </a:p>
        </p:txBody>
      </p:sp>
      <p:sp>
        <p:nvSpPr>
          <p:cNvPr id="5" name="">
            <a:extLst xmlns:a="http://schemas.openxmlformats.org/drawingml/2006/main">
              <a:ext uri="{FF2B5EF4-FFF2-40B4-BE49-F238E27FC236}">
                <a16:creationId xmlns:a16="http://schemas.microsoft.com/office/drawing/2014/main" id="{F261370E-9A23-4569-BBE9-12C7C297CCAF}"/>
              </a:ext>
            </a:extLst>
          </p:cNvPr>
          <p:cNvSpPr>
            <a:spLocks xmlns:a="http://schemas.openxmlformats.org/drawingml/2006/main" noGrp="1"/>
          </p:cNvSpPr>
          <p:nvPr/>
        </p:nvSpPr>
        <p:spPr>
          <a:xfrm xmlns:a="http://schemas.openxmlformats.org/drawingml/2006/main">
            <a:off x="6619875" y="152400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7D78"/>
                </a:solidFill>
                <a:latin typeface="Helvetica Neue"/>
                <a:ea typeface="Helvetica Neue"/>
                <a:cs typeface="Helvetica Neue"/>
              </a:defRPr>
            </a:pPr>
            <a:r>
              <a:rPr sz="2625" b="1">
                <a:solidFill>
                  <a:srgbClr val="147D78"/>
                </a:solidFill>
                <a:latin typeface="Helvetica Neue"/>
                <a:ea typeface="Helvetica Neue"/>
                <a:cs typeface="Helvetica Neue"/>
              </a:rPr>
              <a:t>ProxUnroll</a:t>
            </a:r>
          </a:p>
        </p:txBody>
      </p:sp>
      <p:sp>
        <p:nvSpPr>
          <p:cNvPr id="6" name="">
            <a:extLst xmlns:a="http://schemas.openxmlformats.org/drawingml/2006/main">
              <a:ext uri="{FF2B5EF4-FFF2-40B4-BE49-F238E27FC236}">
                <a16:creationId xmlns:a16="http://schemas.microsoft.com/office/drawing/2014/main" id="{5C7DD062-8CE5-4AD5-9DB9-B7F3DFDE91F4}"/>
              </a:ext>
            </a:extLst>
          </p:cNvPr>
          <p:cNvSpPr>
            <a:spLocks xmlns:a="http://schemas.openxmlformats.org/drawingml/2006/main" noGrp="1"/>
          </p:cNvSpPr>
          <p:nvPr/>
        </p:nvSpPr>
        <p:spPr>
          <a:xfrm xmlns:a="http://schemas.openxmlformats.org/drawingml/2006/main">
            <a:off x="6619875" y="2343150"/>
            <a:ext cx="490537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Released pretrained restorer</a:t>
            </a:r>
          </a:p>
          <a:p xmlns:a="http://schemas.openxmlformats.org/drawingml/2006/main">
            <a:pPr>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Six shared-weight stages</a:t>
            </a:r>
          </a:p>
          <a:p xmlns:a="http://schemas.openxmlformats.org/drawingml/2006/main">
            <a:pPr>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Measurement consistency updates</a:t>
            </a:r>
          </a:p>
          <a:p xmlns:a="http://schemas.openxmlformats.org/drawingml/2006/main">
            <a:pPr>
              <a:defRPr sz="2325" b="0">
                <a:solidFill>
                  <a:srgbClr val="20272B"/>
                </a:solidFill>
                <a:latin typeface="Helvetica Neue"/>
                <a:ea typeface="Helvetica Neue"/>
                <a:cs typeface="Helvetica Neue"/>
              </a:defRPr>
            </a:pPr>
            <a:r>
              <a:rPr sz="2325" b="0">
                <a:solidFill>
                  <a:srgbClr val="20272B"/>
                </a:solidFill>
                <a:latin typeface="Helvetica Neue"/>
                <a:ea typeface="Helvetica Neue"/>
                <a:cs typeface="Helvetica Neue"/>
              </a:rPr>
              <a:t>HQS and ADMM variants</a:t>
            </a:r>
          </a:p>
        </p:txBody>
      </p:sp>
      <p:sp>
        <p:nvSpPr>
          <p:cNvPr id="7" name="">
            <a:extLst xmlns:a="http://schemas.openxmlformats.org/drawingml/2006/main">
              <a:ext uri="{FF2B5EF4-FFF2-40B4-BE49-F238E27FC236}">
                <a16:creationId xmlns:a16="http://schemas.microsoft.com/office/drawing/2014/main" id="{91C42CD8-6DEE-4230-B549-04E43A445751}"/>
              </a:ext>
            </a:extLst>
          </p:cNvPr>
          <p:cNvSpPr>
            <a:spLocks xmlns:a="http://schemas.openxmlformats.org/drawingml/2006/main" noGrp="1"/>
          </p:cNvSpPr>
          <p:nvPr/>
        </p:nvSpPr>
        <p:spPr>
          <a:xfrm xmlns:a="http://schemas.openxmlformats.org/drawingml/2006/main">
            <a:off x="619125" y="57912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66C"/>
                </a:solidFill>
                <a:latin typeface="Helvetica Neue"/>
                <a:ea typeface="Helvetica Neue"/>
                <a:cs typeface="Helvetica Neue"/>
              </a:defRPr>
            </a:pPr>
            <a:r>
              <a:rPr sz="1875" b="0">
                <a:solidFill>
                  <a:srgbClr val="59666C"/>
                </a:solidFill>
                <a:latin typeface="Helvetica Neue"/>
                <a:ea typeface="Helvetica Neue"/>
                <a:cs typeface="Helvetica Neue"/>
              </a:rPr>
              <a:t>Main comparison: identical images, sensing factors, measurements, and noise</a:t>
            </a:r>
          </a:p>
        </p:txBody>
      </p:sp>
    </p:spTree>
    <p:extLst>
      <p:ext uri="{BB962C8B-B14F-4D97-AF65-F5344CB8AC3E}">
        <p14:creationId xmlns:p14="http://schemas.microsoft.com/office/powerpoint/2010/main" val="2415943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38904A-09CB-4F27-80C5-103D7F5FB4FB}"/>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The shared image restorer</a:t>
            </a:r>
          </a:p>
        </p:txBody>
      </p:sp>
      <p:sp>
        <p:nvSpPr>
          <p:cNvPr id="2" name="">
            <a:extLst xmlns:a="http://schemas.openxmlformats.org/drawingml/2006/main">
              <a:ext uri="{FF2B5EF4-FFF2-40B4-BE49-F238E27FC236}">
                <a16:creationId xmlns:a16="http://schemas.microsoft.com/office/drawing/2014/main" id="{CCA9698D-F6A8-4AC1-9C50-2726E62CA49D}"/>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bc96727d89341e5"/>
          <a:stretch xmlns:a="http://schemas.openxmlformats.org/drawingml/2006/main"/>
        </p:blipFill>
        <p:spPr>
          <a:xfrm xmlns:a="http://schemas.openxmlformats.org/drawingml/2006/main">
            <a:off x="619125" y="1675544"/>
            <a:ext cx="10906125" cy="279253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C0B238-6886-444E-8FF2-4A448E7033AA}"/>
              </a:ext>
            </a:extLst>
          </p:cNvPr>
          <p:cNvSpPr>
            <a:spLocks xmlns:a="http://schemas.openxmlformats.org/drawingml/2006/main" noGrp="1"/>
          </p:cNvSpPr>
          <p:nvPr/>
        </p:nvSpPr>
        <p:spPr>
          <a:xfrm xmlns:a="http://schemas.openxmlformats.org/drawingml/2006/main">
            <a:off x="619125" y="5048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Convolution and attention restore the image at multiple scales</a:t>
            </a:r>
          </a:p>
          <a:p xmlns:a="http://schemas.openxmlformats.org/drawingml/2006/main">
            <a:pPr>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Shared weights and feature memory link the six stages</a:t>
            </a:r>
          </a:p>
        </p:txBody>
      </p:sp>
    </p:spTree>
    <p:extLst>
      <p:ext uri="{BB962C8B-B14F-4D97-AF65-F5344CB8AC3E}">
        <p14:creationId xmlns:p14="http://schemas.microsoft.com/office/powerpoint/2010/main" val="13086059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4DCB01-5573-4B8E-8000-8CF4ED9C46D3}"/>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Evaluation design</a:t>
            </a:r>
          </a:p>
        </p:txBody>
      </p:sp>
      <p:sp>
        <p:nvSpPr>
          <p:cNvPr id="2" name="">
            <a:extLst xmlns:a="http://schemas.openxmlformats.org/drawingml/2006/main">
              <a:ext uri="{FF2B5EF4-FFF2-40B4-BE49-F238E27FC236}">
                <a16:creationId xmlns:a16="http://schemas.microsoft.com/office/drawing/2014/main" id="{E0C77E07-DD04-447F-8CD9-2AAC666A4A9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EACC6262-CAB0-4761-8C01-4583C495AB90}"/>
              </a:ext>
            </a:extLst>
          </p:cNvPr>
          <p:cNvSpPr>
            <a:spLocks xmlns:a="http://schemas.openxmlformats.org/drawingml/2006/main" noGrp="1"/>
          </p:cNvSpPr>
          <p:nvPr/>
        </p:nvSpPr>
        <p:spPr>
          <a:xfrm xmlns:a="http://schemas.openxmlformats.org/drawingml/2006/main">
            <a:off x="619125" y="1504950"/>
            <a:ext cx="10572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6 evaluation images + 2 validation images</a:t>
            </a:r>
          </a:p>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2 stress targets, reported separately</a:t>
            </a:r>
          </a:p>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5 clean rates: 1%, 4%, 10%, 25%, 50%</a:t>
            </a:r>
          </a:p>
          <a:p xmlns:a="http://schemas.openxmlformats.org/drawingml/2006/main">
            <a:pPr>
              <a:defRPr sz="2400" b="0">
                <a:solidFill>
                  <a:srgbClr val="20272B"/>
                </a:solidFill>
                <a:latin typeface="Helvetica Neue"/>
                <a:ea typeface="Helvetica Neue"/>
                <a:cs typeface="Helvetica Neue"/>
              </a:defRPr>
            </a:pPr>
            <a:r>
              <a:rPr sz="2400" b="0">
                <a:solidFill>
                  <a:srgbClr val="20272B"/>
                </a:solidFill>
                <a:latin typeface="Helvetica Neue"/>
                <a:ea typeface="Helvetica Neue"/>
                <a:cs typeface="Helvetica Neue"/>
              </a:rPr>
              <a:t>2 noise levels at 10%, each with 3 seeds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c38c59217974317"/>
          <a:stretch xmlns:a="http://schemas.openxmlformats.org/drawingml/2006/main"/>
        </p:blipFill>
        <p:spPr>
          <a:xfrm xmlns:a="http://schemas.openxmlformats.org/drawingml/2006/main">
            <a:off x="857250" y="4019550"/>
            <a:ext cx="1714500" cy="17145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7c796314fd94e21"/>
          <a:stretch xmlns:a="http://schemas.openxmlformats.org/drawingml/2006/main"/>
        </p:blipFill>
        <p:spPr>
          <a:xfrm xmlns:a="http://schemas.openxmlformats.org/drawingml/2006/main">
            <a:off x="3571875" y="4019550"/>
            <a:ext cx="1714500" cy="17145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76733d04150439c"/>
          <a:stretch xmlns:a="http://schemas.openxmlformats.org/drawingml/2006/main"/>
        </p:blipFill>
        <p:spPr>
          <a:xfrm xmlns:a="http://schemas.openxmlformats.org/drawingml/2006/main">
            <a:off x="6286500" y="4019550"/>
            <a:ext cx="1714500" cy="17145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c6dd3403d6d4a63"/>
          <a:stretch xmlns:a="http://schemas.openxmlformats.org/drawingml/2006/main"/>
        </p:blipFill>
        <p:spPr>
          <a:xfrm xmlns:a="http://schemas.openxmlformats.org/drawingml/2006/main">
            <a:off x="9001125" y="4019550"/>
            <a:ext cx="1714500" cy="1714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EA8CD6E-27BC-46ED-B2FA-80E20CBA991A}"/>
              </a:ext>
            </a:extLst>
          </p:cNvPr>
          <p:cNvSpPr>
            <a:spLocks xmlns:a="http://schemas.openxmlformats.org/drawingml/2006/main" noGrp="1"/>
          </p:cNvSpPr>
          <p:nvPr/>
        </p:nvSpPr>
        <p:spPr>
          <a:xfrm xmlns:a="http://schemas.openxmlformats.org/drawingml/2006/main">
            <a:off x="619125" y="59721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7D78"/>
                </a:solidFill>
                <a:latin typeface="Helvetica Neue"/>
                <a:ea typeface="Helvetica Neue"/>
                <a:cs typeface="Helvetica Neue"/>
              </a:defRPr>
            </a:pPr>
            <a:r>
              <a:rPr sz="1800" b="1">
                <a:solidFill>
                  <a:srgbClr val="147D78"/>
                </a:solidFill>
                <a:latin typeface="Helvetica Neue"/>
                <a:ea typeface="Helvetica Neue"/>
                <a:cs typeface="Helvetica Neue"/>
              </a:rPr>
              <a:t>Common MAT-file operator for the main comparison</a:t>
            </a:r>
          </a:p>
        </p:txBody>
      </p:sp>
    </p:spTree>
    <p:extLst>
      <p:ext uri="{BB962C8B-B14F-4D97-AF65-F5344CB8AC3E}">
        <p14:creationId xmlns:p14="http://schemas.microsoft.com/office/powerpoint/2010/main" val="6612522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A093610-515E-4728-90C5-E0193F803C70}"/>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Reconstruction quality across rates</a:t>
            </a:r>
          </a:p>
        </p:txBody>
      </p:sp>
      <p:sp>
        <p:nvSpPr>
          <p:cNvPr id="2" name="">
            <a:extLst xmlns:a="http://schemas.openxmlformats.org/drawingml/2006/main">
              <a:ext uri="{FF2B5EF4-FFF2-40B4-BE49-F238E27FC236}">
                <a16:creationId xmlns:a16="http://schemas.microsoft.com/office/drawing/2014/main" id="{B836D624-97B7-40D4-8C9D-9CCD2247D23F}"/>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06</a:t>
            </a:r>
          </a:p>
        </p:txBody>
      </p:sp>
      <p:graphicFrame>
        <p:nvGraphicFramePr>
          <p:cNvPr id="6" name="Chart"/>
          <p:cNvGraphicFramePr/>
          <p:nvPr/>
        </p:nvGraphicFramePr>
        <p:xfrm>
          <a:off xmlns:a="http://schemas.openxmlformats.org/drawingml/2006/main" x="619125" y="1476375"/>
          <a:ext xmlns:a="http://schemas.openxmlformats.org/drawingml/2006/main" cx="10810875" cy="4429125"/>
        </p:xfrm>
        <a:graphic xmlns:a="http://schemas.openxmlformats.org/drawingml/2006/main">
          <a:graphicData uri="http://schemas.openxmlformats.org/drawingml/2006/chart">
            <c:chart xmlns:r="http://schemas.openxmlformats.org/officeDocument/2006/relationships" xmlns:c="http://schemas.openxmlformats.org/drawingml/2006/chart" r:id="R5012bb31c8414c07"/>
          </a:graphicData>
        </a:graphic>
      </p:graphicFrame>
    </p:spTree>
    <p:extLst>
      <p:ext uri="{BB962C8B-B14F-4D97-AF65-F5344CB8AC3E}">
        <p14:creationId xmlns:p14="http://schemas.microsoft.com/office/powerpoint/2010/main" val="5869735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B3E5D2-D114-4B95-8720-D20AFFCF55B7}"/>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Local reconstruction time</a:t>
            </a:r>
          </a:p>
        </p:txBody>
      </p:sp>
      <p:sp>
        <p:nvSpPr>
          <p:cNvPr id="2" name="">
            <a:extLst xmlns:a="http://schemas.openxmlformats.org/drawingml/2006/main">
              <a:ext uri="{FF2B5EF4-FFF2-40B4-BE49-F238E27FC236}">
                <a16:creationId xmlns:a16="http://schemas.microsoft.com/office/drawing/2014/main" id="{902586D5-589C-4DEE-8723-40FAD7B2B145}"/>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07</a:t>
            </a:r>
          </a:p>
        </p:txBody>
      </p:sp>
      <p:graphicFrame>
        <p:nvGraphicFramePr>
          <p:cNvPr id="7" name="Chart"/>
          <p:cNvGraphicFramePr/>
          <p:nvPr/>
        </p:nvGraphicFramePr>
        <p:xfrm>
          <a:off xmlns:a="http://schemas.openxmlformats.org/drawingml/2006/main" x="619125" y="1476375"/>
          <a:ext xmlns:a="http://schemas.openxmlformats.org/drawingml/2006/main" cx="10810875" cy="4000500"/>
        </p:xfrm>
        <a:graphic xmlns:a="http://schemas.openxmlformats.org/drawingml/2006/main">
          <a:graphicData uri="http://schemas.openxmlformats.org/drawingml/2006/chart">
            <c:chart xmlns:r="http://schemas.openxmlformats.org/officeDocument/2006/relationships" xmlns:c="http://schemas.openxmlformats.org/drawingml/2006/chart" r:id="R55338785c5974806"/>
          </a:graphicData>
        </a:graphic>
      </p:graphicFrame>
      <p:sp>
        <p:nvSpPr>
          <p:cNvPr id="4" name="">
            <a:extLst xmlns:a="http://schemas.openxmlformats.org/drawingml/2006/main">
              <a:ext uri="{FF2B5EF4-FFF2-40B4-BE49-F238E27FC236}">
                <a16:creationId xmlns:a16="http://schemas.microsoft.com/office/drawing/2014/main" id="{08A8301B-E291-44CC-BCF7-699494A0B47E}"/>
              </a:ext>
            </a:extLst>
          </p:cNvPr>
          <p:cNvSpPr>
            <a:spLocks xmlns:a="http://schemas.openxmlformats.org/drawingml/2006/main" noGrp="1"/>
          </p:cNvSpPr>
          <p:nvPr/>
        </p:nvSpPr>
        <p:spPr>
          <a:xfrm xmlns:a="http://schemas.openxmlformats.org/drawingml/2006/main">
            <a:off x="619125" y="5905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66C"/>
                </a:solidFill>
                <a:latin typeface="Helvetica Neue"/>
                <a:ea typeface="Helvetica Neue"/>
                <a:cs typeface="Helvetica Neue"/>
              </a:defRPr>
            </a:pPr>
            <a:r>
              <a:rPr sz="1800" b="0">
                <a:solidFill>
                  <a:srgbClr val="59666C"/>
                </a:solidFill>
                <a:latin typeface="Helvetica Neue"/>
                <a:ea typeface="Helvetica Neue"/>
                <a:cs typeface="Helvetica Neue"/>
              </a:rPr>
              <a:t>CPU evaluation at 256 x 256; 4 threads; excludes acquisition</a:t>
            </a:r>
          </a:p>
        </p:txBody>
      </p:sp>
    </p:spTree>
    <p:extLst>
      <p:ext uri="{BB962C8B-B14F-4D97-AF65-F5344CB8AC3E}">
        <p14:creationId xmlns:p14="http://schemas.microsoft.com/office/powerpoint/2010/main" val="9959896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79D555D-E9DF-433B-B4CD-DDC203F4C407}"/>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Measurement noise sensitivity</a:t>
            </a:r>
          </a:p>
        </p:txBody>
      </p:sp>
      <p:sp>
        <p:nvSpPr>
          <p:cNvPr id="2" name="">
            <a:extLst xmlns:a="http://schemas.openxmlformats.org/drawingml/2006/main">
              <a:ext uri="{FF2B5EF4-FFF2-40B4-BE49-F238E27FC236}">
                <a16:creationId xmlns:a16="http://schemas.microsoft.com/office/drawing/2014/main" id="{824C0713-8591-4E57-BFFB-85D259E41454}"/>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08</a:t>
            </a:r>
          </a:p>
        </p:txBody>
      </p:sp>
      <p:graphicFrame>
        <p:nvGraphicFramePr>
          <p:cNvPr id="6" name="Chart"/>
          <p:cNvGraphicFramePr/>
          <p:nvPr/>
        </p:nvGraphicFramePr>
        <p:xfrm>
          <a:off xmlns:a="http://schemas.openxmlformats.org/drawingml/2006/main" x="619125" y="1476375"/>
          <a:ext xmlns:a="http://schemas.openxmlformats.org/drawingml/2006/main" cx="10810875" cy="4429125"/>
        </p:xfrm>
        <a:graphic xmlns:a="http://schemas.openxmlformats.org/drawingml/2006/main">
          <a:graphicData uri="http://schemas.openxmlformats.org/drawingml/2006/chart">
            <c:chart xmlns:r="http://schemas.openxmlformats.org/officeDocument/2006/relationships" xmlns:c="http://schemas.openxmlformats.org/drawingml/2006/chart" r:id="R4b7e5da6e7b047ea"/>
          </a:graphicData>
        </a:graphic>
      </p:graphicFrame>
    </p:spTree>
    <p:extLst>
      <p:ext uri="{BB962C8B-B14F-4D97-AF65-F5344CB8AC3E}">
        <p14:creationId xmlns:p14="http://schemas.microsoft.com/office/powerpoint/2010/main" val="1982388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B0B6EA-E844-4AE1-B593-663D470EFB85}"/>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Stages and feature memory</a:t>
            </a:r>
          </a:p>
        </p:txBody>
      </p:sp>
      <p:sp>
        <p:nvSpPr>
          <p:cNvPr id="2" name="">
            <a:extLst xmlns:a="http://schemas.openxmlformats.org/drawingml/2006/main">
              <a:ext uri="{FF2B5EF4-FFF2-40B4-BE49-F238E27FC236}">
                <a16:creationId xmlns:a16="http://schemas.microsoft.com/office/drawing/2014/main" id="{B17FF706-A38D-4FD3-BB22-A9CFC254B4A5}"/>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09</a:t>
            </a:r>
          </a:p>
        </p:txBody>
      </p:sp>
      <p:graphicFrame>
        <p:nvGraphicFramePr>
          <p:cNvPr id="7" name="Chart"/>
          <p:cNvGraphicFramePr/>
          <p:nvPr/>
        </p:nvGraphicFramePr>
        <p:xfrm>
          <a:off xmlns:a="http://schemas.openxmlformats.org/drawingml/2006/main" x="619125" y="1476375"/>
          <a:ext xmlns:a="http://schemas.openxmlformats.org/drawingml/2006/main" cx="10810875" cy="3857625"/>
        </p:xfrm>
        <a:graphic xmlns:a="http://schemas.openxmlformats.org/drawingml/2006/main">
          <a:graphicData uri="http://schemas.openxmlformats.org/drawingml/2006/chart">
            <c:chart xmlns:r="http://schemas.openxmlformats.org/officeDocument/2006/relationships" xmlns:c="http://schemas.openxmlformats.org/drawingml/2006/chart" r:id="R1b45bcd5658e4635"/>
          </a:graphicData>
        </a:graphic>
      </p:graphicFrame>
      <p:sp>
        <p:nvSpPr>
          <p:cNvPr id="4" name="">
            <a:extLst xmlns:a="http://schemas.openxmlformats.org/drawingml/2006/main">
              <a:ext uri="{FF2B5EF4-FFF2-40B4-BE49-F238E27FC236}">
                <a16:creationId xmlns:a16="http://schemas.microsoft.com/office/drawing/2014/main" id="{9E7C6478-1890-43D7-A08C-78973A8DCE5E}"/>
              </a:ext>
            </a:extLst>
          </p:cNvPr>
          <p:cNvSpPr>
            <a:spLocks xmlns:a="http://schemas.openxmlformats.org/drawingml/2006/main" noGrp="1"/>
          </p:cNvSpPr>
          <p:nvPr/>
        </p:nvSpPr>
        <p:spPr>
          <a:xfrm xmlns:a="http://schemas.openxmlformats.org/drawingml/2006/main">
            <a:off x="619125" y="59531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7D78"/>
                </a:solidFill>
                <a:latin typeface="Helvetica Neue"/>
                <a:ea typeface="Helvetica Neue"/>
                <a:cs typeface="Helvetica Neue"/>
              </a:defRPr>
            </a:pPr>
            <a:r>
              <a:rPr sz="1875" b="0">
                <a:solidFill>
                  <a:srgbClr val="147D78"/>
                </a:solidFill>
                <a:latin typeface="Helvetica Neue"/>
                <a:ea typeface="Helvetica Neue"/>
                <a:cs typeface="Helvetica Neue"/>
              </a:rPr>
              <a:t>HQS: 34.31 dB with memory / 30.58 dB without memory</a:t>
            </a:r>
          </a:p>
        </p:txBody>
      </p:sp>
    </p:spTree>
    <p:extLst>
      <p:ext uri="{BB962C8B-B14F-4D97-AF65-F5344CB8AC3E}">
        <p14:creationId xmlns:p14="http://schemas.microsoft.com/office/powerpoint/2010/main" val="18855123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8C81EB5-DFCD-4E09-9C12-C5060DFD8EE9}"/>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A shared-input visual comparison</a:t>
            </a:r>
          </a:p>
        </p:txBody>
      </p:sp>
      <p:sp>
        <p:nvSpPr>
          <p:cNvPr id="2" name="">
            <a:extLst xmlns:a="http://schemas.openxmlformats.org/drawingml/2006/main">
              <a:ext uri="{FF2B5EF4-FFF2-40B4-BE49-F238E27FC236}">
                <a16:creationId xmlns:a16="http://schemas.microsoft.com/office/drawing/2014/main" id="{EBE1FB71-65FD-4F8D-8BF4-D9D59F445DC0}"/>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65c1d8a495941e4"/>
          <a:stretch xmlns:a="http://schemas.openxmlformats.org/drawingml/2006/main"/>
        </p:blipFill>
        <p:spPr>
          <a:xfrm xmlns:a="http://schemas.openxmlformats.org/drawingml/2006/main">
            <a:off x="619125" y="2085975"/>
            <a:ext cx="2381250" cy="2381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0911BC-E7BA-49E4-8932-074ED74F6C84}"/>
              </a:ext>
            </a:extLst>
          </p:cNvPr>
          <p:cNvSpPr>
            <a:spLocks xmlns:a="http://schemas.openxmlformats.org/drawingml/2006/main" noGrp="1"/>
          </p:cNvSpPr>
          <p:nvPr/>
        </p:nvSpPr>
        <p:spPr>
          <a:xfrm xmlns:a="http://schemas.openxmlformats.org/drawingml/2006/main">
            <a:off x="619125" y="47244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72B"/>
                </a:solidFill>
                <a:latin typeface="Helvetica Neue"/>
                <a:ea typeface="Helvetica Neue"/>
                <a:cs typeface="Helvetica Neue"/>
              </a:defRPr>
            </a:pPr>
            <a:r>
              <a:rPr sz="2100" b="1">
                <a:solidFill>
                  <a:srgbClr val="20272B"/>
                </a:solidFill>
                <a:latin typeface="Helvetica Neue"/>
                <a:ea typeface="Helvetica Neue"/>
                <a:cs typeface="Helvetica Neue"/>
              </a:rPr>
              <a:t>Reference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4d592bf6bf64e31"/>
          <a:stretch xmlns:a="http://schemas.openxmlformats.org/drawingml/2006/main"/>
        </p:blipFill>
        <p:spPr>
          <a:xfrm xmlns:a="http://schemas.openxmlformats.org/drawingml/2006/main">
            <a:off x="3476625" y="2085975"/>
            <a:ext cx="2381250" cy="2381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C141FB3-2AB0-4026-B5F6-A0A52E82E599}"/>
              </a:ext>
            </a:extLst>
          </p:cNvPr>
          <p:cNvSpPr>
            <a:spLocks xmlns:a="http://schemas.openxmlformats.org/drawingml/2006/main" noGrp="1"/>
          </p:cNvSpPr>
          <p:nvPr/>
        </p:nvSpPr>
        <p:spPr>
          <a:xfrm xmlns:a="http://schemas.openxmlformats.org/drawingml/2006/main">
            <a:off x="3476625" y="47244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72B"/>
                </a:solidFill>
                <a:latin typeface="Helvetica Neue"/>
                <a:ea typeface="Helvetica Neue"/>
                <a:cs typeface="Helvetica Neue"/>
              </a:defRPr>
            </a:pPr>
            <a:r>
              <a:rPr sz="2100" b="1">
                <a:solidFill>
                  <a:srgbClr val="20272B"/>
                </a:solidFill>
                <a:latin typeface="Helvetica Neue"/>
                <a:ea typeface="Helvetica Neue"/>
                <a:cs typeface="Helvetica Neue"/>
              </a:rPr>
              <a:t>DCT-FISTA</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82989de9409410f"/>
          <a:stretch xmlns:a="http://schemas.openxmlformats.org/drawingml/2006/main"/>
        </p:blipFill>
        <p:spPr>
          <a:xfrm xmlns:a="http://schemas.openxmlformats.org/drawingml/2006/main">
            <a:off x="6334125" y="2085975"/>
            <a:ext cx="2381250" cy="2381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32AA04B-DAC0-4F98-BA27-0DDE6B5EA41B}"/>
              </a:ext>
            </a:extLst>
          </p:cNvPr>
          <p:cNvSpPr>
            <a:spLocks xmlns:a="http://schemas.openxmlformats.org/drawingml/2006/main" noGrp="1"/>
          </p:cNvSpPr>
          <p:nvPr/>
        </p:nvSpPr>
        <p:spPr>
          <a:xfrm xmlns:a="http://schemas.openxmlformats.org/drawingml/2006/main">
            <a:off x="6334125" y="47244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72B"/>
                </a:solidFill>
                <a:latin typeface="Helvetica Neue"/>
                <a:ea typeface="Helvetica Neue"/>
                <a:cs typeface="Helvetica Neue"/>
              </a:defRPr>
            </a:pPr>
            <a:r>
              <a:rPr sz="2100" b="1">
                <a:solidFill>
                  <a:srgbClr val="20272B"/>
                </a:solidFill>
                <a:latin typeface="Helvetica Neue"/>
                <a:ea typeface="Helvetica Neue"/>
                <a:cs typeface="Helvetica Neue"/>
              </a:rPr>
              <a:t>HQS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98c57327f3e4478"/>
          <a:stretch xmlns:a="http://schemas.openxmlformats.org/drawingml/2006/main"/>
        </p:blipFill>
        <p:spPr>
          <a:xfrm xmlns:a="http://schemas.openxmlformats.org/drawingml/2006/main">
            <a:off x="9191625" y="2085975"/>
            <a:ext cx="2381250" cy="2381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EE468C0-2658-44E2-93C8-24D13C1FCB0A}"/>
              </a:ext>
            </a:extLst>
          </p:cNvPr>
          <p:cNvSpPr>
            <a:spLocks xmlns:a="http://schemas.openxmlformats.org/drawingml/2006/main" noGrp="1"/>
          </p:cNvSpPr>
          <p:nvPr/>
        </p:nvSpPr>
        <p:spPr>
          <a:xfrm xmlns:a="http://schemas.openxmlformats.org/drawingml/2006/main">
            <a:off x="9191625" y="47244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72B"/>
                </a:solidFill>
                <a:latin typeface="Helvetica Neue"/>
                <a:ea typeface="Helvetica Neue"/>
                <a:cs typeface="Helvetica Neue"/>
              </a:defRPr>
            </a:pPr>
            <a:r>
              <a:rPr sz="2100" b="1">
                <a:solidFill>
                  <a:srgbClr val="20272B"/>
                </a:solidFill>
                <a:latin typeface="Helvetica Neue"/>
                <a:ea typeface="Helvetica Neue"/>
                <a:cs typeface="Helvetica Neue"/>
              </a:rPr>
              <a:t>ADMM</a:t>
            </a:r>
          </a:p>
        </p:txBody>
      </p:sp>
      <p:sp>
        <p:nvSpPr>
          <p:cNvPr id="11" name="">
            <a:extLst xmlns:a="http://schemas.openxmlformats.org/drawingml/2006/main">
              <a:ext uri="{FF2B5EF4-FFF2-40B4-BE49-F238E27FC236}">
                <a16:creationId xmlns:a16="http://schemas.microsoft.com/office/drawing/2014/main" id="{DDBED78D-2F23-42AA-8469-3DF2592C04F8}"/>
              </a:ext>
            </a:extLst>
          </p:cNvPr>
          <p:cNvSpPr>
            <a:spLocks xmlns:a="http://schemas.openxmlformats.org/drawingml/2006/main" noGrp="1"/>
          </p:cNvSpPr>
          <p:nvPr/>
        </p:nvSpPr>
        <p:spPr>
          <a:xfrm xmlns:a="http://schemas.openxmlformats.org/drawingml/2006/main">
            <a:off x="619125" y="57340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66C"/>
                </a:solidFill>
                <a:latin typeface="Helvetica Neue"/>
                <a:ea typeface="Helvetica Neue"/>
                <a:cs typeface="Helvetica Neue"/>
              </a:defRPr>
            </a:pPr>
            <a:r>
              <a:rPr sz="2100" b="0">
                <a:solidFill>
                  <a:srgbClr val="59666C"/>
                </a:solidFill>
                <a:latin typeface="Helvetica Neue"/>
                <a:ea typeface="Helvetica Neue"/>
                <a:cs typeface="Helvetica Neue"/>
              </a:rPr>
              <a:t>Nominal sampling ratio: 10%     Common sensing operator</a:t>
            </a:r>
          </a:p>
        </p:txBody>
      </p:sp>
    </p:spTree>
    <p:extLst>
      <p:ext uri="{BB962C8B-B14F-4D97-AF65-F5344CB8AC3E}">
        <p14:creationId xmlns:p14="http://schemas.microsoft.com/office/powerpoint/2010/main" val="6231990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406530E-3C23-4725-96C5-A3CD4F998515}"/>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Failure cases: texture and small text</a:t>
            </a:r>
          </a:p>
        </p:txBody>
      </p:sp>
      <p:sp>
        <p:nvSpPr>
          <p:cNvPr id="2" name="">
            <a:extLst xmlns:a="http://schemas.openxmlformats.org/drawingml/2006/main">
              <a:ext uri="{FF2B5EF4-FFF2-40B4-BE49-F238E27FC236}">
                <a16:creationId xmlns:a16="http://schemas.microsoft.com/office/drawing/2014/main" id="{DD5FCCF5-3849-438B-ACB9-0AEB838820BF}"/>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77cd174b3e84303"/>
          <a:stretch xmlns:a="http://schemas.openxmlformats.org/drawingml/2006/main"/>
        </p:blipFill>
        <p:spPr>
          <a:xfrm xmlns:a="http://schemas.openxmlformats.org/drawingml/2006/main">
            <a:off x="809625" y="1638300"/>
            <a:ext cx="1952625" cy="195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41CE456-44BB-49FD-A6FE-30E5388413C8}"/>
              </a:ext>
            </a:extLst>
          </p:cNvPr>
          <p:cNvSpPr>
            <a:spLocks xmlns:a="http://schemas.openxmlformats.org/drawingml/2006/main" noGrp="1"/>
          </p:cNvSpPr>
          <p:nvPr/>
        </p:nvSpPr>
        <p:spPr>
          <a:xfrm xmlns:a="http://schemas.openxmlformats.org/drawingml/2006/main">
            <a:off x="714375" y="12573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72B"/>
                </a:solidFill>
                <a:latin typeface="Helvetica Neue"/>
                <a:ea typeface="Helvetica Neue"/>
                <a:cs typeface="Helvetica Neue"/>
              </a:defRPr>
            </a:pPr>
            <a:r>
              <a:rPr sz="1875" b="1">
                <a:solidFill>
                  <a:srgbClr val="20272B"/>
                </a:solidFill>
                <a:latin typeface="Helvetica Neue"/>
                <a:ea typeface="Helvetica Neue"/>
                <a:cs typeface="Helvetica Neue"/>
              </a:rPr>
              <a:t>Reference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0b2b17a65084af2"/>
          <a:stretch xmlns:a="http://schemas.openxmlformats.org/drawingml/2006/main"/>
        </p:blipFill>
        <p:spPr>
          <a:xfrm xmlns:a="http://schemas.openxmlformats.org/drawingml/2006/main">
            <a:off x="3667125" y="1638300"/>
            <a:ext cx="1952625" cy="1952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83EB0D7-BF53-4D11-A99C-8CF417328A37}"/>
              </a:ext>
            </a:extLst>
          </p:cNvPr>
          <p:cNvSpPr>
            <a:spLocks xmlns:a="http://schemas.openxmlformats.org/drawingml/2006/main" noGrp="1"/>
          </p:cNvSpPr>
          <p:nvPr/>
        </p:nvSpPr>
        <p:spPr>
          <a:xfrm xmlns:a="http://schemas.openxmlformats.org/drawingml/2006/main">
            <a:off x="3571875" y="12573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72B"/>
                </a:solidFill>
                <a:latin typeface="Helvetica Neue"/>
                <a:ea typeface="Helvetica Neue"/>
                <a:cs typeface="Helvetica Neue"/>
              </a:defRPr>
            </a:pPr>
            <a:r>
              <a:rPr sz="1875" b="1">
                <a:solidFill>
                  <a:srgbClr val="20272B"/>
                </a:solidFill>
                <a:latin typeface="Helvetica Neue"/>
                <a:ea typeface="Helvetica Neue"/>
                <a:cs typeface="Helvetica Neue"/>
              </a:rPr>
              <a:t>DCT-FISTA</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914b4653b064847"/>
          <a:stretch xmlns:a="http://schemas.openxmlformats.org/drawingml/2006/main"/>
        </p:blipFill>
        <p:spPr>
          <a:xfrm xmlns:a="http://schemas.openxmlformats.org/drawingml/2006/main">
            <a:off x="6524625" y="1638300"/>
            <a:ext cx="1952625" cy="1952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9CB2C87-BCC4-46C5-A10F-E466DE105126}"/>
              </a:ext>
            </a:extLst>
          </p:cNvPr>
          <p:cNvSpPr>
            <a:spLocks xmlns:a="http://schemas.openxmlformats.org/drawingml/2006/main" noGrp="1"/>
          </p:cNvSpPr>
          <p:nvPr/>
        </p:nvSpPr>
        <p:spPr>
          <a:xfrm xmlns:a="http://schemas.openxmlformats.org/drawingml/2006/main">
            <a:off x="6429375" y="12573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72B"/>
                </a:solidFill>
                <a:latin typeface="Helvetica Neue"/>
                <a:ea typeface="Helvetica Neue"/>
                <a:cs typeface="Helvetica Neue"/>
              </a:defRPr>
            </a:pPr>
            <a:r>
              <a:rPr sz="1875" b="1">
                <a:solidFill>
                  <a:srgbClr val="20272B"/>
                </a:solidFill>
                <a:latin typeface="Helvetica Neue"/>
                <a:ea typeface="Helvetica Neue"/>
                <a:cs typeface="Helvetica Neue"/>
              </a:rPr>
              <a:t>HQS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bdd43e45f514cc3"/>
          <a:stretch xmlns:a="http://schemas.openxmlformats.org/drawingml/2006/main"/>
        </p:blipFill>
        <p:spPr>
          <a:xfrm xmlns:a="http://schemas.openxmlformats.org/drawingml/2006/main">
            <a:off x="9382125" y="1638300"/>
            <a:ext cx="1952625" cy="1952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1883C51-14F4-4664-A0B9-A6359DEE1B35}"/>
              </a:ext>
            </a:extLst>
          </p:cNvPr>
          <p:cNvSpPr>
            <a:spLocks xmlns:a="http://schemas.openxmlformats.org/drawingml/2006/main" noGrp="1"/>
          </p:cNvSpPr>
          <p:nvPr/>
        </p:nvSpPr>
        <p:spPr>
          <a:xfrm xmlns:a="http://schemas.openxmlformats.org/drawingml/2006/main">
            <a:off x="9286875" y="12573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72B"/>
                </a:solidFill>
                <a:latin typeface="Helvetica Neue"/>
                <a:ea typeface="Helvetica Neue"/>
                <a:cs typeface="Helvetica Neue"/>
              </a:defRPr>
            </a:pPr>
            <a:r>
              <a:rPr sz="1875" b="1">
                <a:solidFill>
                  <a:srgbClr val="20272B"/>
                </a:solidFill>
                <a:latin typeface="Helvetica Neue"/>
                <a:ea typeface="Helvetica Neue"/>
                <a:cs typeface="Helvetica Neue"/>
              </a:rPr>
              <a:t>ADMM</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d1e278726924eb4"/>
          <a:stretch xmlns:a="http://schemas.openxmlformats.org/drawingml/2006/main"/>
        </p:blipFill>
        <p:spPr>
          <a:xfrm xmlns:a="http://schemas.openxmlformats.org/drawingml/2006/main">
            <a:off x="809625" y="3943350"/>
            <a:ext cx="1952625" cy="1952625"/>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4959b92080e45cb"/>
          <a:stretch xmlns:a="http://schemas.openxmlformats.org/drawingml/2006/main"/>
        </p:blipFill>
        <p:spPr>
          <a:xfrm xmlns:a="http://schemas.openxmlformats.org/drawingml/2006/main">
            <a:off x="3667125" y="3943350"/>
            <a:ext cx="1952625" cy="1952625"/>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a67eb68d68b4ac5"/>
          <a:stretch xmlns:a="http://schemas.openxmlformats.org/drawingml/2006/main"/>
        </p:blipFill>
        <p:spPr>
          <a:xfrm xmlns:a="http://schemas.openxmlformats.org/drawingml/2006/main">
            <a:off x="6524625" y="3943350"/>
            <a:ext cx="1952625" cy="1952625"/>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ec31daa73ce4975"/>
          <a:stretch xmlns:a="http://schemas.openxmlformats.org/drawingml/2006/main"/>
        </p:blipFill>
        <p:spPr>
          <a:xfrm xmlns:a="http://schemas.openxmlformats.org/drawingml/2006/main">
            <a:off x="9382125" y="3943350"/>
            <a:ext cx="1952625" cy="19526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9093615-67E2-40A2-A1E5-0359EBAEFFC2}"/>
              </a:ext>
            </a:extLst>
          </p:cNvPr>
          <p:cNvSpPr>
            <a:spLocks xmlns:a="http://schemas.openxmlformats.org/drawingml/2006/main" noGrp="1"/>
          </p:cNvSpPr>
          <p:nvPr/>
        </p:nvSpPr>
        <p:spPr>
          <a:xfrm xmlns:a="http://schemas.openxmlformats.org/drawingml/2006/main">
            <a:off x="619125"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Top: checkerboard at 10%     Bottom: small text at 1%</a:t>
            </a:r>
          </a:p>
        </p:txBody>
      </p:sp>
    </p:spTree>
    <p:extLst>
      <p:ext uri="{BB962C8B-B14F-4D97-AF65-F5344CB8AC3E}">
        <p14:creationId xmlns:p14="http://schemas.microsoft.com/office/powerpoint/2010/main" val="8557180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9C5080-F5B0-4694-A148-45D19362872A}"/>
              </a:ext>
            </a:extLst>
          </p:cNvPr>
          <p:cNvSpPr>
            <a:spLocks xmlns:a="http://schemas.openxmlformats.org/drawingml/2006/main" noGrp="1"/>
          </p:cNvSpPr>
          <p:nvPr/>
        </p:nvSpPr>
        <p:spPr>
          <a:xfrm xmlns:a="http://schemas.openxmlformats.org/drawingml/2006/main">
            <a:off x="571500" y="34290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72B"/>
                </a:solidFill>
                <a:latin typeface="Helvetica Neue"/>
                <a:ea typeface="Helvetica Neue"/>
                <a:cs typeface="Helvetica Neue"/>
              </a:defRPr>
            </a:pPr>
            <a:r>
              <a:rPr sz="3300" b="1">
                <a:solidFill>
                  <a:srgbClr val="20272B"/>
                </a:solidFill>
                <a:latin typeface="Helvetica Neue"/>
                <a:ea typeface="Helvetica Neue"/>
                <a:cs typeface="Helvetica Neue"/>
              </a:rPr>
              <a:t>Conclusions and limits</a:t>
            </a:r>
          </a:p>
        </p:txBody>
      </p:sp>
      <p:sp>
        <p:nvSpPr>
          <p:cNvPr id="2" name="">
            <a:extLst xmlns:a="http://schemas.openxmlformats.org/drawingml/2006/main">
              <a:ext uri="{FF2B5EF4-FFF2-40B4-BE49-F238E27FC236}">
                <a16:creationId xmlns:a16="http://schemas.microsoft.com/office/drawing/2014/main" id="{4E40EE62-90AF-490E-95B1-18DFADE89B42}"/>
              </a:ext>
            </a:extLst>
          </p:cNvPr>
          <p:cNvSpPr>
            <a:spLocks xmlns:a="http://schemas.openxmlformats.org/drawingml/2006/main" noGrp="1"/>
          </p:cNvSpPr>
          <p:nvPr/>
        </p:nvSpPr>
        <p:spPr>
          <a:xfrm xmlns:a="http://schemas.openxmlformats.org/drawingml/2006/main">
            <a:off x="11239500"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66C"/>
                </a:solidFill>
                <a:latin typeface="Helvetica Neue"/>
                <a:ea typeface="Helvetica Neue"/>
                <a:cs typeface="Helvetica Neue"/>
              </a:defRPr>
            </a:pPr>
            <a:r>
              <a:rPr sz="1275" b="0">
                <a:solidFill>
                  <a:srgbClr val="59666C"/>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21EEE641-2788-43FB-8110-082581A962A7}"/>
              </a:ext>
            </a:extLst>
          </p:cNvPr>
          <p:cNvSpPr>
            <a:spLocks xmlns:a="http://schemas.openxmlformats.org/drawingml/2006/main" noGrp="1"/>
          </p:cNvSpPr>
          <p:nvPr/>
        </p:nvSpPr>
        <p:spPr>
          <a:xfrm xmlns:a="http://schemas.openxmlformats.org/drawingml/2006/main">
            <a:off x="619125" y="1524000"/>
            <a:ext cx="1076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D78"/>
                </a:solidFill>
                <a:latin typeface="Helvetica Neue"/>
                <a:ea typeface="Helvetica Neue"/>
                <a:cs typeface="Helvetica Neue"/>
              </a:defRPr>
            </a:pPr>
            <a:r>
              <a:rPr sz="2400" b="1">
                <a:solidFill>
                  <a:srgbClr val="147D78"/>
                </a:solidFill>
                <a:latin typeface="Helvetica Neue"/>
                <a:ea typeface="Helvetica Neue"/>
                <a:cs typeface="Helvetica Neue"/>
              </a:rPr>
              <a:t>Shared measurements make solver comparisons interpretable</a:t>
            </a:r>
          </a:p>
          <a:p xmlns:a="http://schemas.openxmlformats.org/drawingml/2006/main">
            <a:pPr>
              <a:defRPr sz="2400" b="1">
                <a:solidFill>
                  <a:srgbClr val="147D78"/>
                </a:solidFill>
                <a:latin typeface="Helvetica Neue"/>
                <a:ea typeface="Helvetica Neue"/>
                <a:cs typeface="Helvetica Neue"/>
              </a:defRPr>
            </a:pPr>
            <a:r>
              <a:rPr sz="2400" b="1">
                <a:solidFill>
                  <a:srgbClr val="147D78"/>
                </a:solidFill>
                <a:latin typeface="Helvetica Neue"/>
                <a:ea typeface="Helvetica Neue"/>
                <a:cs typeface="Helvetica Neue"/>
              </a:rPr>
              <a:t>Fine detail can fail despite plausible global appearance</a:t>
            </a:r>
          </a:p>
          <a:p xmlns:a="http://schemas.openxmlformats.org/drawingml/2006/main">
            <a:pPr>
              <a:defRPr sz="2400" b="1">
                <a:solidFill>
                  <a:srgbClr val="147D78"/>
                </a:solidFill>
                <a:latin typeface="Helvetica Neue"/>
                <a:ea typeface="Helvetica Neue"/>
                <a:cs typeface="Helvetica Neue"/>
              </a:defRPr>
            </a:pPr>
            <a:r>
              <a:rPr sz="2400" b="1">
                <a:solidFill>
                  <a:srgbClr val="147D78"/>
                </a:solidFill>
                <a:latin typeface="Helvetica Neue"/>
                <a:ea typeface="Helvetica Neue"/>
                <a:cs typeface="Helvetica Neue"/>
              </a:rPr>
              <a:t>Raw results and reproduction commands accompany the reports</a:t>
            </a:r>
          </a:p>
        </p:txBody>
      </p:sp>
      <p:sp>
        <p:nvSpPr>
          <p:cNvPr id="4" name="">
            <a:extLst xmlns:a="http://schemas.openxmlformats.org/drawingml/2006/main">
              <a:ext uri="{FF2B5EF4-FFF2-40B4-BE49-F238E27FC236}">
                <a16:creationId xmlns:a16="http://schemas.microsoft.com/office/drawing/2014/main" id="{429D45A1-1DFF-4E65-9A26-F8319A2C55A3}"/>
              </a:ext>
            </a:extLst>
          </p:cNvPr>
          <p:cNvSpPr>
            <a:spLocks xmlns:a="http://schemas.openxmlformats.org/drawingml/2006/main" noGrp="1"/>
          </p:cNvSpPr>
          <p:nvPr/>
        </p:nvSpPr>
        <p:spPr>
          <a:xfrm xmlns:a="http://schemas.openxmlformats.org/drawingml/2006/main">
            <a:off x="619125" y="3943350"/>
            <a:ext cx="10763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Limits: small image suite, common-operator transfer, pretrained models</a:t>
            </a:r>
          </a:p>
          <a:p xmlns:a="http://schemas.openxmlformats.org/drawingml/2006/main">
            <a:pPr>
              <a:defRPr sz="2100" b="0">
                <a:solidFill>
                  <a:srgbClr val="20272B"/>
                </a:solidFill>
                <a:latin typeface="Helvetica Neue"/>
                <a:ea typeface="Helvetica Neue"/>
                <a:cs typeface="Helvetica Neue"/>
              </a:defRPr>
            </a:pPr>
            <a:r>
              <a:rPr sz="2100" b="0">
                <a:solidFill>
                  <a:srgbClr val="20272B"/>
                </a:solidFill>
                <a:latin typeface="Helvetica Neue"/>
                <a:ea typeface="Helvetica Neue"/>
                <a:cs typeface="Helvetica Neue"/>
              </a:rPr>
              <a:t>No optical acquisition, retraining, or full-color reconstruction</a:t>
            </a:r>
          </a:p>
        </p:txBody>
      </p:sp>
      <p:sp>
        <p:nvSpPr>
          <p:cNvPr id="5" name="">
            <a:extLst xmlns:a="http://schemas.openxmlformats.org/drawingml/2006/main">
              <a:ext uri="{FF2B5EF4-FFF2-40B4-BE49-F238E27FC236}">
                <a16:creationId xmlns:a16="http://schemas.microsoft.com/office/drawing/2014/main" id="{0C978021-EA77-4892-BF23-573DEEE5C7EE}"/>
              </a:ext>
            </a:extLst>
          </p:cNvPr>
          <p:cNvSpPr>
            <a:spLocks xmlns:a="http://schemas.openxmlformats.org/drawingml/2006/main" noGrp="1"/>
          </p:cNvSpPr>
          <p:nvPr/>
        </p:nvSpPr>
        <p:spPr>
          <a:xfrm xmlns:a="http://schemas.openxmlformats.org/drawingml/2006/main">
            <a:off x="619125" y="5572125"/>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AI disclosure: Codex assisted with code, experiments, analysis, and writing.</a:t>
            </a:r>
          </a:p>
          <a:p xmlns:a="http://schemas.openxmlformats.org/drawingml/2006/main">
            <a:pPr>
              <a:defRPr sz="1725" b="0">
                <a:solidFill>
                  <a:srgbClr val="59666C"/>
                </a:solidFill>
                <a:latin typeface="Helvetica Neue"/>
                <a:ea typeface="Helvetica Neue"/>
                <a:cs typeface="Helvetica Neue"/>
              </a:defRPr>
            </a:pPr>
            <a:r>
              <a:rPr sz="1725" b="0">
                <a:solidFill>
                  <a:srgbClr val="59666C"/>
                </a:solidFill>
                <a:latin typeface="Helvetica Neue"/>
                <a:ea typeface="Helvetica Neue"/>
                <a:cs typeface="Helvetica Neue"/>
              </a:rPr>
              <a:t>Architecture and weights: Wang et al., CVPR 2025.</a:t>
            </a:r>
          </a:p>
        </p:txBody>
      </p:sp>
    </p:spTree>
    <p:extLst>
      <p:ext uri="{BB962C8B-B14F-4D97-AF65-F5344CB8AC3E}">
        <p14:creationId xmlns:p14="http://schemas.microsoft.com/office/powerpoint/2010/main" val="96525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2026-09-15T09:39:50.4540000Z</dcterms:created>
  <dcterms:modified xsi:type="dcterms:W3CDTF">2026-09-15T09:39:50.4540000Z</dcterms:modified>
</coreProperties>
</file>