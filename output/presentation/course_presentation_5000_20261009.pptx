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df99390387f4aac" /><Relationship Type="http://schemas.openxmlformats.org/officeDocument/2006/relationships/extended-properties" Target="/docProps/app.xml" Id="Re816233ba5494a8a" /><Relationship Type="http://schemas.openxmlformats.org/officeDocument/2006/relationships/officeDocument" Target="/ppt/presentation.xml" Id="Ra59d6112404647e2" /></Relationships>
</file>

<file path=ppt/presentation.xml><?xml version="1.0" encoding="utf-8"?>
<p:presentation xmlns:p="http://schemas.openxmlformats.org/presentationml/2006/main">
  <p:sldMasterIdLst>
    <p:sldMasterId xmlns:r="http://schemas.openxmlformats.org/officeDocument/2006/relationships" id="2147483648" r:id="R1a00c3082475404c"/>
  </p:sldMasterIdLst>
  <p:notesMasterIdLst>
    <p:notesMasterId xmlns:r="http://schemas.openxmlformats.org/officeDocument/2006/relationships" r:id="Ra2366d8602634108"/>
  </p:notesMasterIdLst>
  <p:sldIdLst>
    <p:sldId xmlns:r="http://schemas.openxmlformats.org/officeDocument/2006/relationships" id="256" r:id="R7cc33655d02743e0"/>
    <p:sldId xmlns:r="http://schemas.openxmlformats.org/officeDocument/2006/relationships" id="257" r:id="R03ea3afb1d794214"/>
    <p:sldId xmlns:r="http://schemas.openxmlformats.org/officeDocument/2006/relationships" id="258" r:id="R49fbbc8f9daa4179"/>
    <p:sldId xmlns:r="http://schemas.openxmlformats.org/officeDocument/2006/relationships" id="259" r:id="R6cccaabdfeb44f7d"/>
    <p:sldId xmlns:r="http://schemas.openxmlformats.org/officeDocument/2006/relationships" id="260" r:id="R1c5e603095ec41b9"/>
    <p:sldId xmlns:r="http://schemas.openxmlformats.org/officeDocument/2006/relationships" id="261" r:id="R5923e70eb4c44a5f"/>
    <p:sldId xmlns:r="http://schemas.openxmlformats.org/officeDocument/2006/relationships" id="262" r:id="Rd663ed9f61cc401d"/>
    <p:sldId xmlns:r="http://schemas.openxmlformats.org/officeDocument/2006/relationships" id="263" r:id="Rf68fb49b1c084b59"/>
    <p:sldId xmlns:r="http://schemas.openxmlformats.org/officeDocument/2006/relationships" id="264" r:id="R1f837a1adb944f51"/>
    <p:sldId xmlns:r="http://schemas.openxmlformats.org/officeDocument/2006/relationships" id="265" r:id="Rde520db220cb461f"/>
    <p:sldId xmlns:r="http://schemas.openxmlformats.org/officeDocument/2006/relationships" id="266" r:id="R7a284c40050c421c"/>
    <p:sldId xmlns:r="http://schemas.openxmlformats.org/officeDocument/2006/relationships" id="267" r:id="R1b0f0a1274954b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312c787bd5430f" /><Relationship Type="http://schemas.openxmlformats.org/officeDocument/2006/relationships/slideMaster" Target="/ppt/slideMasters/slideMaster1.xml" Id="R1a00c3082475404c" /><Relationship Type="http://schemas.openxmlformats.org/officeDocument/2006/relationships/notesMaster" Target="/ppt/notesMasters/notesMaster1.xml" Id="Ra2366d8602634108" /><Relationship Type="http://schemas.openxmlformats.org/officeDocument/2006/relationships/presProps" Target="/ppt/presProps.xml" Id="Rbff1fc7a841146ba" /><Relationship Type="http://schemas.openxmlformats.org/officeDocument/2006/relationships/tableStyles" Target="/ppt/tableStyles.xml" Id="R6bfe498dc8fd445a" /><Relationship Type="http://schemas.openxmlformats.org/officeDocument/2006/relationships/slide" Target="/ppt/slides/slide1.xml" Id="R7cc33655d02743e0" /><Relationship Type="http://schemas.openxmlformats.org/officeDocument/2006/relationships/slide" Target="/ppt/slides/slide2.xml" Id="R03ea3afb1d794214" /><Relationship Type="http://schemas.openxmlformats.org/officeDocument/2006/relationships/slide" Target="/ppt/slides/slide3.xml" Id="R49fbbc8f9daa4179" /><Relationship Type="http://schemas.openxmlformats.org/officeDocument/2006/relationships/slide" Target="/ppt/slides/slide4.xml" Id="R6cccaabdfeb44f7d" /><Relationship Type="http://schemas.openxmlformats.org/officeDocument/2006/relationships/slide" Target="/ppt/slides/slide5.xml" Id="R1c5e603095ec41b9" /><Relationship Type="http://schemas.openxmlformats.org/officeDocument/2006/relationships/slide" Target="/ppt/slides/slide6.xml" Id="R5923e70eb4c44a5f" /><Relationship Type="http://schemas.openxmlformats.org/officeDocument/2006/relationships/slide" Target="/ppt/slides/slide7.xml" Id="Rd663ed9f61cc401d" /><Relationship Type="http://schemas.openxmlformats.org/officeDocument/2006/relationships/slide" Target="/ppt/slides/slide8.xml" Id="Rf68fb49b1c084b59" /><Relationship Type="http://schemas.openxmlformats.org/officeDocument/2006/relationships/slide" Target="/ppt/slides/slide9.xml" Id="R1f837a1adb944f51" /><Relationship Type="http://schemas.openxmlformats.org/officeDocument/2006/relationships/slide" Target="/ppt/slides/slide10.xml" Id="Rde520db220cb461f" /><Relationship Type="http://schemas.openxmlformats.org/officeDocument/2006/relationships/slide" Target="/ppt/slides/slide11.xml" Id="R7a284c40050c421c" /><Relationship Type="http://schemas.openxmlformats.org/officeDocument/2006/relationships/slide" Target="/ppt/slides/slide12.xml" Id="R1b0f0a1274954b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eb0cfcef904d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b3a194395c46b5" /><Relationship Type="http://schemas.openxmlformats.org/officeDocument/2006/relationships/notesMaster" Target="/ppt/notesMasters/notesMaster1.xml" Id="R10cfadb65aeb43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aaee8bb66d4d48" /><Relationship Type="http://schemas.openxmlformats.org/officeDocument/2006/relationships/notesMaster" Target="/ppt/notesMasters/notesMaster1.xml" Id="R44360cd621bb46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8efdcd455b42c0" /><Relationship Type="http://schemas.openxmlformats.org/officeDocument/2006/relationships/notesMaster" Target="/ppt/notesMasters/notesMaster1.xml" Id="R47110852583141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0de81a011c451f" /><Relationship Type="http://schemas.openxmlformats.org/officeDocument/2006/relationships/notesMaster" Target="/ppt/notesMasters/notesMaster1.xml" Id="R00e89db6926b40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96b0c01d534913" /><Relationship Type="http://schemas.openxmlformats.org/officeDocument/2006/relationships/notesMaster" Target="/ppt/notesMasters/notesMaster1.xml" Id="R1a7082fd5c4a4b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3d56ebe8584cc2" /><Relationship Type="http://schemas.openxmlformats.org/officeDocument/2006/relationships/notesMaster" Target="/ppt/notesMasters/notesMaster1.xml" Id="R9473278207da4a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e8871426df41e7" /><Relationship Type="http://schemas.openxmlformats.org/officeDocument/2006/relationships/notesMaster" Target="/ppt/notesMasters/notesMaster1.xml" Id="Rea4ea0571f3142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0b496eb2f94a51" /><Relationship Type="http://schemas.openxmlformats.org/officeDocument/2006/relationships/notesMaster" Target="/ppt/notesMasters/notesMaster1.xml" Id="R0eb2401405c541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7655d8b07f4d96" /><Relationship Type="http://schemas.openxmlformats.org/officeDocument/2006/relationships/notesMaster" Target="/ppt/notesMasters/notesMaster1.xml" Id="R60c29000e6a84f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0d8e05e3e043ad" /><Relationship Type="http://schemas.openxmlformats.org/officeDocument/2006/relationships/notesMaster" Target="/ppt/notesMasters/notesMaster1.xml" Id="Rb6081af142ef4f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b8dbcaf6624e32" /><Relationship Type="http://schemas.openxmlformats.org/officeDocument/2006/relationships/notesMaster" Target="/ppt/notesMasters/notesMaster1.xml" Id="Rb1d16b715fdd42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153e45cf05473e" /><Relationship Type="http://schemas.openxmlformats.org/officeDocument/2006/relationships/notesMaster" Target="/ppt/notesMasters/notesMaster1.xml" Id="R110e35fda0234f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25 seconds.</a:t>
            </a:r>
          </a:p>
          <a:p xmlns:a="http://schemas.openxmlformats.org/drawingml/2006/main">
            <a:r>
              <a:t/>
            </a:r>
          </a:p>
          <a:p xmlns:a="http://schemas.openxmlformats.org/drawingml/2006/main">
            <a:r>
              <a:t>We compare four reconstruction solvers and extend HQS fine-tuning with a bounded second round. Percentage improvement means reduction in equally weighted mean reconstruction MSE, with first-round HQS as the primary reference. Codex assisted with code, experiments, analysis and writing. Architecture and weights: https://github.com/pwangcs/ProxUnroll.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Y = H X W^T + E simulates integrated single-pixel measurements from existing grayscale images. The experiment does not demonstrate optical acquisition. Source: Duarte et al., doi:10.1109/MSP.2007.914730.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All four initial solvers use the same matrices and measured values. New and previous HQS variants also share the common MAT operator. DCT-FISTA lambda is fixed from the original separate validation experiment. Sources: Beck and Teboulle, doi:10.1137/080716542; Wang et al., arXiv:2505.23180.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50 seconds.</a:t>
            </a:r>
          </a:p>
          <a:p xmlns:a="http://schemas.openxmlformats.org/drawingml/2006/main">
            <a:r>
              <a:t/>
            </a:r>
          </a:p>
          <a:p xmlns:a="http://schemas.openxmlformats.org/drawingml/2006/main">
            <a:r>
              <a:t>The supplied restorer uses convolution, window attention and memory between optimization stages within one image. It does not connect video frames. Source diagram and architecture: https://github.com/pwangcs/ProxUnroll.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50 seconds.</a:t>
            </a:r>
          </a:p>
          <a:p xmlns:a="http://schemas.openxmlformats.org/drawingml/2006/main">
            <a:r>
              <a:t/>
            </a:r>
          </a:p>
          <a:p xmlns:a="http://schemas.openxmlformats.org/drawingml/2006/main">
            <a:r>
              <a:t>800 official DIV2K training originals, 16 unchanged validation-selection originals. 32 test originals are fixed evenly indexed samples from the 84 remaining official validation originals; no earlier evaluation or this selection used them. Kodak24 and 24 raw spaced HEVC frames were observed in round 1 and now serve as regression tests. Original pretraining exposure is not fully audited. Source: https://data.vision.ee.ethz.ch/cvl/DIV2K/.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Preserved round-1 four-method results on the same common MAT operator. Every curve averages all 24 originals. Full CSV: runs/lab220_20261009/baseline/metrics.csv. Higher sampling usually provides more information; this plot does not prove universal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50 seconds.</a:t>
            </a:r>
          </a:p>
          <a:p xmlns:a="http://schemas.openxmlformats.org/drawingml/2006/main">
            <a:r>
              <a:t/>
            </a:r>
          </a:p>
          <a:p xmlns:a="http://schemas.openxmlformats.org/drawingml/2006/main">
            <a:r>
              <a:t>The user authorized 5,000 total updates before any test inference. The initial phase and full-state continuation share the same update rule; validation interval changes to 250. The last recovery state may differ from the validation-selected state. Round 2 starts from first-round selected weights with a new Adam optimizer at 1e-5; later round-2 resume restores full optimizer/RNG/step state. Direct GT weighted RMSE uses .01 for five intermediate outputs and .95 final. Training independently draws sampling ratios and relative measurement RMS 0,0,.01,.05. All six sensing factors stay frozen. The data, loss and noise changes are not separately attributed. Server 244 container luozc_mlvc shares the same workspace with 220.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Means use 16 selection originals, 10% and 25% rates, and fixed clean/.01/.05 noise. Combined validation PSNR selects the checkpoint, subject to clean PSNR no worse than initialization minus .03 dB. Initialization participates. No test outcomes choose the checkpoint or stopping. Full trace: finetune/validation.csv.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MSE reduction = 1 - equally weighted mean new MSE / equally weighted mean reference MSE. These are ratio-of-means percentages, not percentage changes in PSNR or a conversion of mean PSNR gain. Round 1 is the requested primary reference; official HQS is separate. Each HEVC video contributes one equal-weight unit. CSV: comparison/mse_dataset_summary.csv.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All three noise levels at 10%, relative to first-round HQS. Noisy results average three fixed seeds within image. Negative reductions mean MSE increased. Every condition and each whole-video result remain retained. Bootstrap resamples original images or whole videos, but one training seed limits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50 seconds.</a:t>
            </a:r>
          </a:p>
          <a:p xmlns:a="http://schemas.openxmlformats.org/drawingml/2006/main">
            <a:r>
              <a:t/>
            </a:r>
          </a:p>
          <a:p xmlns:a="http://schemas.openxmlformats.org/drawingml/2006/main">
            <a:r>
              <a:t>Post-test diagnostic of the smallest first-seed MSE reduction vs round 1 across all images and predeclared conditions. Image hevc_BasketballDrive_f0167, sampling 0.5, noise 0.0. This case did not choose weights or alter the recipe. All positive and negative image deltas are saved in comparison/mse_paired_deltas.csv.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One bounded recipe and one training seed. Kodak and HEVC results are repeated regression tests; 32 fresh DIV2K originals were not previously evaluated or used in selection. Original released-model training exposure is not fully audited. Larger training coverage, direct GT loss and noise mixture changed together. Independent HEVC frames do not demonstrate temporal reconstruction. Codex assisted with implementation, execution, analysis, English writing and slides. Sources: https://github.com/pwangcs/ProxUnroll and https://data.vision.ee.ethz.ch/cvl/DIV2K/.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ae6aa2df064b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2377aaf8cd4fb6" /><Relationship Type="http://schemas.openxmlformats.org/officeDocument/2006/relationships/slideLayout" Target="/ppt/slideLayouts/slideLayout1.xml" Id="R7e7928e8521146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7928e8521146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39cd8ea33749ae" /><Relationship Type="http://schemas.openxmlformats.org/officeDocument/2006/relationships/image" Target="/ppt/media/image.png" Id="Ra4dc2f7071814fc5" /><Relationship Type="http://schemas.openxmlformats.org/officeDocument/2006/relationships/notesSlide" Target="/ppt/notesSlides/notesSlide1.xml" Id="R4e524110056045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9d3e4202854cbf" /><Relationship Type="http://schemas.openxmlformats.org/officeDocument/2006/relationships/notesSlide" Target="/ppt/notesSlides/notesSlide2.xml" Id="R9f2be1f33e394f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a6350bc49a4866" /><Relationship Type="http://schemas.openxmlformats.org/officeDocument/2006/relationships/notesSlide" Target="/ppt/notesSlides/notesSlide3.xml" Id="Rdadfe6c214224f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09b7e45f81461d" /><Relationship Type="http://schemas.openxmlformats.org/officeDocument/2006/relationships/image" Target="/ppt/media/image2.png" Id="R7698baa0442c434b" /><Relationship Type="http://schemas.openxmlformats.org/officeDocument/2006/relationships/notesSlide" Target="/ppt/notesSlides/notesSlide4.xml" Id="Rec1eb0a7ae404e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e29f57c16d4ec3" /><Relationship Type="http://schemas.openxmlformats.org/officeDocument/2006/relationships/notesSlide" Target="/ppt/notesSlides/notesSlide5.xml" Id="Rd00e3592389f44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1bf7006f6843db" /><Relationship Type="http://schemas.openxmlformats.org/officeDocument/2006/relationships/chart" Target="/ppt/slides/charts/chart1.xml" Id="R391fe0fa3d17406e" /><Relationship Type="http://schemas.openxmlformats.org/officeDocument/2006/relationships/notesSlide" Target="/ppt/notesSlides/notesSlide6.xml" Id="Ra78d21589ce04d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be64efdad5441a" /><Relationship Type="http://schemas.openxmlformats.org/officeDocument/2006/relationships/notesSlide" Target="/ppt/notesSlides/notesSlide7.xml" Id="R219d27e28e9147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33d461b68aa4ab8" /><Relationship Type="http://schemas.openxmlformats.org/officeDocument/2006/relationships/chart" Target="/ppt/slides/charts/chart2.xml" Id="Rbcd5ae8f75b74a2b" /><Relationship Type="http://schemas.openxmlformats.org/officeDocument/2006/relationships/notesSlide" Target="/ppt/notesSlides/notesSlide8.xml" Id="R6a67bfa405bb4c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0493df8b02548bc" /><Relationship Type="http://schemas.openxmlformats.org/officeDocument/2006/relationships/chart" Target="/ppt/slides/charts/chart3.xml" Id="Rc7ef80df67714b03" /><Relationship Type="http://schemas.openxmlformats.org/officeDocument/2006/relationships/notesSlide" Target="/ppt/notesSlides/notesSlide9.xml" Id="Rc597a0019c5a41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51f3b884522465c" /><Relationship Type="http://schemas.openxmlformats.org/officeDocument/2006/relationships/chart" Target="/ppt/slides/charts/chart4.xml" Id="R364c3bdb05df49a0" /><Relationship Type="http://schemas.openxmlformats.org/officeDocument/2006/relationships/notesSlide" Target="/ppt/notesSlides/notesSlide10.xml" Id="R3ff9c719425247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542beb15674f54" /><Relationship Type="http://schemas.openxmlformats.org/officeDocument/2006/relationships/image" Target="/ppt/media/image3.png" Id="R40ed06a17ac74618" /><Relationship Type="http://schemas.openxmlformats.org/officeDocument/2006/relationships/image" Target="/ppt/media/image4.png" Id="R7d4dbc851aa54c44" /><Relationship Type="http://schemas.openxmlformats.org/officeDocument/2006/relationships/image" Target="/ppt/media/image5.png" Id="R95337f60a7644893" /><Relationship Type="http://schemas.openxmlformats.org/officeDocument/2006/relationships/notesSlide" Target="/ppt/notesSlides/notesSlide11.xml" Id="R27dbee0c8263426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e1abda504454ec5" /><Relationship Type="http://schemas.openxmlformats.org/officeDocument/2006/relationships/notesSlide" Target="/ppt/notesSlides/notesSlide12.xml" Id="R8b7335220b1043e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Adjoint</c:v>
          </c:tx>
          <c:spPr>
            <a:solidFill xmlns:a="http://schemas.openxmlformats.org/drawingml/2006/main">
              <a:srgbClr val="777777"/>
            </a:solidFill>
            <a:ln xmlns:a="http://schemas.openxmlformats.org/drawingml/2006/main" w="28575">
              <a:solidFill>
                <a:srgbClr val="777777"/>
              </a:solidFill>
            </a:ln>
          </c:spPr>
          <c:marker>
            <c:symbol val="circle"/>
            <c:size val="7"/>
            <c:spPr>
              <a:solidFill xmlns:a="http://schemas.openxmlformats.org/drawingml/2006/main">
                <a:srgbClr val="777777"/>
              </a:solidFill>
            </c:spPr>
          </c:marker>
          <c:xVal>
            <c:numRef>
              <c:f>'Chart Data'!$A$2:$A$6</c:f>
              <c:numCache>
                <c:formatCode>General</c:formatCode>
                <c:ptCount val="5"/>
                <c:pt idx="0">
                  <c:v>1</c:v>
                </c:pt>
                <c:pt idx="1">
                  <c:v>4</c:v>
                </c:pt>
                <c:pt idx="2">
                  <c:v>10</c:v>
                </c:pt>
                <c:pt idx="3">
                  <c:v>25</c:v>
                </c:pt>
                <c:pt idx="4">
                  <c:v>50</c:v>
                </c:pt>
              </c:numCache>
            </c:numRef>
          </c:xVal>
          <c:yVal>
            <c:numRef>
              <c:f>'Chart Data'!$B$2:$B$6</c:f>
              <c:numCache>
                <c:formatCode>0.00</c:formatCode>
                <c:ptCount val="5"/>
                <c:pt idx="0">
                  <c:v>21.4403</c:v>
                </c:pt>
                <c:pt idx="1">
                  <c:v>23.20541</c:v>
                </c:pt>
                <c:pt idx="2">
                  <c:v>24.66999</c:v>
                </c:pt>
                <c:pt idx="3">
                  <c:v>26.94009</c:v>
                </c:pt>
                <c:pt idx="4">
                  <c:v>29.8247</c:v>
                </c:pt>
              </c:numCache>
            </c:numRef>
          </c:yVal>
        </c:ser>
        <c:ser>
          <c:idx val="1"/>
          <c:order val="1"/>
          <c:tx>
            <c:v>DCT-FISTA</c:v>
          </c:tx>
          <c:spPr>
            <a:solidFill xmlns:a="http://schemas.openxmlformats.org/drawingml/2006/main">
              <a:srgbClr val="D78924"/>
            </a:solidFill>
            <a:ln xmlns:a="http://schemas.openxmlformats.org/drawingml/2006/main" w="28575">
              <a:solidFill>
                <a:srgbClr val="D78924"/>
              </a:solidFill>
            </a:ln>
          </c:spPr>
          <c:marker>
            <c:symbol val="circle"/>
            <c:size val="7"/>
            <c:spPr>
              <a:solidFill xmlns:a="http://schemas.openxmlformats.org/drawingml/2006/main">
                <a:srgbClr val="D78924"/>
              </a:solidFill>
            </c:spPr>
          </c:marker>
          <c:xVal>
            <c:numRef>
              <c:f>'Chart Data'!$C$2:$C$6</c:f>
              <c:numCache>
                <c:formatCode>General</c:formatCode>
                <c:ptCount val="5"/>
                <c:pt idx="0">
                  <c:v>1</c:v>
                </c:pt>
                <c:pt idx="1">
                  <c:v>4</c:v>
                </c:pt>
                <c:pt idx="2">
                  <c:v>10</c:v>
                </c:pt>
                <c:pt idx="3">
                  <c:v>25</c:v>
                </c:pt>
                <c:pt idx="4">
                  <c:v>50</c:v>
                </c:pt>
              </c:numCache>
            </c:numRef>
          </c:xVal>
          <c:yVal>
            <c:numRef>
              <c:f>'Chart Data'!$D$2:$D$6</c:f>
              <c:numCache>
                <c:formatCode>0.00</c:formatCode>
                <c:ptCount val="5"/>
                <c:pt idx="0">
                  <c:v>21.93259</c:v>
                </c:pt>
                <c:pt idx="1">
                  <c:v>23.7391</c:v>
                </c:pt>
                <c:pt idx="2">
                  <c:v>25.18055</c:v>
                </c:pt>
                <c:pt idx="3">
                  <c:v>27.51327</c:v>
                </c:pt>
                <c:pt idx="4">
                  <c:v>30.38486</c:v>
                </c:pt>
              </c:numCache>
            </c:numRef>
          </c:yVal>
        </c:ser>
        <c:ser>
          <c:idx val="2"/>
          <c:order val="2"/>
          <c:tx>
            <c:v>HQS</c:v>
          </c:tx>
          <c:spPr>
            <a:solidFill xmlns:a="http://schemas.openxmlformats.org/drawingml/2006/main">
              <a:srgbClr val="147D78"/>
            </a:solidFill>
            <a:ln xmlns:a="http://schemas.openxmlformats.org/drawingml/2006/main" w="28575">
              <a:solidFill>
                <a:srgbClr val="147D78"/>
              </a:solidFill>
            </a:ln>
          </c:spPr>
          <c:marker>
            <c:symbol val="circle"/>
            <c:size val="7"/>
            <c:spPr>
              <a:solidFill xmlns:a="http://schemas.openxmlformats.org/drawingml/2006/main">
                <a:srgbClr val="147D78"/>
              </a:solidFill>
            </c:spPr>
          </c:marker>
          <c:xVal>
            <c:numRef>
              <c:f>'Chart Data'!$E$2:$E$6</c:f>
              <c:numCache>
                <c:formatCode>General</c:formatCode>
                <c:ptCount val="5"/>
                <c:pt idx="0">
                  <c:v>1</c:v>
                </c:pt>
                <c:pt idx="1">
                  <c:v>4</c:v>
                </c:pt>
                <c:pt idx="2">
                  <c:v>10</c:v>
                </c:pt>
                <c:pt idx="3">
                  <c:v>25</c:v>
                </c:pt>
                <c:pt idx="4">
                  <c:v>50</c:v>
                </c:pt>
              </c:numCache>
            </c:numRef>
          </c:xVal>
          <c:yVal>
            <c:numRef>
              <c:f>'Chart Data'!$F$2:$F$6</c:f>
              <c:numCache>
                <c:formatCode>0.00</c:formatCode>
                <c:ptCount val="5"/>
                <c:pt idx="0">
                  <c:v>23.52865</c:v>
                </c:pt>
                <c:pt idx="1">
                  <c:v>26.63335</c:v>
                </c:pt>
                <c:pt idx="2">
                  <c:v>29.37679</c:v>
                </c:pt>
                <c:pt idx="3">
                  <c:v>33.47372</c:v>
                </c:pt>
                <c:pt idx="4">
                  <c:v>38.56165</c:v>
                </c:pt>
              </c:numCache>
            </c:numRef>
          </c:yVal>
        </c:ser>
        <c:ser>
          <c:idx val="3"/>
          <c:order val="3"/>
          <c:tx>
            <c:v>ADMM</c:v>
          </c:tx>
          <c:spPr>
            <a:solidFill xmlns:a="http://schemas.openxmlformats.org/drawingml/2006/main">
              <a:srgbClr val="B74760"/>
            </a:solidFill>
            <a:ln xmlns:a="http://schemas.openxmlformats.org/drawingml/2006/main" w="28575">
              <a:solidFill>
                <a:srgbClr val="B74760"/>
              </a:solidFill>
            </a:ln>
          </c:spPr>
          <c:marker>
            <c:symbol val="circle"/>
            <c:size val="7"/>
            <c:spPr>
              <a:solidFill xmlns:a="http://schemas.openxmlformats.org/drawingml/2006/main">
                <a:srgbClr val="B74760"/>
              </a:solidFill>
            </c:spPr>
          </c:marker>
          <c:xVal>
            <c:numRef>
              <c:f>'Chart Data'!$G$2:$G$6</c:f>
              <c:numCache>
                <c:formatCode>General</c:formatCode>
                <c:ptCount val="5"/>
                <c:pt idx="0">
                  <c:v>1</c:v>
                </c:pt>
                <c:pt idx="1">
                  <c:v>4</c:v>
                </c:pt>
                <c:pt idx="2">
                  <c:v>10</c:v>
                </c:pt>
                <c:pt idx="3">
                  <c:v>25</c:v>
                </c:pt>
                <c:pt idx="4">
                  <c:v>50</c:v>
                </c:pt>
              </c:numCache>
            </c:numRef>
          </c:xVal>
          <c:yVal>
            <c:numRef>
              <c:f>'Chart Data'!$H$2:$H$6</c:f>
              <c:numCache>
                <c:formatCode>0.00</c:formatCode>
                <c:ptCount val="5"/>
                <c:pt idx="0">
                  <c:v>23.56582</c:v>
                </c:pt>
                <c:pt idx="1">
                  <c:v>26.66358</c:v>
                </c:pt>
                <c:pt idx="2">
                  <c:v>29.42916</c:v>
                </c:pt>
                <c:pt idx="3">
                  <c:v>33.49261</c:v>
                </c:pt>
                <c:pt idx="4">
                  <c:v>38.56811</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PSNR (dB)</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Nominal clean sampling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Clean</c:v>
          </c:tx>
          <c:spPr>
            <a:solidFill xmlns:a="http://schemas.openxmlformats.org/drawingml/2006/main">
              <a:srgbClr val="147D78"/>
            </a:solidFill>
            <a:ln xmlns:a="http://schemas.openxmlformats.org/drawingml/2006/main" w="28575">
              <a:solidFill>
                <a:srgbClr val="147D78"/>
              </a:solidFill>
            </a:ln>
          </c:spPr>
          <c:marker>
            <c:symbol val="circle"/>
            <c:size val="6"/>
            <c:spPr>
              <a:solidFill xmlns:a="http://schemas.openxmlformats.org/drawingml/2006/main">
                <a:srgbClr val="147D78"/>
              </a:solidFill>
            </c:spPr>
          </c:marker>
          <c:xVal>
            <c:numRef>
              <c:f>'Chart Data'!$A$2:$A$31</c:f>
              <c:numCache>
                <c:formatCode>General</c:formatCode>
                <c:ptCount val="30"/>
                <c:pt idx="0">
                  <c:v>0</c:v>
                </c:pt>
                <c:pt idx="1">
                  <c:v>3</c:v>
                </c:pt>
                <c:pt idx="2">
                  <c:v>4</c:v>
                </c:pt>
                <c:pt idx="3">
                  <c:v>100</c:v>
                </c:pt>
                <c:pt idx="4">
                  <c:v>200</c:v>
                </c:pt>
                <c:pt idx="5">
                  <c:v>300</c:v>
                </c:pt>
                <c:pt idx="6">
                  <c:v>400</c:v>
                </c:pt>
                <c:pt idx="7">
                  <c:v>500</c:v>
                </c:pt>
                <c:pt idx="8">
                  <c:v>600</c:v>
                </c:pt>
                <c:pt idx="9">
                  <c:v>700</c:v>
                </c:pt>
                <c:pt idx="10">
                  <c:v>800</c:v>
                </c:pt>
                <c:pt idx="11">
                  <c:v>900</c:v>
                </c:pt>
                <c:pt idx="12">
                  <c:v>946</c:v>
                </c:pt>
                <c:pt idx="13">
                  <c:v>1000</c:v>
                </c:pt>
                <c:pt idx="14">
                  <c:v>1250</c:v>
                </c:pt>
                <c:pt idx="15">
                  <c:v>1500</c:v>
                </c:pt>
                <c:pt idx="16">
                  <c:v>1750</c:v>
                </c:pt>
                <c:pt idx="17">
                  <c:v>2000</c:v>
                </c:pt>
                <c:pt idx="18">
                  <c:v>2250</c:v>
                </c:pt>
                <c:pt idx="19">
                  <c:v>2500</c:v>
                </c:pt>
                <c:pt idx="20">
                  <c:v>2750</c:v>
                </c:pt>
                <c:pt idx="21">
                  <c:v>3000</c:v>
                </c:pt>
                <c:pt idx="22">
                  <c:v>3250</c:v>
                </c:pt>
                <c:pt idx="23">
                  <c:v>3500</c:v>
                </c:pt>
                <c:pt idx="24">
                  <c:v>3750</c:v>
                </c:pt>
                <c:pt idx="25">
                  <c:v>4000</c:v>
                </c:pt>
                <c:pt idx="26">
                  <c:v>4250</c:v>
                </c:pt>
                <c:pt idx="27">
                  <c:v>4500</c:v>
                </c:pt>
                <c:pt idx="28">
                  <c:v>4750</c:v>
                </c:pt>
                <c:pt idx="29">
                  <c:v>5000</c:v>
                </c:pt>
              </c:numCache>
            </c:numRef>
          </c:xVal>
          <c:yVal>
            <c:numRef>
              <c:f>'Chart Data'!$B$2:$B$31</c:f>
              <c:numCache>
                <c:formatCode>0.00</c:formatCode>
                <c:ptCount val="30"/>
                <c:pt idx="0">
                  <c:v>29.34043</c:v>
                </c:pt>
                <c:pt idx="1">
                  <c:v>29.339</c:v>
                </c:pt>
                <c:pt idx="2">
                  <c:v>29.33944</c:v>
                </c:pt>
                <c:pt idx="3">
                  <c:v>29.34632</c:v>
                </c:pt>
                <c:pt idx="4">
                  <c:v>29.3334</c:v>
                </c:pt>
                <c:pt idx="5">
                  <c:v>29.36886</c:v>
                </c:pt>
                <c:pt idx="6">
                  <c:v>29.3754</c:v>
                </c:pt>
                <c:pt idx="7">
                  <c:v>29.36451</c:v>
                </c:pt>
                <c:pt idx="8">
                  <c:v>29.38445</c:v>
                </c:pt>
                <c:pt idx="9">
                  <c:v>29.36841</c:v>
                </c:pt>
                <c:pt idx="10">
                  <c:v>29.37941</c:v>
                </c:pt>
                <c:pt idx="11">
                  <c:v>29.37734</c:v>
                </c:pt>
                <c:pt idx="12">
                  <c:v>29.37189</c:v>
                </c:pt>
                <c:pt idx="13">
                  <c:v>29.36871</c:v>
                </c:pt>
                <c:pt idx="14">
                  <c:v>29.39772</c:v>
                </c:pt>
                <c:pt idx="15">
                  <c:v>29.38803</c:v>
                </c:pt>
                <c:pt idx="16">
                  <c:v>29.39896</c:v>
                </c:pt>
                <c:pt idx="17">
                  <c:v>29.40047</c:v>
                </c:pt>
                <c:pt idx="18">
                  <c:v>29.40967</c:v>
                </c:pt>
                <c:pt idx="19">
                  <c:v>29.42584</c:v>
                </c:pt>
                <c:pt idx="20">
                  <c:v>29.42691</c:v>
                </c:pt>
                <c:pt idx="21">
                  <c:v>29.40747</c:v>
                </c:pt>
                <c:pt idx="22">
                  <c:v>29.43052</c:v>
                </c:pt>
                <c:pt idx="23">
                  <c:v>29.43647</c:v>
                </c:pt>
                <c:pt idx="24">
                  <c:v>29.42315</c:v>
                </c:pt>
                <c:pt idx="25">
                  <c:v>29.42304</c:v>
                </c:pt>
                <c:pt idx="26">
                  <c:v>29.42081</c:v>
                </c:pt>
                <c:pt idx="27">
                  <c:v>29.43121</c:v>
                </c:pt>
                <c:pt idx="28">
                  <c:v>29.42978</c:v>
                </c:pt>
                <c:pt idx="29">
                  <c:v>29.41309</c:v>
                </c:pt>
              </c:numCache>
            </c:numRef>
          </c:yVal>
        </c:ser>
        <c:ser>
          <c:idx val="1"/>
          <c:order val="1"/>
          <c:tx>
            <c:v>Mixed</c:v>
          </c:tx>
          <c:spPr>
            <a:solidFill xmlns:a="http://schemas.openxmlformats.org/drawingml/2006/main">
              <a:srgbClr val="D78924"/>
            </a:solidFill>
            <a:ln xmlns:a="http://schemas.openxmlformats.org/drawingml/2006/main" w="28575">
              <a:solidFill>
                <a:srgbClr val="D78924"/>
              </a:solidFill>
            </a:ln>
          </c:spPr>
          <c:marker>
            <c:symbol val="circle"/>
            <c:size val="6"/>
            <c:spPr>
              <a:solidFill xmlns:a="http://schemas.openxmlformats.org/drawingml/2006/main">
                <a:srgbClr val="D78924"/>
              </a:solidFill>
            </c:spPr>
          </c:marker>
          <c:xVal>
            <c:numRef>
              <c:f>'Chart Data'!$C$2:$C$31</c:f>
              <c:numCache>
                <c:formatCode>General</c:formatCode>
                <c:ptCount val="30"/>
                <c:pt idx="0">
                  <c:v>0</c:v>
                </c:pt>
                <c:pt idx="1">
                  <c:v>3</c:v>
                </c:pt>
                <c:pt idx="2">
                  <c:v>4</c:v>
                </c:pt>
                <c:pt idx="3">
                  <c:v>100</c:v>
                </c:pt>
                <c:pt idx="4">
                  <c:v>200</c:v>
                </c:pt>
                <c:pt idx="5">
                  <c:v>300</c:v>
                </c:pt>
                <c:pt idx="6">
                  <c:v>400</c:v>
                </c:pt>
                <c:pt idx="7">
                  <c:v>500</c:v>
                </c:pt>
                <c:pt idx="8">
                  <c:v>600</c:v>
                </c:pt>
                <c:pt idx="9">
                  <c:v>700</c:v>
                </c:pt>
                <c:pt idx="10">
                  <c:v>800</c:v>
                </c:pt>
                <c:pt idx="11">
                  <c:v>900</c:v>
                </c:pt>
                <c:pt idx="12">
                  <c:v>946</c:v>
                </c:pt>
                <c:pt idx="13">
                  <c:v>1000</c:v>
                </c:pt>
                <c:pt idx="14">
                  <c:v>1250</c:v>
                </c:pt>
                <c:pt idx="15">
                  <c:v>1500</c:v>
                </c:pt>
                <c:pt idx="16">
                  <c:v>1750</c:v>
                </c:pt>
                <c:pt idx="17">
                  <c:v>2000</c:v>
                </c:pt>
                <c:pt idx="18">
                  <c:v>2250</c:v>
                </c:pt>
                <c:pt idx="19">
                  <c:v>2500</c:v>
                </c:pt>
                <c:pt idx="20">
                  <c:v>2750</c:v>
                </c:pt>
                <c:pt idx="21">
                  <c:v>3000</c:v>
                </c:pt>
                <c:pt idx="22">
                  <c:v>3250</c:v>
                </c:pt>
                <c:pt idx="23">
                  <c:v>3500</c:v>
                </c:pt>
                <c:pt idx="24">
                  <c:v>3750</c:v>
                </c:pt>
                <c:pt idx="25">
                  <c:v>4000</c:v>
                </c:pt>
                <c:pt idx="26">
                  <c:v>4250</c:v>
                </c:pt>
                <c:pt idx="27">
                  <c:v>4500</c:v>
                </c:pt>
                <c:pt idx="28">
                  <c:v>4750</c:v>
                </c:pt>
                <c:pt idx="29">
                  <c:v>5000</c:v>
                </c:pt>
              </c:numCache>
            </c:numRef>
          </c:xVal>
          <c:yVal>
            <c:numRef>
              <c:f>'Chart Data'!$D$2:$D$31</c:f>
              <c:numCache>
                <c:formatCode>0.00</c:formatCode>
                <c:ptCount val="30"/>
                <c:pt idx="0">
                  <c:v>28.2664</c:v>
                </c:pt>
                <c:pt idx="1">
                  <c:v>28.26237</c:v>
                </c:pt>
                <c:pt idx="2">
                  <c:v>28.26528</c:v>
                </c:pt>
                <c:pt idx="3">
                  <c:v>28.35145</c:v>
                </c:pt>
                <c:pt idx="4">
                  <c:v>28.37442</c:v>
                </c:pt>
                <c:pt idx="5">
                  <c:v>28.45131</c:v>
                </c:pt>
                <c:pt idx="6">
                  <c:v>28.47225</c:v>
                </c:pt>
                <c:pt idx="7">
                  <c:v>28.47873</c:v>
                </c:pt>
                <c:pt idx="8">
                  <c:v>28.48952</c:v>
                </c:pt>
                <c:pt idx="9">
                  <c:v>28.48582</c:v>
                </c:pt>
                <c:pt idx="10">
                  <c:v>28.5011</c:v>
                </c:pt>
                <c:pt idx="11">
                  <c:v>28.50404</c:v>
                </c:pt>
                <c:pt idx="12">
                  <c:v>28.49948</c:v>
                </c:pt>
                <c:pt idx="13">
                  <c:v>28.4864</c:v>
                </c:pt>
                <c:pt idx="14">
                  <c:v>28.51877</c:v>
                </c:pt>
                <c:pt idx="15">
                  <c:v>28.50846</c:v>
                </c:pt>
                <c:pt idx="16">
                  <c:v>28.52345</c:v>
                </c:pt>
                <c:pt idx="17">
                  <c:v>28.53456</c:v>
                </c:pt>
                <c:pt idx="18">
                  <c:v>28.54111</c:v>
                </c:pt>
                <c:pt idx="19">
                  <c:v>28.54483</c:v>
                </c:pt>
                <c:pt idx="20">
                  <c:v>28.55525</c:v>
                </c:pt>
                <c:pt idx="21">
                  <c:v>28.53229</c:v>
                </c:pt>
                <c:pt idx="22">
                  <c:v>28.55705</c:v>
                </c:pt>
                <c:pt idx="23">
                  <c:v>28.56105</c:v>
                </c:pt>
                <c:pt idx="24">
                  <c:v>28.55613</c:v>
                </c:pt>
                <c:pt idx="25">
                  <c:v>28.55816</c:v>
                </c:pt>
                <c:pt idx="26">
                  <c:v>28.55045</c:v>
                </c:pt>
                <c:pt idx="27">
                  <c:v>28.56119</c:v>
                </c:pt>
                <c:pt idx="28">
                  <c:v>28.5593</c:v>
                </c:pt>
                <c:pt idx="29">
                  <c:v>28.5528</c:v>
                </c:pt>
              </c:numCache>
            </c:numRef>
          </c:yVal>
        </c:ser>
        <c:ser>
          <c:idx val="2"/>
          <c:order val="2"/>
          <c:tx>
            <c:v>Strong noise</c:v>
          </c:tx>
          <c:spPr>
            <a:solidFill xmlns:a="http://schemas.openxmlformats.org/drawingml/2006/main">
              <a:srgbClr val="B74760"/>
            </a:solidFill>
            <a:ln xmlns:a="http://schemas.openxmlformats.org/drawingml/2006/main" w="28575">
              <a:solidFill>
                <a:srgbClr val="B74760"/>
              </a:solidFill>
            </a:ln>
          </c:spPr>
          <c:marker>
            <c:symbol val="circle"/>
            <c:size val="6"/>
            <c:spPr>
              <a:solidFill xmlns:a="http://schemas.openxmlformats.org/drawingml/2006/main">
                <a:srgbClr val="B74760"/>
              </a:solidFill>
            </c:spPr>
          </c:marker>
          <c:xVal>
            <c:numRef>
              <c:f>'Chart Data'!$E$2:$E$31</c:f>
              <c:numCache>
                <c:formatCode>General</c:formatCode>
                <c:ptCount val="30"/>
                <c:pt idx="0">
                  <c:v>0</c:v>
                </c:pt>
                <c:pt idx="1">
                  <c:v>3</c:v>
                </c:pt>
                <c:pt idx="2">
                  <c:v>4</c:v>
                </c:pt>
                <c:pt idx="3">
                  <c:v>100</c:v>
                </c:pt>
                <c:pt idx="4">
                  <c:v>200</c:v>
                </c:pt>
                <c:pt idx="5">
                  <c:v>300</c:v>
                </c:pt>
                <c:pt idx="6">
                  <c:v>400</c:v>
                </c:pt>
                <c:pt idx="7">
                  <c:v>500</c:v>
                </c:pt>
                <c:pt idx="8">
                  <c:v>600</c:v>
                </c:pt>
                <c:pt idx="9">
                  <c:v>700</c:v>
                </c:pt>
                <c:pt idx="10">
                  <c:v>800</c:v>
                </c:pt>
                <c:pt idx="11">
                  <c:v>900</c:v>
                </c:pt>
                <c:pt idx="12">
                  <c:v>946</c:v>
                </c:pt>
                <c:pt idx="13">
                  <c:v>1000</c:v>
                </c:pt>
                <c:pt idx="14">
                  <c:v>1250</c:v>
                </c:pt>
                <c:pt idx="15">
                  <c:v>1500</c:v>
                </c:pt>
                <c:pt idx="16">
                  <c:v>1750</c:v>
                </c:pt>
                <c:pt idx="17">
                  <c:v>2000</c:v>
                </c:pt>
                <c:pt idx="18">
                  <c:v>2250</c:v>
                </c:pt>
                <c:pt idx="19">
                  <c:v>2500</c:v>
                </c:pt>
                <c:pt idx="20">
                  <c:v>2750</c:v>
                </c:pt>
                <c:pt idx="21">
                  <c:v>3000</c:v>
                </c:pt>
                <c:pt idx="22">
                  <c:v>3250</c:v>
                </c:pt>
                <c:pt idx="23">
                  <c:v>3500</c:v>
                </c:pt>
                <c:pt idx="24">
                  <c:v>3750</c:v>
                </c:pt>
                <c:pt idx="25">
                  <c:v>4000</c:v>
                </c:pt>
                <c:pt idx="26">
                  <c:v>4250</c:v>
                </c:pt>
                <c:pt idx="27">
                  <c:v>4500</c:v>
                </c:pt>
                <c:pt idx="28">
                  <c:v>4750</c:v>
                </c:pt>
                <c:pt idx="29">
                  <c:v>5000</c:v>
                </c:pt>
              </c:numCache>
            </c:numRef>
          </c:xVal>
          <c:yVal>
            <c:numRef>
              <c:f>'Chart Data'!$F$2:$F$31</c:f>
              <c:numCache>
                <c:formatCode>0.00</c:formatCode>
                <c:ptCount val="30"/>
                <c:pt idx="0">
                  <c:v>26.46019</c:v>
                </c:pt>
                <c:pt idx="1">
                  <c:v>26.45135</c:v>
                </c:pt>
                <c:pt idx="2">
                  <c:v>26.45732</c:v>
                </c:pt>
                <c:pt idx="3">
                  <c:v>26.67232</c:v>
                </c:pt>
                <c:pt idx="4">
                  <c:v>26.76623</c:v>
                </c:pt>
                <c:pt idx="5">
                  <c:v>26.93399</c:v>
                </c:pt>
                <c:pt idx="6">
                  <c:v>26.98562</c:v>
                </c:pt>
                <c:pt idx="7">
                  <c:v>27.02276</c:v>
                </c:pt>
                <c:pt idx="8">
                  <c:v>27.02462</c:v>
                </c:pt>
                <c:pt idx="9">
                  <c:v>27.04038</c:v>
                </c:pt>
                <c:pt idx="10">
                  <c:v>27.06391</c:v>
                </c:pt>
                <c:pt idx="11">
                  <c:v>27.07677</c:v>
                </c:pt>
                <c:pt idx="12">
                  <c:v>27.07486</c:v>
                </c:pt>
                <c:pt idx="13">
                  <c:v>27.04372</c:v>
                </c:pt>
                <c:pt idx="14">
                  <c:v>27.08997</c:v>
                </c:pt>
                <c:pt idx="15">
                  <c:v>27.07363</c:v>
                </c:pt>
                <c:pt idx="16">
                  <c:v>27.10096</c:v>
                </c:pt>
                <c:pt idx="17">
                  <c:v>27.12674</c:v>
                </c:pt>
                <c:pt idx="18">
                  <c:v>27.13348</c:v>
                </c:pt>
                <c:pt idx="19">
                  <c:v>27.11752</c:v>
                </c:pt>
                <c:pt idx="20">
                  <c:v>27.14184</c:v>
                </c:pt>
                <c:pt idx="21">
                  <c:v>27.1112</c:v>
                </c:pt>
                <c:pt idx="22">
                  <c:v>27.14492</c:v>
                </c:pt>
                <c:pt idx="23">
                  <c:v>27.14644</c:v>
                </c:pt>
                <c:pt idx="24">
                  <c:v>27.14835</c:v>
                </c:pt>
                <c:pt idx="25">
                  <c:v>27.1577</c:v>
                </c:pt>
                <c:pt idx="26">
                  <c:v>27.14076</c:v>
                </c:pt>
                <c:pt idx="27">
                  <c:v>27.1562</c:v>
                </c:pt>
                <c:pt idx="28">
                  <c:v>27.15398</c:v>
                </c:pt>
                <c:pt idx="29">
                  <c:v>27.15805</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26"/>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Selection PSNR (dB)</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valAx>
      <c:valAx>
        <c:axId val="48650112"/>
        <c:scaling>
          <c:orientation val="minMax"/>
          <c:max val="5000"/>
          <c:min val="0"/>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Round-2 optimization step</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majorUnit val="10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vs round 1</c:v>
          </c:tx>
          <c:spPr>
            <a:solidFill xmlns:a="http://schemas.openxmlformats.org/drawingml/2006/main">
              <a:srgbClr val="147D78"/>
            </a:solidFill>
          </c:spPr>
          <c:cat>
            <c:strRef>
              <c:f>'Chart Data'!$A$2:$A$5</c:f>
              <c:strCache>
                <c:ptCount val="4"/>
                <c:pt idx="0">
                  <c:v>Kodak24</c:v>
                </c:pt>
                <c:pt idx="1">
                  <c:v>HEVC B</c:v>
                </c:pt>
                <c:pt idx="2">
                  <c:v>HEVC E</c:v>
                </c:pt>
                <c:pt idx="3">
                  <c:v>Fresh DIV2K</c:v>
                </c:pt>
              </c:strCache>
            </c:strRef>
          </c:cat>
          <c:val>
            <c:numRef>
              <c:f>'Chart Data'!$B$2:$B$5</c:f>
              <c:numCache>
                <c:formatCode>0.0%</c:formatCode>
                <c:ptCount val="4"/>
                <c:pt idx="0">
                  <c:v>0.01716</c:v>
                </c:pt>
                <c:pt idx="1">
                  <c:v>0.00937</c:v>
                </c:pt>
                <c:pt idx="2">
                  <c:v>0.04865</c:v>
                </c:pt>
                <c:pt idx="3">
                  <c:v>0.01838</c:v>
                </c:pt>
              </c:numCache>
            </c:numRef>
          </c:val>
        </c:ser>
        <c:ser>
          <c:idx val="1"/>
          <c:order val="1"/>
          <c:tx>
            <c:v>vs official</c:v>
          </c:tx>
          <c:spPr>
            <a:solidFill xmlns:a="http://schemas.openxmlformats.org/drawingml/2006/main">
              <a:srgbClr val="D78924"/>
            </a:solidFill>
          </c:spPr>
          <c:cat>
            <c:strRef>
              <c:f>'Chart Data'!$C$2:$C$5</c:f>
              <c:strCache>
                <c:ptCount val="4"/>
                <c:pt idx="0">
                  <c:v>Kodak24</c:v>
                </c:pt>
                <c:pt idx="1">
                  <c:v>HEVC B</c:v>
                </c:pt>
                <c:pt idx="2">
                  <c:v>HEVC E</c:v>
                </c:pt>
                <c:pt idx="3">
                  <c:v>Fresh DIV2K</c:v>
                </c:pt>
              </c:strCache>
            </c:strRef>
          </c:cat>
          <c:val>
            <c:numRef>
              <c:f>'Chart Data'!$D$2:$D$5</c:f>
              <c:numCache>
                <c:formatCode>0.0%</c:formatCode>
                <c:ptCount val="4"/>
                <c:pt idx="0">
                  <c:v>0.04752</c:v>
                </c:pt>
                <c:pt idx="1">
                  <c:v>0.04067</c:v>
                </c:pt>
                <c:pt idx="2">
                  <c:v>0.13583</c:v>
                </c:pt>
                <c:pt idx="3">
                  <c:v>0.04284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MSE reduction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noise 0</c:v>
          </c:tx>
          <c:spPr>
            <a:solidFill xmlns:a="http://schemas.openxmlformats.org/drawingml/2006/main">
              <a:srgbClr val="147D78"/>
            </a:solidFill>
          </c:spPr>
          <c:cat>
            <c:strRef>
              <c:f>'Chart Data'!$A$2:$A$5</c:f>
              <c:strCache>
                <c:ptCount val="4"/>
                <c:pt idx="0">
                  <c:v>Kodak24</c:v>
                </c:pt>
                <c:pt idx="1">
                  <c:v>HEVC B</c:v>
                </c:pt>
                <c:pt idx="2">
                  <c:v>HEVC E</c:v>
                </c:pt>
                <c:pt idx="3">
                  <c:v>Fresh DIV2K</c:v>
                </c:pt>
              </c:strCache>
            </c:strRef>
          </c:cat>
          <c:val>
            <c:numRef>
              <c:f>'Chart Data'!$B$2:$B$5</c:f>
              <c:numCache>
                <c:formatCode>0.0%</c:formatCode>
                <c:ptCount val="4"/>
                <c:pt idx="0">
                  <c:v>0.01716</c:v>
                </c:pt>
                <c:pt idx="1">
                  <c:v>0.00937</c:v>
                </c:pt>
                <c:pt idx="2">
                  <c:v>0.04865</c:v>
                </c:pt>
                <c:pt idx="3">
                  <c:v>0.01838</c:v>
                </c:pt>
              </c:numCache>
            </c:numRef>
          </c:val>
        </c:ser>
        <c:ser>
          <c:idx val="1"/>
          <c:order val="1"/>
          <c:tx>
            <c:v>noise 0.01</c:v>
          </c:tx>
          <c:spPr>
            <a:solidFill xmlns:a="http://schemas.openxmlformats.org/drawingml/2006/main">
              <a:srgbClr val="D78924"/>
            </a:solidFill>
          </c:spPr>
          <c:cat>
            <c:strRef>
              <c:f>'Chart Data'!$C$2:$C$5</c:f>
              <c:strCache>
                <c:ptCount val="4"/>
                <c:pt idx="0">
                  <c:v>Kodak24</c:v>
                </c:pt>
                <c:pt idx="1">
                  <c:v>HEVC B</c:v>
                </c:pt>
                <c:pt idx="2">
                  <c:v>HEVC E</c:v>
                </c:pt>
                <c:pt idx="3">
                  <c:v>Fresh DIV2K</c:v>
                </c:pt>
              </c:strCache>
            </c:strRef>
          </c:cat>
          <c:val>
            <c:numRef>
              <c:f>'Chart Data'!$D$2:$D$5</c:f>
              <c:numCache>
                <c:formatCode>0.0%</c:formatCode>
                <c:ptCount val="4"/>
                <c:pt idx="0">
                  <c:v>0.01919</c:v>
                </c:pt>
                <c:pt idx="1">
                  <c:v>0.0116</c:v>
                </c:pt>
                <c:pt idx="2">
                  <c:v>0.04883</c:v>
                </c:pt>
                <c:pt idx="3">
                  <c:v>0.0192</c:v>
                </c:pt>
              </c:numCache>
            </c:numRef>
          </c:val>
        </c:ser>
        <c:ser>
          <c:idx val="2"/>
          <c:order val="2"/>
          <c:tx>
            <c:v>noise 0.05</c:v>
          </c:tx>
          <c:spPr>
            <a:solidFill xmlns:a="http://schemas.openxmlformats.org/drawingml/2006/main">
              <a:srgbClr val="B74760"/>
            </a:solidFill>
          </c:spPr>
          <c:cat>
            <c:strRef>
              <c:f>'Chart Data'!$E$2:$E$5</c:f>
              <c:strCache>
                <c:ptCount val="4"/>
                <c:pt idx="0">
                  <c:v>Kodak24</c:v>
                </c:pt>
                <c:pt idx="1">
                  <c:v>HEVC B</c:v>
                </c:pt>
                <c:pt idx="2">
                  <c:v>HEVC E</c:v>
                </c:pt>
                <c:pt idx="3">
                  <c:v>Fresh DIV2K</c:v>
                </c:pt>
              </c:strCache>
            </c:strRef>
          </c:cat>
          <c:val>
            <c:numRef>
              <c:f>'Chart Data'!$F$2:$F$5</c:f>
              <c:numCache>
                <c:formatCode>0.0%</c:formatCode>
                <c:ptCount val="4"/>
                <c:pt idx="0">
                  <c:v>0.16749</c:v>
                </c:pt>
                <c:pt idx="1">
                  <c:v>0.16987</c:v>
                </c:pt>
                <c:pt idx="2">
                  <c:v>0.26377</c:v>
                </c:pt>
                <c:pt idx="3">
                  <c:v>0.11893</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MSE reduction vs round 1</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D829E2-A9E8-41BD-826F-C8D0C7450AE4}"/>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Single-Pixel Imaging</a:t>
            </a:r>
          </a:p>
        </p:txBody>
      </p:sp>
      <p:sp>
        <p:nvSpPr>
          <p:cNvPr id="2" name="">
            <a:extLst xmlns:a="http://schemas.openxmlformats.org/drawingml/2006/main">
              <a:ext uri="{FF2B5EF4-FFF2-40B4-BE49-F238E27FC236}">
                <a16:creationId xmlns:a16="http://schemas.microsoft.com/office/drawing/2014/main" id="{DFB44788-E3AF-4551-AD7D-5179A851E3D4}"/>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34EFDEEF-B780-4A2D-9E28-629D0BF76451}"/>
              </a:ext>
            </a:extLst>
          </p:cNvPr>
          <p:cNvSpPr>
            <a:spLocks xmlns:a="http://schemas.openxmlformats.org/drawingml/2006/main" noGrp="1"/>
          </p:cNvSpPr>
          <p:nvPr/>
        </p:nvSpPr>
        <p:spPr>
          <a:xfrm xmlns:a="http://schemas.openxmlformats.org/drawingml/2006/main">
            <a:off x="619125" y="14097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147D78"/>
                </a:solidFill>
                <a:latin typeface="Helvetica Neue"/>
                <a:ea typeface="Helvetica Neue"/>
                <a:cs typeface="Helvetica Neue"/>
              </a:defRPr>
            </a:pPr>
            <a:r>
              <a:rPr sz="2850" b="0">
                <a:solidFill>
                  <a:srgbClr val="147D78"/>
                </a:solidFill>
                <a:latin typeface="Helvetica Neue"/>
                <a:ea typeface="Helvetica Neue"/>
                <a:cs typeface="Helvetica Neue"/>
              </a:rPr>
              <a:t>Noisy measurements</a:t>
            </a:r>
          </a:p>
          <a:p xmlns:a="http://schemas.openxmlformats.org/drawingml/2006/main">
            <a:pPr>
              <a:buNone/>
              <a:defRPr sz="2850" b="0">
                <a:solidFill>
                  <a:srgbClr val="147D78"/>
                </a:solidFill>
                <a:latin typeface="Helvetica Neue"/>
                <a:ea typeface="Helvetica Neue"/>
                <a:cs typeface="Helvetica Neue"/>
              </a:defRPr>
            </a:pPr>
            <a:r>
              <a:rPr sz="2850" b="0">
                <a:solidFill>
                  <a:srgbClr val="147D78"/>
                </a:solidFill>
                <a:latin typeface="Helvetica Neue"/>
                <a:ea typeface="Helvetica Neue"/>
                <a:cs typeface="Helvetica Neue"/>
              </a:rPr>
              <a:t>and bounded HQS fine-tuning</a:t>
            </a:r>
          </a:p>
        </p:txBody>
      </p:sp>
      <p:sp>
        <p:nvSpPr>
          <p:cNvPr id="4" name="">
            <a:extLst xmlns:a="http://schemas.openxmlformats.org/drawingml/2006/main">
              <a:ext uri="{FF2B5EF4-FFF2-40B4-BE49-F238E27FC236}">
                <a16:creationId xmlns:a16="http://schemas.microsoft.com/office/drawing/2014/main" id="{E3F2D5D0-B91F-44D7-95CB-1EC3E3BDE8D0}"/>
              </a:ext>
            </a:extLst>
          </p:cNvPr>
          <p:cNvSpPr>
            <a:spLocks xmlns:a="http://schemas.openxmlformats.org/drawingml/2006/main" noGrp="1"/>
          </p:cNvSpPr>
          <p:nvPr/>
        </p:nvSpPr>
        <p:spPr>
          <a:xfrm xmlns:a="http://schemas.openxmlformats.org/drawingml/2006/main">
            <a:off x="619125" y="2914650"/>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Zicong Luo    522026230043</a:t>
            </a:r>
          </a:p>
          <a:p xmlns:a="http://schemas.openxmlformats.org/drawingml/2006/main">
            <a:pPr>
              <a:buNone/>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Shuhao Yang    502026230083</a:t>
            </a:r>
          </a:p>
          <a:p xmlns:a="http://schemas.openxmlformats.org/drawingml/2006/main">
            <a:pPr>
              <a:buNone/>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Yubowen Li    502026230092</a:t>
            </a:r>
          </a:p>
        </p:txBody>
      </p:sp>
      <p:sp>
        <p:nvSpPr>
          <p:cNvPr id="5" name="">
            <a:extLst xmlns:a="http://schemas.openxmlformats.org/drawingml/2006/main">
              <a:ext uri="{FF2B5EF4-FFF2-40B4-BE49-F238E27FC236}">
                <a16:creationId xmlns:a16="http://schemas.microsoft.com/office/drawing/2014/main" id="{4C70EA1E-02CA-4AA1-8E6B-D2BA82FDDC92}"/>
              </a:ext>
            </a:extLst>
          </p:cNvPr>
          <p:cNvSpPr>
            <a:spLocks xmlns:a="http://schemas.openxmlformats.org/drawingml/2006/main" noGrp="1"/>
          </p:cNvSpPr>
          <p:nvPr/>
        </p:nvSpPr>
        <p:spPr>
          <a:xfrm xmlns:a="http://schemas.openxmlformats.org/drawingml/2006/main">
            <a:off x="619125" y="554355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Topic 7  /  Computational Imaging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4dc2f7071814fc5"/>
          <a:stretch xmlns:a="http://schemas.openxmlformats.org/drawingml/2006/main"/>
        </p:blipFill>
        <p:spPr>
          <a:xfrm xmlns:a="http://schemas.openxmlformats.org/drawingml/2006/main">
            <a:off x="8382000" y="1828800"/>
            <a:ext cx="2857500" cy="2857500"/>
          </a:xfrm>
          <a:prstGeom xmlns:a="http://schemas.openxmlformats.org/drawingml/2006/main" prst="rect">
            <a:avLst/>
          </a:prstGeom>
        </p:spPr>
      </p:pic>
    </p:spTree>
    <p:extLst>
      <p:ext uri="{BB962C8B-B14F-4D97-AF65-F5344CB8AC3E}">
        <p14:creationId xmlns:p14="http://schemas.microsoft.com/office/powerpoint/2010/main" val="7176009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4552AD-C385-43E2-BACE-1FA7CAC8A0A0}"/>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The measurement model</a:t>
            </a:r>
          </a:p>
        </p:txBody>
      </p:sp>
      <p:sp>
        <p:nvSpPr>
          <p:cNvPr id="2" name="">
            <a:extLst xmlns:a="http://schemas.openxmlformats.org/drawingml/2006/main">
              <a:ext uri="{FF2B5EF4-FFF2-40B4-BE49-F238E27FC236}">
                <a16:creationId xmlns:a16="http://schemas.microsoft.com/office/drawing/2014/main" id="{D21F36D6-B69B-47FA-BBA3-81BEE98723F8}"/>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62CC025-ECAC-4294-8179-019C6B01A021}"/>
              </a:ext>
            </a:extLst>
          </p:cNvPr>
          <p:cNvSpPr>
            <a:spLocks xmlns:a="http://schemas.openxmlformats.org/drawingml/2006/main" noGrp="1"/>
          </p:cNvSpPr>
          <p:nvPr/>
        </p:nvSpPr>
        <p:spPr>
          <a:xfrm xmlns:a="http://schemas.openxmlformats.org/drawingml/2006/main">
            <a:off x="857250" y="1571625"/>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147D78"/>
                </a:solidFill>
                <a:latin typeface="Helvetica Neue"/>
                <a:ea typeface="Helvetica Neue"/>
                <a:cs typeface="Helvetica Neue"/>
              </a:defRPr>
            </a:pPr>
            <a:r>
              <a:rPr sz="4350" b="1">
                <a:solidFill>
                  <a:srgbClr val="147D78"/>
                </a:solidFill>
                <a:latin typeface="Helvetica Neue"/>
                <a:ea typeface="Helvetica Neue"/>
                <a:cs typeface="Helvetica Neue"/>
              </a:rPr>
              <a:t>Y = H X W^T + E</a:t>
            </a:r>
          </a:p>
        </p:txBody>
      </p:sp>
      <p:sp>
        <p:nvSpPr>
          <p:cNvPr id="4" name="">
            <a:extLst xmlns:a="http://schemas.openxmlformats.org/drawingml/2006/main">
              <a:ext uri="{FF2B5EF4-FFF2-40B4-BE49-F238E27FC236}">
                <a16:creationId xmlns:a16="http://schemas.microsoft.com/office/drawing/2014/main" id="{8A58F390-B401-4139-A951-38BF43346E18}"/>
              </a:ext>
            </a:extLst>
          </p:cNvPr>
          <p:cNvSpPr>
            <a:spLocks xmlns:a="http://schemas.openxmlformats.org/drawingml/2006/main" noGrp="1"/>
          </p:cNvSpPr>
          <p:nvPr/>
        </p:nvSpPr>
        <p:spPr>
          <a:xfrm xmlns:a="http://schemas.openxmlformats.org/drawingml/2006/main">
            <a:off x="857250" y="26860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X: image     H, W: known sensing factors     E: measurement noise</a:t>
            </a:r>
          </a:p>
        </p:txBody>
      </p:sp>
      <p:sp>
        <p:nvSpPr>
          <p:cNvPr id="5" name="">
            <a:extLst xmlns:a="http://schemas.openxmlformats.org/drawingml/2006/main">
              <a:ext uri="{FF2B5EF4-FFF2-40B4-BE49-F238E27FC236}">
                <a16:creationId xmlns:a16="http://schemas.microsoft.com/office/drawing/2014/main" id="{23F4D130-3F39-47A3-A8EA-123C5CA1322A}"/>
              </a:ext>
            </a:extLst>
          </p:cNvPr>
          <p:cNvSpPr>
            <a:spLocks xmlns:a="http://schemas.openxmlformats.org/drawingml/2006/main" noGrp="1"/>
          </p:cNvSpPr>
          <p:nvPr/>
        </p:nvSpPr>
        <p:spPr>
          <a:xfrm xmlns:a="http://schemas.openxmlformats.org/drawingml/2006/main">
            <a:off x="857250" y="392430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One integrated measurement per mask</a:t>
            </a:r>
          </a:p>
          <a:p xmlns:a="http://schemas.openxmlformats.org/drawingml/2006/main">
            <a:pPr>
              <a:buNone/>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A sequence of masks supplies spatial constraints</a:t>
            </a:r>
          </a:p>
          <a:p xmlns:a="http://schemas.openxmlformats.org/drawingml/2006/main">
            <a:pPr>
              <a:buNone/>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Fewer measurements leave more ambiguity</a:t>
            </a:r>
          </a:p>
        </p:txBody>
      </p:sp>
    </p:spTree>
    <p:extLst>
      <p:ext uri="{BB962C8B-B14F-4D97-AF65-F5344CB8AC3E}">
        <p14:creationId xmlns:p14="http://schemas.microsoft.com/office/powerpoint/2010/main" val="8015180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B91289-3F0A-4CC2-9697-E6A3EB54FBED}"/>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Explicit sparsity and a learned prior</a:t>
            </a:r>
          </a:p>
        </p:txBody>
      </p:sp>
      <p:sp>
        <p:nvSpPr>
          <p:cNvPr id="2" name="">
            <a:extLst xmlns:a="http://schemas.openxmlformats.org/drawingml/2006/main">
              <a:ext uri="{FF2B5EF4-FFF2-40B4-BE49-F238E27FC236}">
                <a16:creationId xmlns:a16="http://schemas.microsoft.com/office/drawing/2014/main" id="{4718C9C6-37C9-4960-81FE-9E9DCBEA92D4}"/>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690EE474-773F-4EE4-9C00-9986EE5BE23D}"/>
              </a:ext>
            </a:extLst>
          </p:cNvPr>
          <p:cNvSpPr>
            <a:spLocks xmlns:a="http://schemas.openxmlformats.org/drawingml/2006/main" noGrp="1"/>
          </p:cNvSpPr>
          <p:nvPr/>
        </p:nvSpPr>
        <p:spPr>
          <a:xfrm xmlns:a="http://schemas.openxmlformats.org/drawingml/2006/main">
            <a:off x="619125" y="15240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D78924"/>
                </a:solidFill>
                <a:latin typeface="Helvetica Neue"/>
                <a:ea typeface="Helvetica Neue"/>
                <a:cs typeface="Helvetica Neue"/>
              </a:defRPr>
            </a:pPr>
            <a:r>
              <a:rPr sz="2625" b="1">
                <a:solidFill>
                  <a:srgbClr val="D78924"/>
                </a:solidFill>
                <a:latin typeface="Helvetica Neue"/>
                <a:ea typeface="Helvetica Neue"/>
                <a:cs typeface="Helvetica Neue"/>
              </a:rPr>
              <a:t>DCT-FISTA</a:t>
            </a:r>
          </a:p>
        </p:txBody>
      </p:sp>
      <p:sp>
        <p:nvSpPr>
          <p:cNvPr id="4" name="">
            <a:extLst xmlns:a="http://schemas.openxmlformats.org/drawingml/2006/main">
              <a:ext uri="{FF2B5EF4-FFF2-40B4-BE49-F238E27FC236}">
                <a16:creationId xmlns:a16="http://schemas.microsoft.com/office/drawing/2014/main" id="{5DA73E26-A713-4F7A-A6C9-A7F1BC7AACBC}"/>
              </a:ext>
            </a:extLst>
          </p:cNvPr>
          <p:cNvSpPr>
            <a:spLocks xmlns:a="http://schemas.openxmlformats.org/drawingml/2006/main" noGrp="1"/>
          </p:cNvSpPr>
          <p:nvPr/>
        </p:nvSpPr>
        <p:spPr>
          <a:xfrm xmlns:a="http://schemas.openxmlformats.org/drawingml/2006/main">
            <a:off x="619125" y="2343150"/>
            <a:ext cx="50482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Explicit transform penalty</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200 optimization iterations</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Validation-selected regularization</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No network training</a:t>
            </a:r>
          </a:p>
        </p:txBody>
      </p:sp>
      <p:sp>
        <p:nvSpPr>
          <p:cNvPr id="5" name="">
            <a:extLst xmlns:a="http://schemas.openxmlformats.org/drawingml/2006/main">
              <a:ext uri="{FF2B5EF4-FFF2-40B4-BE49-F238E27FC236}">
                <a16:creationId xmlns:a16="http://schemas.microsoft.com/office/drawing/2014/main" id="{F261370E-9A23-4569-BBE9-12C7C297CCAF}"/>
              </a:ext>
            </a:extLst>
          </p:cNvPr>
          <p:cNvSpPr>
            <a:spLocks xmlns:a="http://schemas.openxmlformats.org/drawingml/2006/main" noGrp="1"/>
          </p:cNvSpPr>
          <p:nvPr/>
        </p:nvSpPr>
        <p:spPr>
          <a:xfrm xmlns:a="http://schemas.openxmlformats.org/drawingml/2006/main">
            <a:off x="6619875" y="1524000"/>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147D78"/>
                </a:solidFill>
                <a:latin typeface="Helvetica Neue"/>
                <a:ea typeface="Helvetica Neue"/>
                <a:cs typeface="Helvetica Neue"/>
              </a:defRPr>
            </a:pPr>
            <a:r>
              <a:rPr sz="2625" b="1">
                <a:solidFill>
                  <a:srgbClr val="147D78"/>
                </a:solidFill>
                <a:latin typeface="Helvetica Neue"/>
                <a:ea typeface="Helvetica Neue"/>
                <a:cs typeface="Helvetica Neue"/>
              </a:rPr>
              <a:t>ProxUnroll</a:t>
            </a:r>
          </a:p>
        </p:txBody>
      </p:sp>
      <p:sp>
        <p:nvSpPr>
          <p:cNvPr id="6" name="">
            <a:extLst xmlns:a="http://schemas.openxmlformats.org/drawingml/2006/main">
              <a:ext uri="{FF2B5EF4-FFF2-40B4-BE49-F238E27FC236}">
                <a16:creationId xmlns:a16="http://schemas.microsoft.com/office/drawing/2014/main" id="{5C7DD062-8CE5-4AD5-9DB9-B7F3DFDE91F4}"/>
              </a:ext>
            </a:extLst>
          </p:cNvPr>
          <p:cNvSpPr>
            <a:spLocks xmlns:a="http://schemas.openxmlformats.org/drawingml/2006/main" noGrp="1"/>
          </p:cNvSpPr>
          <p:nvPr/>
        </p:nvSpPr>
        <p:spPr>
          <a:xfrm xmlns:a="http://schemas.openxmlformats.org/drawingml/2006/main">
            <a:off x="6619875" y="2343150"/>
            <a:ext cx="490537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Official HQS and ADMM</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Six shared-weight stages</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Common sensing operator</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Noise-aware HQS fine-tuning</a:t>
            </a:r>
          </a:p>
        </p:txBody>
      </p:sp>
      <p:sp>
        <p:nvSpPr>
          <p:cNvPr id="7" name="">
            <a:extLst xmlns:a="http://schemas.openxmlformats.org/drawingml/2006/main">
              <a:ext uri="{FF2B5EF4-FFF2-40B4-BE49-F238E27FC236}">
                <a16:creationId xmlns:a16="http://schemas.microsoft.com/office/drawing/2014/main" id="{91C42CD8-6DEE-4230-B549-04E43A445751}"/>
              </a:ext>
            </a:extLst>
          </p:cNvPr>
          <p:cNvSpPr>
            <a:spLocks xmlns:a="http://schemas.openxmlformats.org/drawingml/2006/main" noGrp="1"/>
          </p:cNvSpPr>
          <p:nvPr/>
        </p:nvSpPr>
        <p:spPr>
          <a:xfrm xmlns:a="http://schemas.openxmlformats.org/drawingml/2006/main">
            <a:off x="619125" y="579120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Main comparison: identical images, sensing factors, measurements, and noise</a:t>
            </a:r>
          </a:p>
        </p:txBody>
      </p:sp>
    </p:spTree>
    <p:extLst>
      <p:ext uri="{BB962C8B-B14F-4D97-AF65-F5344CB8AC3E}">
        <p14:creationId xmlns:p14="http://schemas.microsoft.com/office/powerpoint/2010/main" val="2415943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38904A-09CB-4F27-80C5-103D7F5FB4FB}"/>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The shared image restorer</a:t>
            </a:r>
          </a:p>
        </p:txBody>
      </p:sp>
      <p:sp>
        <p:nvSpPr>
          <p:cNvPr id="2" name="">
            <a:extLst xmlns:a="http://schemas.openxmlformats.org/drawingml/2006/main">
              <a:ext uri="{FF2B5EF4-FFF2-40B4-BE49-F238E27FC236}">
                <a16:creationId xmlns:a16="http://schemas.microsoft.com/office/drawing/2014/main" id="{CCA9698D-F6A8-4AC1-9C50-2726E62CA49D}"/>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698baa0442c434b"/>
          <a:stretch xmlns:a="http://schemas.openxmlformats.org/drawingml/2006/main"/>
        </p:blipFill>
        <p:spPr>
          <a:xfrm xmlns:a="http://schemas.openxmlformats.org/drawingml/2006/main">
            <a:off x="619125" y="1675544"/>
            <a:ext cx="10906125" cy="279253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5C0B238-6886-444E-8FF2-4A448E7033AA}"/>
              </a:ext>
            </a:extLst>
          </p:cNvPr>
          <p:cNvSpPr>
            <a:spLocks xmlns:a="http://schemas.openxmlformats.org/drawingml/2006/main" noGrp="1"/>
          </p:cNvSpPr>
          <p:nvPr/>
        </p:nvSpPr>
        <p:spPr>
          <a:xfrm xmlns:a="http://schemas.openxmlformats.org/drawingml/2006/main">
            <a:off x="619125" y="5048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Convolution and attention restore the image at multiple scales</a:t>
            </a:r>
          </a:p>
          <a:p xmlns:a="http://schemas.openxmlformats.org/drawingml/2006/main">
            <a:pPr>
              <a:buNone/>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Shared weights and feature memory link the six stages</a:t>
            </a:r>
          </a:p>
        </p:txBody>
      </p:sp>
    </p:spTree>
    <p:extLst>
      <p:ext uri="{BB962C8B-B14F-4D97-AF65-F5344CB8AC3E}">
        <p14:creationId xmlns:p14="http://schemas.microsoft.com/office/powerpoint/2010/main" val="13086059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3AA500-884F-4F74-9F21-AFD5652E34C6}"/>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Training, selection and test groups</a:t>
            </a:r>
          </a:p>
        </p:txBody>
      </p:sp>
      <p:sp>
        <p:nvSpPr>
          <p:cNvPr id="2" name="">
            <a:extLst xmlns:a="http://schemas.openxmlformats.org/drawingml/2006/main">
              <a:ext uri="{FF2B5EF4-FFF2-40B4-BE49-F238E27FC236}">
                <a16:creationId xmlns:a16="http://schemas.microsoft.com/office/drawing/2014/main" id="{2D824877-ABD9-47D8-97F2-7D5717BD2310}"/>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AAB45DFE-B171-49DD-B075-B0986B1DA4CC}"/>
              </a:ext>
            </a:extLst>
          </p:cNvPr>
          <p:cNvSpPr>
            <a:spLocks xmlns:a="http://schemas.openxmlformats.org/drawingml/2006/main" noGrp="1"/>
          </p:cNvSpPr>
          <p:nvPr/>
        </p:nvSpPr>
        <p:spPr>
          <a:xfrm xmlns:a="http://schemas.openxmlformats.org/drawingml/2006/main">
            <a:off x="619125" y="1638300"/>
            <a:ext cx="1066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72B"/>
                </a:solidFill>
                <a:latin typeface="Helvetica Neue"/>
                <a:ea typeface="Helvetica Neue"/>
                <a:cs typeface="Helvetica Neue"/>
              </a:defRPr>
            </a:pPr>
            <a:r>
              <a:rPr sz="2400" b="0">
                <a:solidFill>
                  <a:srgbClr val="20272B"/>
                </a:solidFill>
                <a:latin typeface="Helvetica Neue"/>
                <a:ea typeface="Helvetica Neue"/>
                <a:cs typeface="Helvetica Neue"/>
              </a:rPr>
              <a:t>800 training originals</a:t>
            </a:r>
          </a:p>
          <a:p xmlns:a="http://schemas.openxmlformats.org/drawingml/2006/main">
            <a:pPr>
              <a:defRPr sz="2400" b="0">
                <a:solidFill>
                  <a:srgbClr val="20272B"/>
                </a:solidFill>
                <a:latin typeface="Helvetica Neue"/>
                <a:ea typeface="Helvetica Neue"/>
                <a:cs typeface="Helvetica Neue"/>
              </a:defRPr>
            </a:pPr>
            <a:r>
              <a:rPr sz="2400" b="0">
                <a:solidFill>
                  <a:srgbClr val="20272B"/>
                </a:solidFill>
                <a:latin typeface="Helvetica Neue"/>
                <a:ea typeface="Helvetica Neue"/>
                <a:cs typeface="Helvetica Neue"/>
              </a:rPr>
              <a:t>16 separate selection originals</a:t>
            </a:r>
          </a:p>
          <a:p xmlns:a="http://schemas.openxmlformats.org/drawingml/2006/main">
            <a:pPr>
              <a:defRPr sz="2400" b="0">
                <a:solidFill>
                  <a:srgbClr val="20272B"/>
                </a:solidFill>
                <a:latin typeface="Helvetica Neue"/>
                <a:ea typeface="Helvetica Neue"/>
                <a:cs typeface="Helvetica Neue"/>
              </a:defRPr>
            </a:pPr>
            <a:r>
              <a:rPr sz="2400" b="0">
                <a:solidFill>
                  <a:srgbClr val="20272B"/>
                </a:solidFill>
                <a:latin typeface="Helvetica Neue"/>
                <a:ea typeface="Helvetica Neue"/>
                <a:cs typeface="Helvetica Neue"/>
              </a:rPr>
              <a:t>32 previously unevaluated DIV2K test originals</a:t>
            </a:r>
          </a:p>
        </p:txBody>
      </p:sp>
      <p:sp>
        <p:nvSpPr>
          <p:cNvPr id="4" name="">
            <a:extLst xmlns:a="http://schemas.openxmlformats.org/drawingml/2006/main">
              <a:ext uri="{FF2B5EF4-FFF2-40B4-BE49-F238E27FC236}">
                <a16:creationId xmlns:a16="http://schemas.microsoft.com/office/drawing/2014/main" id="{9DA6F3B5-B16D-40B2-947B-46C64441BAE2}"/>
              </a:ext>
            </a:extLst>
          </p:cNvPr>
          <p:cNvSpPr>
            <a:spLocks xmlns:a="http://schemas.openxmlformats.org/drawingml/2006/main" noGrp="1"/>
          </p:cNvSpPr>
          <p:nvPr/>
        </p:nvSpPr>
        <p:spPr>
          <a:xfrm xmlns:a="http://schemas.openxmlformats.org/drawingml/2006/main">
            <a:off x="619125" y="3733800"/>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272B"/>
                </a:solidFill>
                <a:latin typeface="Helvetica Neue"/>
                <a:ea typeface="Helvetica Neue"/>
                <a:cs typeface="Helvetica Neue"/>
              </a:defRPr>
            </a:pPr>
            <a:r>
              <a:rPr sz="2250" b="0">
                <a:solidFill>
                  <a:srgbClr val="20272B"/>
                </a:solidFill>
                <a:latin typeface="Helvetica Neue"/>
                <a:ea typeface="Helvetica Neue"/>
                <a:cs typeface="Helvetica Neue"/>
              </a:rPr>
              <a:t>Kodak24 + 24 spaced HEVC frames: regression tests</a:t>
            </a:r>
          </a:p>
          <a:p xmlns:a="http://schemas.openxmlformats.org/drawingml/2006/main">
            <a:pPr>
              <a:defRPr sz="2250" b="0">
                <a:solidFill>
                  <a:srgbClr val="20272B"/>
                </a:solidFill>
                <a:latin typeface="Helvetica Neue"/>
                <a:ea typeface="Helvetica Neue"/>
                <a:cs typeface="Helvetica Neue"/>
              </a:defRPr>
            </a:pPr>
            <a:r>
              <a:rPr sz="2250" b="0">
                <a:solidFill>
                  <a:srgbClr val="20272B"/>
                </a:solidFill>
                <a:latin typeface="Helvetica Neue"/>
                <a:ea typeface="Helvetica Neue"/>
                <a:cs typeface="Helvetica Neue"/>
              </a:rPr>
              <a:t>Center-square crop, then 256 × 256 grayscale</a:t>
            </a:r>
          </a:p>
        </p:txBody>
      </p:sp>
      <p:sp>
        <p:nvSpPr>
          <p:cNvPr id="5" name="">
            <a:extLst xmlns:a="http://schemas.openxmlformats.org/drawingml/2006/main">
              <a:ext uri="{FF2B5EF4-FFF2-40B4-BE49-F238E27FC236}">
                <a16:creationId xmlns:a16="http://schemas.microsoft.com/office/drawing/2014/main" id="{12857712-52AE-4728-961A-3E53C8D9A0CF}"/>
              </a:ext>
            </a:extLst>
          </p:cNvPr>
          <p:cNvSpPr>
            <a:spLocks xmlns:a="http://schemas.openxmlformats.org/drawingml/2006/main" noGrp="1"/>
          </p:cNvSpPr>
          <p:nvPr/>
        </p:nvSpPr>
        <p:spPr>
          <a:xfrm xmlns:a="http://schemas.openxmlformats.org/drawingml/2006/main">
            <a:off x="619125" y="5334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D78"/>
                </a:solidFill>
                <a:latin typeface="Helvetica Neue"/>
                <a:ea typeface="Helvetica Neue"/>
                <a:cs typeface="Helvetica Neue"/>
              </a:defRPr>
            </a:pPr>
            <a:r>
              <a:rPr sz="2175" b="1">
                <a:solidFill>
                  <a:srgbClr val="147D78"/>
                </a:solidFill>
                <a:latin typeface="Helvetica Neue"/>
                <a:ea typeface="Helvetica Neue"/>
                <a:cs typeface="Helvetica Neue"/>
              </a:rPr>
              <a:t>Source-image hashes are disjoint across groups</a:t>
            </a:r>
          </a:p>
        </p:txBody>
      </p:sp>
    </p:spTree>
    <p:extLst>
      <p:ext uri="{BB962C8B-B14F-4D97-AF65-F5344CB8AC3E}">
        <p14:creationId xmlns:p14="http://schemas.microsoft.com/office/powerpoint/2010/main" val="6612522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EC0463F-5959-4EC4-A213-DA266E95E5D6}"/>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Initial four-method Kodak evaluation</a:t>
            </a:r>
          </a:p>
        </p:txBody>
      </p:sp>
      <p:sp>
        <p:nvSpPr>
          <p:cNvPr id="2" name="">
            <a:extLst xmlns:a="http://schemas.openxmlformats.org/drawingml/2006/main">
              <a:ext uri="{FF2B5EF4-FFF2-40B4-BE49-F238E27FC236}">
                <a16:creationId xmlns:a16="http://schemas.microsoft.com/office/drawing/2014/main" id="{D94FB571-6449-4CEB-82B2-E393B44A8FEE}"/>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06</a:t>
            </a:r>
          </a:p>
        </p:txBody>
      </p:sp>
      <p:graphicFrame>
        <p:nvGraphicFramePr>
          <p:cNvPr id="6"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391fe0fa3d17406e"/>
          </a:graphicData>
        </a:graphic>
      </p:graphicFrame>
    </p:spTree>
    <p:extLst>
      <p:ext uri="{BB962C8B-B14F-4D97-AF65-F5344CB8AC3E}">
        <p14:creationId xmlns:p14="http://schemas.microsoft.com/office/powerpoint/2010/main" val="5869735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8414E0-BA5C-48EB-99E2-177619493758}"/>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Noise-aware fixed-operator fine-tuning</a:t>
            </a:r>
          </a:p>
        </p:txBody>
      </p:sp>
      <p:sp>
        <p:nvSpPr>
          <p:cNvPr id="2" name="">
            <a:extLst xmlns:a="http://schemas.openxmlformats.org/drawingml/2006/main">
              <a:ext uri="{FF2B5EF4-FFF2-40B4-BE49-F238E27FC236}">
                <a16:creationId xmlns:a16="http://schemas.microsoft.com/office/drawing/2014/main" id="{22580D41-4DD0-4C2A-840B-20034B501C34}"/>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A8F6B949-D46B-4008-8572-10AD3551FF61}"/>
              </a:ext>
            </a:extLst>
          </p:cNvPr>
          <p:cNvSpPr>
            <a:spLocks xmlns:a="http://schemas.openxmlformats.org/drawingml/2006/main" noGrp="1"/>
          </p:cNvSpPr>
          <p:nvPr/>
        </p:nvSpPr>
        <p:spPr>
          <a:xfrm xmlns:a="http://schemas.openxmlformats.org/drawingml/2006/main">
            <a:off x="619125" y="1657350"/>
            <a:ext cx="1066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D78"/>
                </a:solidFill>
                <a:latin typeface="Helvetica Neue"/>
                <a:ea typeface="Helvetica Neue"/>
                <a:cs typeface="Helvetica Neue"/>
              </a:defRPr>
            </a:pPr>
            <a:r>
              <a:rPr sz="2400" b="1">
                <a:solidFill>
                  <a:srgbClr val="147D78"/>
                </a:solidFill>
                <a:latin typeface="Helvetica Neue"/>
                <a:ea typeface="Helvetica Neue"/>
                <a:cs typeface="Helvetica Neue"/>
              </a:rPr>
              <a:t>All sensing factors frozen</a:t>
            </a:r>
          </a:p>
          <a:p xmlns:a="http://schemas.openxmlformats.org/drawingml/2006/main">
            <a:pPr>
              <a:defRPr sz="2400" b="1">
                <a:solidFill>
                  <a:srgbClr val="147D78"/>
                </a:solidFill>
                <a:latin typeface="Helvetica Neue"/>
                <a:ea typeface="Helvetica Neue"/>
                <a:cs typeface="Helvetica Neue"/>
              </a:defRPr>
            </a:pPr>
            <a:r>
              <a:rPr sz="2400" b="1">
                <a:solidFill>
                  <a:srgbClr val="147D78"/>
                </a:solidFill>
                <a:latin typeface="Helvetica Neue"/>
                <a:ea typeface="Helvetica Neue"/>
                <a:cs typeface="Helvetica Neue"/>
              </a:rPr>
              <a:t>Reconstruction parameters trained with clean + noisy Y</a:t>
            </a:r>
          </a:p>
          <a:p xmlns:a="http://schemas.openxmlformats.org/drawingml/2006/main">
            <a:pPr>
              <a:defRPr sz="2400" b="1">
                <a:solidFill>
                  <a:srgbClr val="147D78"/>
                </a:solidFill>
                <a:latin typeface="Helvetica Neue"/>
                <a:ea typeface="Helvetica Neue"/>
                <a:cs typeface="Helvetica Neue"/>
              </a:defRPr>
            </a:pPr>
            <a:r>
              <a:rPr sz="2400" b="1">
                <a:solidFill>
                  <a:srgbClr val="147D78"/>
                </a:solidFill>
                <a:latin typeface="Helvetica Neue"/>
                <a:ea typeface="Helvetica Neue"/>
                <a:cs typeface="Helvetica Neue"/>
              </a:rPr>
              <a:t>New Adam from round-1 selected weights</a:t>
            </a:r>
          </a:p>
        </p:txBody>
      </p:sp>
      <p:sp>
        <p:nvSpPr>
          <p:cNvPr id="4" name="">
            <a:extLst xmlns:a="http://schemas.openxmlformats.org/drawingml/2006/main">
              <a:ext uri="{FF2B5EF4-FFF2-40B4-BE49-F238E27FC236}">
                <a16:creationId xmlns:a16="http://schemas.microsoft.com/office/drawing/2014/main" id="{929AAB4F-7C11-4D5F-887A-60F5DC58132B}"/>
              </a:ext>
            </a:extLst>
          </p:cNvPr>
          <p:cNvSpPr>
            <a:spLocks xmlns:a="http://schemas.openxmlformats.org/drawingml/2006/main" noGrp="1"/>
          </p:cNvSpPr>
          <p:nvPr/>
        </p:nvSpPr>
        <p:spPr>
          <a:xfrm xmlns:a="http://schemas.openxmlformats.org/drawingml/2006/main">
            <a:off x="619125" y="394335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5000 total round-2 steps    Selected: 4500</a:t>
            </a:r>
          </a:p>
          <a:p xmlns:a="http://schemas.openxmlformats.org/drawingml/2006/main">
            <a:pPr>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Both formal phases: 121.8 min</a:t>
            </a:r>
          </a:p>
          <a:p xmlns:a="http://schemas.openxmlformats.org/drawingml/2006/main">
            <a:pPr>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Peak allocated memory: 10.84 GiB</a:t>
            </a:r>
          </a:p>
        </p:txBody>
      </p:sp>
    </p:spTree>
    <p:extLst>
      <p:ext uri="{BB962C8B-B14F-4D97-AF65-F5344CB8AC3E}">
        <p14:creationId xmlns:p14="http://schemas.microsoft.com/office/powerpoint/2010/main" val="9959896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AB77FE-47E6-4E4A-805B-6DA3A3EB6B11}"/>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Validation-only checkpoint selection</a:t>
            </a:r>
          </a:p>
        </p:txBody>
      </p:sp>
      <p:sp>
        <p:nvSpPr>
          <p:cNvPr id="2" name="">
            <a:extLst xmlns:a="http://schemas.openxmlformats.org/drawingml/2006/main">
              <a:ext uri="{FF2B5EF4-FFF2-40B4-BE49-F238E27FC236}">
                <a16:creationId xmlns:a16="http://schemas.microsoft.com/office/drawing/2014/main" id="{504D65F8-1AC4-42BE-BDC7-3D67E1992C51}"/>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08</a:t>
            </a:r>
          </a:p>
        </p:txBody>
      </p:sp>
      <p:graphicFrame>
        <p:nvGraphicFramePr>
          <p:cNvPr id="7"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bcd5ae8f75b74a2b"/>
          </a:graphicData>
        </a:graphic>
      </p:graphicFrame>
      <p:sp>
        <p:nvSpPr>
          <p:cNvPr id="4" name="">
            <a:extLst xmlns:a="http://schemas.openxmlformats.org/drawingml/2006/main">
              <a:ext uri="{FF2B5EF4-FFF2-40B4-BE49-F238E27FC236}">
                <a16:creationId xmlns:a16="http://schemas.microsoft.com/office/drawing/2014/main" id="{A26BA0E4-5BAA-4F72-9193-DF861EC05201}"/>
              </a:ext>
            </a:extLst>
          </p:cNvPr>
          <p:cNvSpPr>
            <a:spLocks xmlns:a="http://schemas.openxmlformats.org/drawingml/2006/main" noGrp="1"/>
          </p:cNvSpPr>
          <p:nvPr/>
        </p:nvSpPr>
        <p:spPr>
          <a:xfrm xmlns:a="http://schemas.openxmlformats.org/drawingml/2006/main">
            <a:off x="619125" y="581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Clean validation guard: at most 0.03 dB below initialization</a:t>
            </a:r>
          </a:p>
        </p:txBody>
      </p:sp>
    </p:spTree>
    <p:extLst>
      <p:ext uri="{BB962C8B-B14F-4D97-AF65-F5344CB8AC3E}">
        <p14:creationId xmlns:p14="http://schemas.microsoft.com/office/powerpoint/2010/main" val="19823884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D94F3A-0BAF-49AB-B4C6-65CA30936226}"/>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Clean 10% reconstruction error changes</a:t>
            </a:r>
          </a:p>
        </p:txBody>
      </p:sp>
      <p:sp>
        <p:nvSpPr>
          <p:cNvPr id="2" name="">
            <a:extLst xmlns:a="http://schemas.openxmlformats.org/drawingml/2006/main">
              <a:ext uri="{FF2B5EF4-FFF2-40B4-BE49-F238E27FC236}">
                <a16:creationId xmlns:a16="http://schemas.microsoft.com/office/drawing/2014/main" id="{04DF0515-B90A-4811-9655-714CA64A82AB}"/>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09</a:t>
            </a:r>
          </a:p>
        </p:txBody>
      </p:sp>
      <p:graphicFrame>
        <p:nvGraphicFramePr>
          <p:cNvPr id="7"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c7ef80df67714b03"/>
          </a:graphicData>
        </a:graphic>
      </p:graphicFrame>
      <p:sp>
        <p:nvSpPr>
          <p:cNvPr id="4" name="">
            <a:extLst xmlns:a="http://schemas.openxmlformats.org/drawingml/2006/main">
              <a:ext uri="{FF2B5EF4-FFF2-40B4-BE49-F238E27FC236}">
                <a16:creationId xmlns:a16="http://schemas.microsoft.com/office/drawing/2014/main" id="{A0B7162D-8FD3-421B-A269-0BC157262AB1}"/>
              </a:ext>
            </a:extLst>
          </p:cNvPr>
          <p:cNvSpPr>
            <a:spLocks xmlns:a="http://schemas.openxmlformats.org/drawingml/2006/main" noGrp="1"/>
          </p:cNvSpPr>
          <p:nvPr/>
        </p:nvSpPr>
        <p:spPr>
          <a:xfrm xmlns:a="http://schemas.openxmlformats.org/drawingml/2006/main">
            <a:off x="619125" y="581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Requested target: 5–10% less MSE than round 1</a:t>
            </a:r>
          </a:p>
        </p:txBody>
      </p:sp>
    </p:spTree>
    <p:extLst>
      <p:ext uri="{BB962C8B-B14F-4D97-AF65-F5344CB8AC3E}">
        <p14:creationId xmlns:p14="http://schemas.microsoft.com/office/powerpoint/2010/main" val="18855123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5AE577-9D0D-49B5-8E29-050F41DE17FD}"/>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Measurement noise and error changes</a:t>
            </a:r>
          </a:p>
        </p:txBody>
      </p:sp>
      <p:sp>
        <p:nvSpPr>
          <p:cNvPr id="2" name="">
            <a:extLst xmlns:a="http://schemas.openxmlformats.org/drawingml/2006/main">
              <a:ext uri="{FF2B5EF4-FFF2-40B4-BE49-F238E27FC236}">
                <a16:creationId xmlns:a16="http://schemas.microsoft.com/office/drawing/2014/main" id="{22919D1F-FE10-4D7A-A57D-7212F6F0B538}"/>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10</a:t>
            </a:r>
          </a:p>
        </p:txBody>
      </p:sp>
      <p:graphicFrame>
        <p:nvGraphicFramePr>
          <p:cNvPr id="7"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364c3bdb05df49a0"/>
          </a:graphicData>
        </a:graphic>
      </p:graphicFrame>
      <p:sp>
        <p:nvSpPr>
          <p:cNvPr id="4" name="">
            <a:extLst xmlns:a="http://schemas.openxmlformats.org/drawingml/2006/main">
              <a:ext uri="{FF2B5EF4-FFF2-40B4-BE49-F238E27FC236}">
                <a16:creationId xmlns:a16="http://schemas.microsoft.com/office/drawing/2014/main" id="{3B8BE17B-A123-45CE-8E4F-F89B630A121F}"/>
              </a:ext>
            </a:extLst>
          </p:cNvPr>
          <p:cNvSpPr>
            <a:spLocks xmlns:a="http://schemas.openxmlformats.org/drawingml/2006/main" noGrp="1"/>
          </p:cNvSpPr>
          <p:nvPr/>
        </p:nvSpPr>
        <p:spPr>
          <a:xfrm xmlns:a="http://schemas.openxmlformats.org/drawingml/2006/main">
            <a:off x="619125" y="581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Positive: less error    Negative: more error</a:t>
            </a:r>
          </a:p>
        </p:txBody>
      </p:sp>
    </p:spTree>
    <p:extLst>
      <p:ext uri="{BB962C8B-B14F-4D97-AF65-F5344CB8AC3E}">
        <p14:creationId xmlns:p14="http://schemas.microsoft.com/office/powerpoint/2010/main" val="6231990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24CF29D-7BA4-432E-8587-24F79854D286}"/>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Case with the smallest MSE reduction</a:t>
            </a:r>
          </a:p>
        </p:txBody>
      </p:sp>
      <p:sp>
        <p:nvSpPr>
          <p:cNvPr id="2" name="">
            <a:extLst xmlns:a="http://schemas.openxmlformats.org/drawingml/2006/main">
              <a:ext uri="{FF2B5EF4-FFF2-40B4-BE49-F238E27FC236}">
                <a16:creationId xmlns:a16="http://schemas.microsoft.com/office/drawing/2014/main" id="{7A312494-D4FC-4D7B-AA8C-9F7C26A17A38}"/>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6CF9827C-A36D-4614-9D58-B988DC3B6F3D}"/>
              </a:ext>
            </a:extLst>
          </p:cNvPr>
          <p:cNvSpPr>
            <a:spLocks xmlns:a="http://schemas.openxmlformats.org/drawingml/2006/main" noGrp="1"/>
          </p:cNvSpPr>
          <p:nvPr/>
        </p:nvSpPr>
        <p:spPr>
          <a:xfrm xmlns:a="http://schemas.openxmlformats.org/drawingml/2006/main">
            <a:off x="619125" y="1552575"/>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272B"/>
                </a:solidFill>
                <a:latin typeface="Helvetica Neue"/>
                <a:ea typeface="Helvetica Neue"/>
                <a:cs typeface="Helvetica Neue"/>
              </a:defRPr>
            </a:pPr>
            <a:r>
              <a:rPr sz="2025" b="1">
                <a:solidFill>
                  <a:srgbClr val="20272B"/>
                </a:solidFill>
                <a:latin typeface="Helvetica Neue"/>
                <a:ea typeface="Helvetica Neue"/>
                <a:cs typeface="Helvetica Neue"/>
              </a:rPr>
              <a:t>Reference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0ed06a17ac74618"/>
          <a:stretch xmlns:a="http://schemas.openxmlformats.org/drawingml/2006/main"/>
        </p:blipFill>
        <p:spPr>
          <a:xfrm xmlns:a="http://schemas.openxmlformats.org/drawingml/2006/main">
            <a:off x="619125" y="2181225"/>
            <a:ext cx="3238500" cy="3238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96570DB-A2AC-4D54-8FF9-A38306090A14}"/>
              </a:ext>
            </a:extLst>
          </p:cNvPr>
          <p:cNvSpPr>
            <a:spLocks xmlns:a="http://schemas.openxmlformats.org/drawingml/2006/main" noGrp="1"/>
          </p:cNvSpPr>
          <p:nvPr/>
        </p:nvSpPr>
        <p:spPr>
          <a:xfrm xmlns:a="http://schemas.openxmlformats.org/drawingml/2006/main">
            <a:off x="4333875" y="1552575"/>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272B"/>
                </a:solidFill>
                <a:latin typeface="Helvetica Neue"/>
                <a:ea typeface="Helvetica Neue"/>
                <a:cs typeface="Helvetica Neue"/>
              </a:defRPr>
            </a:pPr>
            <a:r>
              <a:rPr sz="2025" b="1">
                <a:solidFill>
                  <a:srgbClr val="20272B"/>
                </a:solidFill>
                <a:latin typeface="Helvetica Neue"/>
                <a:ea typeface="Helvetica Neue"/>
                <a:cs typeface="Helvetica Neue"/>
              </a:rPr>
              <a:t>Round 1 HQS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d4dbc851aa54c44"/>
          <a:stretch xmlns:a="http://schemas.openxmlformats.org/drawingml/2006/main"/>
        </p:blipFill>
        <p:spPr>
          <a:xfrm xmlns:a="http://schemas.openxmlformats.org/drawingml/2006/main">
            <a:off x="4333875" y="2181225"/>
            <a:ext cx="3238500" cy="3238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A40D244-93B8-433B-A3E8-44D252B7648E}"/>
              </a:ext>
            </a:extLst>
          </p:cNvPr>
          <p:cNvSpPr>
            <a:spLocks xmlns:a="http://schemas.openxmlformats.org/drawingml/2006/main" noGrp="1"/>
          </p:cNvSpPr>
          <p:nvPr/>
        </p:nvSpPr>
        <p:spPr>
          <a:xfrm xmlns:a="http://schemas.openxmlformats.org/drawingml/2006/main">
            <a:off x="8048625" y="1552575"/>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272B"/>
                </a:solidFill>
                <a:latin typeface="Helvetica Neue"/>
                <a:ea typeface="Helvetica Neue"/>
                <a:cs typeface="Helvetica Neue"/>
              </a:defRPr>
            </a:pPr>
            <a:r>
              <a:rPr sz="2025" b="1">
                <a:solidFill>
                  <a:srgbClr val="20272B"/>
                </a:solidFill>
                <a:latin typeface="Helvetica Neue"/>
                <a:ea typeface="Helvetica Neue"/>
                <a:cs typeface="Helvetica Neue"/>
              </a:rPr>
              <a:t>Round 2 HQS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5337f60a7644893"/>
          <a:stretch xmlns:a="http://schemas.openxmlformats.org/drawingml/2006/main"/>
        </p:blipFill>
        <p:spPr>
          <a:xfrm xmlns:a="http://schemas.openxmlformats.org/drawingml/2006/main">
            <a:off x="8048625" y="2181225"/>
            <a:ext cx="3238500" cy="3238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79F49AE-7FA7-42CF-A85A-B1E4AB1AB238}"/>
              </a:ext>
            </a:extLst>
          </p:cNvPr>
          <p:cNvSpPr>
            <a:spLocks xmlns:a="http://schemas.openxmlformats.org/drawingml/2006/main" noGrp="1"/>
          </p:cNvSpPr>
          <p:nvPr/>
        </p:nvSpPr>
        <p:spPr>
          <a:xfrm xmlns:a="http://schemas.openxmlformats.org/drawingml/2006/main">
            <a:off x="619125" y="564832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66C"/>
                </a:solidFill>
                <a:latin typeface="Helvetica Neue"/>
                <a:ea typeface="Helvetica Neue"/>
                <a:cs typeface="Helvetica Neue"/>
              </a:defRPr>
            </a:pPr>
            <a:r>
              <a:rPr sz="1800" b="0">
                <a:solidFill>
                  <a:srgbClr val="59666C"/>
                </a:solidFill>
                <a:latin typeface="Helvetica Neue"/>
                <a:ea typeface="Helvetica Neue"/>
                <a:cs typeface="Helvetica Neue"/>
              </a:rPr>
              <a:t>hevc_BasketballDrive_f0167    50% sampling    Noise 0</a:t>
            </a:r>
          </a:p>
          <a:p xmlns:a="http://schemas.openxmlformats.org/drawingml/2006/main">
            <a:pPr>
              <a:defRPr sz="1800" b="0">
                <a:solidFill>
                  <a:srgbClr val="59666C"/>
                </a:solidFill>
                <a:latin typeface="Helvetica Neue"/>
                <a:ea typeface="Helvetica Neue"/>
                <a:cs typeface="Helvetica Neue"/>
              </a:defRPr>
            </a:pPr>
            <a:r>
              <a:rPr sz="1800" b="0">
                <a:solidFill>
                  <a:srgbClr val="59666C"/>
                </a:solidFill>
                <a:latin typeface="Helvetica Neue"/>
                <a:ea typeface="Helvetica Neue"/>
                <a:cs typeface="Helvetica Neue"/>
              </a:rPr>
              <a:t>MSE reduction vs round 1: -10.78%</a:t>
            </a:r>
          </a:p>
        </p:txBody>
      </p:sp>
    </p:spTree>
    <p:extLst>
      <p:ext uri="{BB962C8B-B14F-4D97-AF65-F5344CB8AC3E}">
        <p14:creationId xmlns:p14="http://schemas.microsoft.com/office/powerpoint/2010/main" val="8557180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757E45-B9BD-486D-B20D-830DF31FDED7}"/>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Results and remaining limits</a:t>
            </a:r>
          </a:p>
        </p:txBody>
      </p:sp>
      <p:sp>
        <p:nvSpPr>
          <p:cNvPr id="2" name="">
            <a:extLst xmlns:a="http://schemas.openxmlformats.org/drawingml/2006/main">
              <a:ext uri="{FF2B5EF4-FFF2-40B4-BE49-F238E27FC236}">
                <a16:creationId xmlns:a16="http://schemas.microsoft.com/office/drawing/2014/main" id="{ABE0BEFF-06F1-41A1-BD71-0BA464D32ED9}"/>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D9F10137-10CE-4A7C-880E-A5F85E2B675E}"/>
              </a:ext>
            </a:extLst>
          </p:cNvPr>
          <p:cNvSpPr>
            <a:spLocks xmlns:a="http://schemas.openxmlformats.org/drawingml/2006/main" noGrp="1"/>
          </p:cNvSpPr>
          <p:nvPr/>
        </p:nvSpPr>
        <p:spPr>
          <a:xfrm xmlns:a="http://schemas.openxmlformats.org/drawingml/2006/main">
            <a:off x="619125" y="171450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D78"/>
                </a:solidFill>
                <a:latin typeface="Helvetica Neue"/>
                <a:ea typeface="Helvetica Neue"/>
                <a:cs typeface="Helvetica Neue"/>
              </a:defRPr>
            </a:pPr>
            <a:r>
              <a:rPr sz="2325" b="1">
                <a:solidFill>
                  <a:srgbClr val="147D78"/>
                </a:solidFill>
                <a:latin typeface="Helvetica Neue"/>
                <a:ea typeface="Helvetica Neue"/>
                <a:cs typeface="Helvetica Neue"/>
              </a:rPr>
              <a:t>Fresh DIV2K clean 10% MSE reduction: 1.84%</a:t>
            </a:r>
          </a:p>
          <a:p xmlns:a="http://schemas.openxmlformats.org/drawingml/2006/main">
            <a:pPr>
              <a:defRPr sz="2325" b="1">
                <a:solidFill>
                  <a:srgbClr val="147D78"/>
                </a:solidFill>
                <a:latin typeface="Helvetica Neue"/>
                <a:ea typeface="Helvetica Neue"/>
                <a:cs typeface="Helvetica Neue"/>
              </a:defRPr>
            </a:pPr>
            <a:r>
              <a:rPr sz="2325" b="1">
                <a:solidFill>
                  <a:srgbClr val="147D78"/>
                </a:solidFill>
                <a:latin typeface="Helvetica Neue"/>
                <a:ea typeface="Helvetica Neue"/>
                <a:cs typeface="Helvetica Neue"/>
              </a:rPr>
              <a:t>Requested minimum 5% (point estimate): not met</a:t>
            </a:r>
          </a:p>
        </p:txBody>
      </p:sp>
      <p:sp>
        <p:nvSpPr>
          <p:cNvPr id="4" name="">
            <a:extLst xmlns:a="http://schemas.openxmlformats.org/drawingml/2006/main">
              <a:ext uri="{FF2B5EF4-FFF2-40B4-BE49-F238E27FC236}">
                <a16:creationId xmlns:a16="http://schemas.microsoft.com/office/drawing/2014/main" id="{E82C594E-9905-4F8B-A4CB-5464818B89F9}"/>
              </a:ext>
            </a:extLst>
          </p:cNvPr>
          <p:cNvSpPr>
            <a:spLocks xmlns:a="http://schemas.openxmlformats.org/drawingml/2006/main" noGrp="1"/>
          </p:cNvSpPr>
          <p:nvPr/>
        </p:nvSpPr>
        <p:spPr>
          <a:xfrm xmlns:a="http://schemas.openxmlformats.org/drawingml/2006/main">
            <a:off x="619125" y="375285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One training seed; report every dataset and noise level</a:t>
            </a:r>
          </a:p>
          <a:p xmlns:a="http://schemas.openxmlformats.org/drawingml/2006/main">
            <a:pPr>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Center cropping defines the grayscale task</a:t>
            </a:r>
          </a:p>
          <a:p xmlns:a="http://schemas.openxmlformats.org/drawingml/2006/main">
            <a:pPr>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HEVC frames use single-image reconstruction</a:t>
            </a:r>
          </a:p>
        </p:txBody>
      </p:sp>
      <p:sp>
        <p:nvSpPr>
          <p:cNvPr id="5" name="">
            <a:extLst xmlns:a="http://schemas.openxmlformats.org/drawingml/2006/main">
              <a:ext uri="{FF2B5EF4-FFF2-40B4-BE49-F238E27FC236}">
                <a16:creationId xmlns:a16="http://schemas.microsoft.com/office/drawing/2014/main" id="{1C9F94DB-80A7-4660-A762-86AD8A98A5EA}"/>
              </a:ext>
            </a:extLst>
          </p:cNvPr>
          <p:cNvSpPr>
            <a:spLocks xmlns:a="http://schemas.openxmlformats.org/drawingml/2006/main" noGrp="1"/>
          </p:cNvSpPr>
          <p:nvPr/>
        </p:nvSpPr>
        <p:spPr>
          <a:xfrm xmlns:a="http://schemas.openxmlformats.org/drawingml/2006/main">
            <a:off x="619125" y="57721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66C"/>
                </a:solidFill>
                <a:latin typeface="Helvetica Neue"/>
                <a:ea typeface="Helvetica Neue"/>
                <a:cs typeface="Helvetica Neue"/>
              </a:defRPr>
            </a:pPr>
            <a:r>
              <a:rPr sz="1425" b="0">
                <a:solidFill>
                  <a:srgbClr val="59666C"/>
                </a:solidFill>
                <a:latin typeface="Helvetica Neue"/>
                <a:ea typeface="Helvetica Neue"/>
                <a:cs typeface="Helvetica Neue"/>
              </a:rPr>
              <a:t>AI disclosure: Codex assisted with code, experiments, analysis and writing</a:t>
            </a:r>
          </a:p>
          <a:p xmlns:a="http://schemas.openxmlformats.org/drawingml/2006/main">
            <a:pPr>
              <a:defRPr sz="1425" b="0">
                <a:solidFill>
                  <a:srgbClr val="59666C"/>
                </a:solidFill>
                <a:latin typeface="Helvetica Neue"/>
                <a:ea typeface="Helvetica Neue"/>
                <a:cs typeface="Helvetica Neue"/>
              </a:defRPr>
            </a:pPr>
            <a:r>
              <a:rPr sz="1425" b="0">
                <a:solidFill>
                  <a:srgbClr val="59666C"/>
                </a:solidFill>
                <a:latin typeface="Helvetica Neue"/>
                <a:ea typeface="Helvetica Neue"/>
                <a:cs typeface="Helvetica Neue"/>
              </a:rPr>
              <a:t>Architecture and official weights: Wang et al., CVPR 2025</a:t>
            </a:r>
          </a:p>
        </p:txBody>
      </p:sp>
    </p:spTree>
    <p:extLst>
      <p:ext uri="{BB962C8B-B14F-4D97-AF65-F5344CB8AC3E}">
        <p14:creationId xmlns:p14="http://schemas.microsoft.com/office/powerpoint/2010/main" val="965250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2026-10-09T04:51:25.0080000Z</dcterms:created>
  <dcterms:modified xsi:type="dcterms:W3CDTF">2026-10-09T04:51:25.0080000Z</dcterms:modified>
</coreProperties>
</file>