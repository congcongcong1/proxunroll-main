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b5acb95be6e4f1a" /><Relationship Type="http://schemas.openxmlformats.org/officeDocument/2006/relationships/extended-properties" Target="/docProps/app.xml" Id="R7505cef41894418b" /><Relationship Type="http://schemas.openxmlformats.org/officeDocument/2006/relationships/officeDocument" Target="/ppt/presentation.xml" Id="Rc8b95ec5636c4918" /></Relationships>
</file>

<file path=ppt/presentation.xml><?xml version="1.0" encoding="utf-8"?>
<p:presentation xmlns:p="http://schemas.openxmlformats.org/presentationml/2006/main">
  <p:sldMasterIdLst>
    <p:sldMasterId xmlns:r="http://schemas.openxmlformats.org/officeDocument/2006/relationships" id="2147483648" r:id="Rbcfc5467f31b4fa5"/>
  </p:sldMasterIdLst>
  <p:notesMasterIdLst>
    <p:notesMasterId xmlns:r="http://schemas.openxmlformats.org/officeDocument/2006/relationships" r:id="R5aede7d90e2b49c5"/>
  </p:notesMasterIdLst>
  <p:sldIdLst>
    <p:sldId xmlns:r="http://schemas.openxmlformats.org/officeDocument/2006/relationships" id="256" r:id="Re5c68c70d47a4ddc"/>
    <p:sldId xmlns:r="http://schemas.openxmlformats.org/officeDocument/2006/relationships" id="257" r:id="Raf4272aa075f4d71"/>
    <p:sldId xmlns:r="http://schemas.openxmlformats.org/officeDocument/2006/relationships" id="258" r:id="R745771e8f12f4e40"/>
    <p:sldId xmlns:r="http://schemas.openxmlformats.org/officeDocument/2006/relationships" id="259" r:id="R671915c5ef09437f"/>
    <p:sldId xmlns:r="http://schemas.openxmlformats.org/officeDocument/2006/relationships" id="260" r:id="Re15d0d2c172c40c2"/>
    <p:sldId xmlns:r="http://schemas.openxmlformats.org/officeDocument/2006/relationships" id="261" r:id="R9c80dfff05be47a2"/>
    <p:sldId xmlns:r="http://schemas.openxmlformats.org/officeDocument/2006/relationships" id="262" r:id="R8ae3e09fd47d489c"/>
    <p:sldId xmlns:r="http://schemas.openxmlformats.org/officeDocument/2006/relationships" id="263" r:id="R7053b740e88d47ef"/>
    <p:sldId xmlns:r="http://schemas.openxmlformats.org/officeDocument/2006/relationships" id="264" r:id="R2b9b15384d2743f5"/>
    <p:sldId xmlns:r="http://schemas.openxmlformats.org/officeDocument/2006/relationships" id="265" r:id="Rfe792b8c92964039"/>
    <p:sldId xmlns:r="http://schemas.openxmlformats.org/officeDocument/2006/relationships" id="266" r:id="R90f82838a7304352"/>
    <p:sldId xmlns:r="http://schemas.openxmlformats.org/officeDocument/2006/relationships" id="267" r:id="R428825c223214e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4f29f863f7437f" /><Relationship Type="http://schemas.openxmlformats.org/officeDocument/2006/relationships/slideMaster" Target="/ppt/slideMasters/slideMaster1.xml" Id="Rbcfc5467f31b4fa5" /><Relationship Type="http://schemas.openxmlformats.org/officeDocument/2006/relationships/notesMaster" Target="/ppt/notesMasters/notesMaster1.xml" Id="R5aede7d90e2b49c5" /><Relationship Type="http://schemas.openxmlformats.org/officeDocument/2006/relationships/presProps" Target="/ppt/presProps.xml" Id="Rb5fa22ec9f7041b6" /><Relationship Type="http://schemas.openxmlformats.org/officeDocument/2006/relationships/tableStyles" Target="/ppt/tableStyles.xml" Id="Ra9affff971fd4697" /><Relationship Type="http://schemas.openxmlformats.org/officeDocument/2006/relationships/slide" Target="/ppt/slides/slide1.xml" Id="Re5c68c70d47a4ddc" /><Relationship Type="http://schemas.openxmlformats.org/officeDocument/2006/relationships/slide" Target="/ppt/slides/slide2.xml" Id="Raf4272aa075f4d71" /><Relationship Type="http://schemas.openxmlformats.org/officeDocument/2006/relationships/slide" Target="/ppt/slides/slide3.xml" Id="R745771e8f12f4e40" /><Relationship Type="http://schemas.openxmlformats.org/officeDocument/2006/relationships/slide" Target="/ppt/slides/slide4.xml" Id="R671915c5ef09437f" /><Relationship Type="http://schemas.openxmlformats.org/officeDocument/2006/relationships/slide" Target="/ppt/slides/slide5.xml" Id="Re15d0d2c172c40c2" /><Relationship Type="http://schemas.openxmlformats.org/officeDocument/2006/relationships/slide" Target="/ppt/slides/slide6.xml" Id="R9c80dfff05be47a2" /><Relationship Type="http://schemas.openxmlformats.org/officeDocument/2006/relationships/slide" Target="/ppt/slides/slide7.xml" Id="R8ae3e09fd47d489c" /><Relationship Type="http://schemas.openxmlformats.org/officeDocument/2006/relationships/slide" Target="/ppt/slides/slide8.xml" Id="R7053b740e88d47ef" /><Relationship Type="http://schemas.openxmlformats.org/officeDocument/2006/relationships/slide" Target="/ppt/slides/slide9.xml" Id="R2b9b15384d2743f5" /><Relationship Type="http://schemas.openxmlformats.org/officeDocument/2006/relationships/slide" Target="/ppt/slides/slide10.xml" Id="Rfe792b8c92964039" /><Relationship Type="http://schemas.openxmlformats.org/officeDocument/2006/relationships/slide" Target="/ppt/slides/slide11.xml" Id="R90f82838a7304352" /><Relationship Type="http://schemas.openxmlformats.org/officeDocument/2006/relationships/slide" Target="/ppt/slides/slide12.xml" Id="R428825c223214e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4eb329fb7444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54787afcc1449c" /><Relationship Type="http://schemas.openxmlformats.org/officeDocument/2006/relationships/notesMaster" Target="/ppt/notesMasters/notesMaster1.xml" Id="R37e70c210cd848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9e7c4c9cb44a1a" /><Relationship Type="http://schemas.openxmlformats.org/officeDocument/2006/relationships/notesMaster" Target="/ppt/notesMasters/notesMaster1.xml" Id="R6c375e26249545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dbbf8d00884715" /><Relationship Type="http://schemas.openxmlformats.org/officeDocument/2006/relationships/notesMaster" Target="/ppt/notesMasters/notesMaster1.xml" Id="R0b8033f4460e43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ea977372634705" /><Relationship Type="http://schemas.openxmlformats.org/officeDocument/2006/relationships/notesMaster" Target="/ppt/notesMasters/notesMaster1.xml" Id="R09a801f0573947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cf42c1ba1d4344" /><Relationship Type="http://schemas.openxmlformats.org/officeDocument/2006/relationships/notesMaster" Target="/ppt/notesMasters/notesMaster1.xml" Id="R8ece22bcf2984a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b066a4e3344d1e" /><Relationship Type="http://schemas.openxmlformats.org/officeDocument/2006/relationships/notesMaster" Target="/ppt/notesMasters/notesMaster1.xml" Id="Rbf6136149dbb4f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b1086736494757" /><Relationship Type="http://schemas.openxmlformats.org/officeDocument/2006/relationships/notesMaster" Target="/ppt/notesMasters/notesMaster1.xml" Id="R6d313b7d69b14c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ca5c562805443d" /><Relationship Type="http://schemas.openxmlformats.org/officeDocument/2006/relationships/notesMaster" Target="/ppt/notesMasters/notesMaster1.xml" Id="R6331b6c6b96b4c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7d4a2411a64d46" /><Relationship Type="http://schemas.openxmlformats.org/officeDocument/2006/relationships/notesMaster" Target="/ppt/notesMasters/notesMaster1.xml" Id="R6d06e1898f7440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e0aac4555b4189" /><Relationship Type="http://schemas.openxmlformats.org/officeDocument/2006/relationships/notesMaster" Target="/ppt/notesMasters/notesMaster1.xml" Id="R2d085b4f66d643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9a618a9cd94524" /><Relationship Type="http://schemas.openxmlformats.org/officeDocument/2006/relationships/notesMaster" Target="/ppt/notesMasters/notesMaster1.xml" Id="Re50c464b4d5747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06f8a5fdd748a0" /><Relationship Type="http://schemas.openxmlformats.org/officeDocument/2006/relationships/notesMaster" Target="/ppt/notesMasters/notesMaster1.xml" Id="Rbdb6e116bc2a48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25 seconds.</a:t>
            </a:r>
          </a:p>
          <a:p xmlns:a="http://schemas.openxmlformats.org/drawingml/2006/main">
            <a:r>
              <a:t/>
            </a:r>
          </a:p>
          <a:p xmlns:a="http://schemas.openxmlformats.org/drawingml/2006/main">
            <a:r>
              <a:t>We compare four solvers on public Kodak24 and spaced frames from eight laboratory-held HEVC videos. We fine-tune official HQS for 100 bounded steps. Raw measurements and all test deltas are retained. Codex assisted with code, experiments, analysis and writing. Model source: https://github.com/pwangcs/ProxUnroll.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Y = H X W^T + E is a simulation from an existing grayscale image. A detector obtains one integrated response per pattern. Multiple patterns constrain the inverse problem. Reference: Duarte et al., doi:10.1109/MSP.2007.914730.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Adjoint, DCT-FISTA, official HQS and official ADMM share the same measurements. The HQS fine-tuned variant also uses the same fixed MAT operator. DCT regularization comes from the original disjoint validation study. References: Beck and Teboulle, doi:10.1137/080716542; Wang et al., arXiv:2505.23180.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This architecture comes from the released ProxUnroll work. Stage memory joins adjacent optimization stages within a single image. It does not join video frames. Source image and architecture: https://github.com/pwangcs/ProxUnroll.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24 Kodak images and three zero-based spaced frames from each of five HEVC B and three HEVC E sequences. The rule is 0, floor(N/3), floor(2N/3), using actual stored lengths. BQTerrace has 601 frames and BasketballDrive 501. We use original raw Y planes, maximal center-square cropping and area resize. Raw Y codes are divided by 255 without range expansion. All are public or laboratory-held data. Sources and SHA-256 are in data/test.json.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Clean Kodak means over 24 original images. All solvers use the common MAT operator. Nominal 50% caps at 181 × 181 measurements or 49.9893%. Full CSV and independently recomputed float-array metrics: baseline/metrics.csv and baseline/verification.json.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Kodak treats each original image as one unit. HEVC B and E first average three frames within each video, then average videos equally. There are five B and three E independent videos. All video results remain in baseline/video_summary.csv. Neural timings use CUDA and DCT-FISTA uses CPU, so timing is not a hardware-matched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128 seeded DIV2K training originals and 16 disjoint DIV2K validation originals. Kodak and whole HEVC videos are untouched by this new training and selection. Original pretraining exposure is not fully audited. All six sensing factors are frozen. Training uses the upstream proximal trajectory weighted RMSE and a fixed 5e-6 Adam learning rate. Full optimizer, scheduler, RNG and step state are saved separately from selected best weights. DIV2K source: https://data.vision.ee.ethz.ch/cvl/DIV2K/.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Validation averages 16 originals at clean 10% and 25% rates. Model selection never reads test images. Best step: 100. Bounded training stops at the recorded step/time limit. Full trace: finetune/validation.csv. The short run measured 1.82 seconds per step. Resume verification is recorded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Selected checkpoint minus original HQS under shared measurements. Both 10% and 25% clean rates are reported. Noise results, last-checkpoint results and every image delta are preserved in comparison/paired_comparison.json. Bootstrap uses original Kodak images or whole HEVC videos. A single training seed and few videos limit inference. Positive validation change alone is insufficient evidence of test 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Outcome-based diagnostic only. This image has the smallest selected-model minus original change among the preselected first-seed conditions across all test images. It was not used for selecting the checkpoint or changing the training recipe. Image: kodim20. Sampling: 10%. Noise RMS: 0.05. Delta PSNR: -0.2477 dB. Every positive and negative delta is preserved. Figure source: retained raw test reconstructions.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50 seconds.</a:t>
            </a:r>
          </a:p>
          <a:p xmlns:a="http://schemas.openxmlformats.org/drawingml/2006/main">
            <a:r>
              <a:t/>
            </a:r>
          </a:p>
          <a:p xmlns:a="http://schemas.openxmlformats.org/drawingml/2006/main">
            <a:r>
              <a:t>We completed remote sync, larger paired evaluation and bounded fixed-operator HQS fine-tuning. Test changes are conditional on this crop/resizing rule and common operator. Original pretraining exposure is not fully audited. One training seed does not establish a general fine-tuning benefit. HEVC frames are independent images, with no previous/future-frame input. No optical camera, full-color system or course-platform submission is claimed. Codex assisted with code, execution, analysis, writing and presentation. Architecture and weights: Wang et al., CVPR 2025, https://github.com/pwangcs/ProxUnroll.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13e836ea4542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18bebab9d54c84" /><Relationship Type="http://schemas.openxmlformats.org/officeDocument/2006/relationships/slideLayout" Target="/ppt/slideLayouts/slideLayout1.xml" Id="Ra1e0ffa58e1e4d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e0ffa58e1e4d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08f89bb3ea4083" /><Relationship Type="http://schemas.openxmlformats.org/officeDocument/2006/relationships/image" Target="/ppt/media/image.png" Id="Rcb38ebad8a964547" /><Relationship Type="http://schemas.openxmlformats.org/officeDocument/2006/relationships/notesSlide" Target="/ppt/notesSlides/notesSlide1.xml" Id="R399c173de87947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fba01639694ae8" /><Relationship Type="http://schemas.openxmlformats.org/officeDocument/2006/relationships/notesSlide" Target="/ppt/notesSlides/notesSlide2.xml" Id="Re4064e0b150a4f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d1d91f652545c1" /><Relationship Type="http://schemas.openxmlformats.org/officeDocument/2006/relationships/notesSlide" Target="/ppt/notesSlides/notesSlide3.xml" Id="R12c8ff96eaa548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6f192387db4616" /><Relationship Type="http://schemas.openxmlformats.org/officeDocument/2006/relationships/image" Target="/ppt/media/image2.png" Id="R65888326bed74792" /><Relationship Type="http://schemas.openxmlformats.org/officeDocument/2006/relationships/notesSlide" Target="/ppt/notesSlides/notesSlide4.xml" Id="R72c65fc8aceb41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c8ba827216465f" /><Relationship Type="http://schemas.openxmlformats.org/officeDocument/2006/relationships/image" Target="/ppt/media/image3.png" Id="Rd46b18945ccc4662" /><Relationship Type="http://schemas.openxmlformats.org/officeDocument/2006/relationships/image" Target="/ppt/media/image4.png" Id="R405015a016b5430b" /><Relationship Type="http://schemas.openxmlformats.org/officeDocument/2006/relationships/image" Target="/ppt/media/image5.png" Id="R7260588ff36b4ab6" /><Relationship Type="http://schemas.openxmlformats.org/officeDocument/2006/relationships/notesSlide" Target="/ppt/notesSlides/notesSlide5.xml" Id="Reeaa5d5a87c94a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66b3b979aa42e8" /><Relationship Type="http://schemas.openxmlformats.org/officeDocument/2006/relationships/chart" Target="/ppt/slides/charts/chart1.xml" Id="R87a991b4abfa409d" /><Relationship Type="http://schemas.openxmlformats.org/officeDocument/2006/relationships/notesSlide" Target="/ppt/notesSlides/notesSlide6.xml" Id="R7847989c205e4f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026244700b4a8e" /><Relationship Type="http://schemas.openxmlformats.org/officeDocument/2006/relationships/chart" Target="/ppt/slides/charts/chart2.xml" Id="R498b864061134212" /><Relationship Type="http://schemas.openxmlformats.org/officeDocument/2006/relationships/notesSlide" Target="/ppt/notesSlides/notesSlide7.xml" Id="R426a6450561f44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993267b9914c77" /><Relationship Type="http://schemas.openxmlformats.org/officeDocument/2006/relationships/notesSlide" Target="/ppt/notesSlides/notesSlide8.xml" Id="R04d50ffc18294c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28a9de1b4a43b3" /><Relationship Type="http://schemas.openxmlformats.org/officeDocument/2006/relationships/chart" Target="/ppt/slides/charts/chart3.xml" Id="Rb816331536ab4986" /><Relationship Type="http://schemas.openxmlformats.org/officeDocument/2006/relationships/notesSlide" Target="/ppt/notesSlides/notesSlide9.xml" Id="R70c6ce17ed8443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d285dc189994359" /><Relationship Type="http://schemas.openxmlformats.org/officeDocument/2006/relationships/chart" Target="/ppt/slides/charts/chart4.xml" Id="Rc77b948a51884f1a" /><Relationship Type="http://schemas.openxmlformats.org/officeDocument/2006/relationships/notesSlide" Target="/ppt/notesSlides/notesSlide10.xml" Id="R3eae2f82564248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fbceae20a2649e8" /><Relationship Type="http://schemas.openxmlformats.org/officeDocument/2006/relationships/image" Target="/ppt/media/image6.png" Id="R0a77b74f6fe04b65" /><Relationship Type="http://schemas.openxmlformats.org/officeDocument/2006/relationships/image" Target="/ppt/media/image7.png" Id="Rf0e73fc648ba4450" /><Relationship Type="http://schemas.openxmlformats.org/officeDocument/2006/relationships/image" Target="/ppt/media/image8.png" Id="R6ac4343de35b4617" /><Relationship Type="http://schemas.openxmlformats.org/officeDocument/2006/relationships/notesSlide" Target="/ppt/notesSlides/notesSlide11.xml" Id="R562293d1afd641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117358696d41d7" /><Relationship Type="http://schemas.openxmlformats.org/officeDocument/2006/relationships/notesSlide" Target="/ppt/notesSlides/notesSlide12.xml" Id="R673b028b07c748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Adjoint</c:v>
          </c:tx>
          <c:spPr>
            <a:solidFill xmlns:a="http://schemas.openxmlformats.org/drawingml/2006/main">
              <a:srgbClr val="777777"/>
            </a:solidFill>
            <a:ln xmlns:a="http://schemas.openxmlformats.org/drawingml/2006/main" w="28575">
              <a:solidFill>
                <a:srgbClr val="777777"/>
              </a:solidFill>
            </a:ln>
          </c:spPr>
          <c:marker>
            <c:symbol val="circle"/>
            <c:size val="7"/>
            <c:spPr>
              <a:solidFill xmlns:a="http://schemas.openxmlformats.org/drawingml/2006/main">
                <a:srgbClr val="777777"/>
              </a:solidFill>
            </c:spPr>
          </c:marker>
          <c:cat>
            <c:strRef>
              <c:f>'Chart Data'!$A$2:$A$6</c:f>
              <c:strCache>
                <c:ptCount val="5"/>
                <c:pt idx="0">
                  <c:v>1%</c:v>
                </c:pt>
                <c:pt idx="1">
                  <c:v>4%</c:v>
                </c:pt>
                <c:pt idx="2">
                  <c:v>10%</c:v>
                </c:pt>
                <c:pt idx="3">
                  <c:v>25%</c:v>
                </c:pt>
                <c:pt idx="4">
                  <c:v>50%</c:v>
                </c:pt>
              </c:strCache>
            </c:strRef>
          </c:cat>
          <c:val>
            <c:numRef>
              <c:f>'Chart Data'!$B$2:$B$6</c:f>
              <c:numCache>
                <c:formatCode>0.00</c:formatCode>
                <c:ptCount val="5"/>
                <c:pt idx="0">
                  <c:v>21.4403</c:v>
                </c:pt>
                <c:pt idx="1">
                  <c:v>23.20541</c:v>
                </c:pt>
                <c:pt idx="2">
                  <c:v>24.66999</c:v>
                </c:pt>
                <c:pt idx="3">
                  <c:v>26.94009</c:v>
                </c:pt>
                <c:pt idx="4">
                  <c:v>29.8247</c:v>
                </c:pt>
              </c:numCache>
            </c:numRef>
          </c:val>
          <c:smooth val="0"/>
        </c:ser>
        <c:ser>
          <c:idx val="1"/>
          <c:order val="1"/>
          <c:tx>
            <c:v>DCT-FISTA</c:v>
          </c:tx>
          <c:spPr>
            <a:solidFill xmlns:a="http://schemas.openxmlformats.org/drawingml/2006/main">
              <a:srgbClr val="D78924"/>
            </a:solidFill>
            <a:ln xmlns:a="http://schemas.openxmlformats.org/drawingml/2006/main" w="28575">
              <a:solidFill>
                <a:srgbClr val="D78924"/>
              </a:solidFill>
            </a:ln>
          </c:spPr>
          <c:marker>
            <c:symbol val="circle"/>
            <c:size val="7"/>
            <c:spPr>
              <a:solidFill xmlns:a="http://schemas.openxmlformats.org/drawingml/2006/main">
                <a:srgbClr val="D78924"/>
              </a:solidFill>
            </c:spPr>
          </c:marker>
          <c:cat>
            <c:strRef>
              <c:f>'Chart Data'!$C$2:$C$6</c:f>
              <c:strCache>
                <c:ptCount val="5"/>
                <c:pt idx="0">
                  <c:v>1%</c:v>
                </c:pt>
                <c:pt idx="1">
                  <c:v>4%</c:v>
                </c:pt>
                <c:pt idx="2">
                  <c:v>10%</c:v>
                </c:pt>
                <c:pt idx="3">
                  <c:v>25%</c:v>
                </c:pt>
                <c:pt idx="4">
                  <c:v>50%</c:v>
                </c:pt>
              </c:strCache>
            </c:strRef>
          </c:cat>
          <c:val>
            <c:numRef>
              <c:f>'Chart Data'!$D$2:$D$6</c:f>
              <c:numCache>
                <c:formatCode>0.00</c:formatCode>
                <c:ptCount val="5"/>
                <c:pt idx="0">
                  <c:v>21.93259</c:v>
                </c:pt>
                <c:pt idx="1">
                  <c:v>23.7391</c:v>
                </c:pt>
                <c:pt idx="2">
                  <c:v>25.18055</c:v>
                </c:pt>
                <c:pt idx="3">
                  <c:v>27.51327</c:v>
                </c:pt>
                <c:pt idx="4">
                  <c:v>30.38486</c:v>
                </c:pt>
              </c:numCache>
            </c:numRef>
          </c:val>
          <c:smooth val="0"/>
        </c:ser>
        <c:ser>
          <c:idx val="2"/>
          <c:order val="2"/>
          <c:tx>
            <c:v>HQS</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cat>
            <c:strRef>
              <c:f>'Chart Data'!$E$2:$E$6</c:f>
              <c:strCache>
                <c:ptCount val="5"/>
                <c:pt idx="0">
                  <c:v>1%</c:v>
                </c:pt>
                <c:pt idx="1">
                  <c:v>4%</c:v>
                </c:pt>
                <c:pt idx="2">
                  <c:v>10%</c:v>
                </c:pt>
                <c:pt idx="3">
                  <c:v>25%</c:v>
                </c:pt>
                <c:pt idx="4">
                  <c:v>50%</c:v>
                </c:pt>
              </c:strCache>
            </c:strRef>
          </c:cat>
          <c:val>
            <c:numRef>
              <c:f>'Chart Data'!$F$2:$F$6</c:f>
              <c:numCache>
                <c:formatCode>0.00</c:formatCode>
                <c:ptCount val="5"/>
                <c:pt idx="0">
                  <c:v>23.52865</c:v>
                </c:pt>
                <c:pt idx="1">
                  <c:v>26.63335</c:v>
                </c:pt>
                <c:pt idx="2">
                  <c:v>29.37679</c:v>
                </c:pt>
                <c:pt idx="3">
                  <c:v>33.47372</c:v>
                </c:pt>
                <c:pt idx="4">
                  <c:v>38.56165</c:v>
                </c:pt>
              </c:numCache>
            </c:numRef>
          </c:val>
          <c:smooth val="0"/>
        </c:ser>
        <c:ser>
          <c:idx val="3"/>
          <c:order val="3"/>
          <c:tx>
            <c:v>ADMM</c:v>
          </c:tx>
          <c:spPr>
            <a:solidFill xmlns:a="http://schemas.openxmlformats.org/drawingml/2006/main">
              <a:srgbClr val="B74760"/>
            </a:solidFill>
            <a:ln xmlns:a="http://schemas.openxmlformats.org/drawingml/2006/main" w="28575">
              <a:solidFill>
                <a:srgbClr val="B74760"/>
              </a:solidFill>
            </a:ln>
          </c:spPr>
          <c:marker>
            <c:symbol val="circle"/>
            <c:size val="7"/>
            <c:spPr>
              <a:solidFill xmlns:a="http://schemas.openxmlformats.org/drawingml/2006/main">
                <a:srgbClr val="B74760"/>
              </a:solidFill>
            </c:spPr>
          </c:marker>
          <c:cat>
            <c:strRef>
              <c:f>'Chart Data'!$G$2:$G$6</c:f>
              <c:strCache>
                <c:ptCount val="5"/>
                <c:pt idx="0">
                  <c:v>1%</c:v>
                </c:pt>
                <c:pt idx="1">
                  <c:v>4%</c:v>
                </c:pt>
                <c:pt idx="2">
                  <c:v>10%</c:v>
                </c:pt>
                <c:pt idx="3">
                  <c:v>25%</c:v>
                </c:pt>
                <c:pt idx="4">
                  <c:v>50%</c:v>
                </c:pt>
              </c:strCache>
            </c:strRef>
          </c:cat>
          <c:val>
            <c:numRef>
              <c:f>'Chart Data'!$H$2:$H$6</c:f>
              <c:numCache>
                <c:formatCode>0.00</c:formatCode>
                <c:ptCount val="5"/>
                <c:pt idx="0">
                  <c:v>23.56582</c:v>
                </c:pt>
                <c:pt idx="1">
                  <c:v>26.66358</c:v>
                </c:pt>
                <c:pt idx="2">
                  <c:v>29.42916</c:v>
                </c:pt>
                <c:pt idx="3">
                  <c:v>33.49261</c:v>
                </c:pt>
                <c:pt idx="4">
                  <c:v>38.56811</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Nominal sampling ratio</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Adjoint</c:v>
          </c:tx>
          <c:spPr>
            <a:solidFill xmlns:a="http://schemas.openxmlformats.org/drawingml/2006/main">
              <a:srgbClr val="777777"/>
            </a:solidFill>
          </c:spPr>
          <c:cat>
            <c:strRef>
              <c:f>'Chart Data'!$A$2:$A$4</c:f>
              <c:strCache>
                <c:ptCount val="3"/>
                <c:pt idx="0">
                  <c:v>Kodak24</c:v>
                </c:pt>
                <c:pt idx="1">
                  <c:v>HEVC B</c:v>
                </c:pt>
                <c:pt idx="2">
                  <c:v>HEVC E</c:v>
                </c:pt>
              </c:strCache>
            </c:strRef>
          </c:cat>
          <c:val>
            <c:numRef>
              <c:f>'Chart Data'!$B$2:$B$4</c:f>
              <c:numCache>
                <c:formatCode>0.00</c:formatCode>
                <c:ptCount val="3"/>
                <c:pt idx="0">
                  <c:v>24.66999</c:v>
                </c:pt>
                <c:pt idx="1">
                  <c:v>25.87618</c:v>
                </c:pt>
                <c:pt idx="2">
                  <c:v>24.89665</c:v>
                </c:pt>
              </c:numCache>
            </c:numRef>
          </c:val>
        </c:ser>
        <c:ser>
          <c:idx val="1"/>
          <c:order val="1"/>
          <c:tx>
            <c:v>DCT-FISTA</c:v>
          </c:tx>
          <c:spPr>
            <a:solidFill xmlns:a="http://schemas.openxmlformats.org/drawingml/2006/main">
              <a:srgbClr val="D78924"/>
            </a:solidFill>
          </c:spPr>
          <c:cat>
            <c:strRef>
              <c:f>'Chart Data'!$C$2:$C$4</c:f>
              <c:strCache>
                <c:ptCount val="3"/>
                <c:pt idx="0">
                  <c:v>Kodak24</c:v>
                </c:pt>
                <c:pt idx="1">
                  <c:v>HEVC B</c:v>
                </c:pt>
                <c:pt idx="2">
                  <c:v>HEVC E</c:v>
                </c:pt>
              </c:strCache>
            </c:strRef>
          </c:cat>
          <c:val>
            <c:numRef>
              <c:f>'Chart Data'!$D$2:$D$4</c:f>
              <c:numCache>
                <c:formatCode>0.00</c:formatCode>
                <c:ptCount val="3"/>
                <c:pt idx="0">
                  <c:v>25.18055</c:v>
                </c:pt>
                <c:pt idx="1">
                  <c:v>26.76573</c:v>
                </c:pt>
                <c:pt idx="2">
                  <c:v>26.29522</c:v>
                </c:pt>
              </c:numCache>
            </c:numRef>
          </c:val>
        </c:ser>
        <c:ser>
          <c:idx val="2"/>
          <c:order val="2"/>
          <c:tx>
            <c:v>HQS</c:v>
          </c:tx>
          <c:spPr>
            <a:solidFill xmlns:a="http://schemas.openxmlformats.org/drawingml/2006/main">
              <a:srgbClr val="147D78"/>
            </a:solidFill>
          </c:spPr>
          <c:cat>
            <c:strRef>
              <c:f>'Chart Data'!$E$2:$E$4</c:f>
              <c:strCache>
                <c:ptCount val="3"/>
                <c:pt idx="0">
                  <c:v>Kodak24</c:v>
                </c:pt>
                <c:pt idx="1">
                  <c:v>HEVC B</c:v>
                </c:pt>
                <c:pt idx="2">
                  <c:v>HEVC E</c:v>
                </c:pt>
              </c:strCache>
            </c:strRef>
          </c:cat>
          <c:val>
            <c:numRef>
              <c:f>'Chart Data'!$F$2:$F$4</c:f>
              <c:numCache>
                <c:formatCode>0.00</c:formatCode>
                <c:ptCount val="3"/>
                <c:pt idx="0">
                  <c:v>29.37679</c:v>
                </c:pt>
                <c:pt idx="1">
                  <c:v>31.21778</c:v>
                </c:pt>
                <c:pt idx="2">
                  <c:v>33.55382</c:v>
                </c:pt>
              </c:numCache>
            </c:numRef>
          </c:val>
        </c:ser>
        <c:ser>
          <c:idx val="3"/>
          <c:order val="3"/>
          <c:tx>
            <c:v>ADMM</c:v>
          </c:tx>
          <c:spPr>
            <a:solidFill xmlns:a="http://schemas.openxmlformats.org/drawingml/2006/main">
              <a:srgbClr val="B74760"/>
            </a:solidFill>
          </c:spPr>
          <c:cat>
            <c:strRef>
              <c:f>'Chart Data'!$G$2:$G$4</c:f>
              <c:strCache>
                <c:ptCount val="3"/>
                <c:pt idx="0">
                  <c:v>Kodak24</c:v>
                </c:pt>
                <c:pt idx="1">
                  <c:v>HEVC B</c:v>
                </c:pt>
                <c:pt idx="2">
                  <c:v>HEVC E</c:v>
                </c:pt>
              </c:strCache>
            </c:strRef>
          </c:cat>
          <c:val>
            <c:numRef>
              <c:f>'Chart Data'!$H$2:$H$4</c:f>
              <c:numCache>
                <c:formatCode>0.00</c:formatCode>
                <c:ptCount val="3"/>
                <c:pt idx="0">
                  <c:v>29.42916</c:v>
                </c:pt>
                <c:pt idx="1">
                  <c:v>31.27794</c:v>
                </c:pt>
                <c:pt idx="2">
                  <c:v>33.50526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Validation PSNR</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cat>
            <c:numRef>
              <c:f>'Chart Data'!$A$2:$A$8</c:f>
              <c:numCache>
                <c:formatCode>General</c:formatCode>
                <c:ptCount val="7"/>
                <c:pt idx="0">
                  <c:v>0</c:v>
                </c:pt>
                <c:pt idx="1">
                  <c:v>3</c:v>
                </c:pt>
                <c:pt idx="2">
                  <c:v>4</c:v>
                </c:pt>
                <c:pt idx="3">
                  <c:v>25</c:v>
                </c:pt>
                <c:pt idx="4">
                  <c:v>50</c:v>
                </c:pt>
                <c:pt idx="5">
                  <c:v>75</c:v>
                </c:pt>
                <c:pt idx="6">
                  <c:v>100</c:v>
                </c:pt>
              </c:numCache>
            </c:numRef>
          </c:cat>
          <c:val>
            <c:numRef>
              <c:f>'Chart Data'!$B$2:$B$8</c:f>
              <c:numCache>
                <c:formatCode>0.00</c:formatCode>
                <c:ptCount val="7"/>
                <c:pt idx="0">
                  <c:v>29.2241</c:v>
                </c:pt>
                <c:pt idx="1">
                  <c:v>29.22793</c:v>
                </c:pt>
                <c:pt idx="2">
                  <c:v>29.23388</c:v>
                </c:pt>
                <c:pt idx="3">
                  <c:v>29.2965</c:v>
                </c:pt>
                <c:pt idx="4">
                  <c:v>29.31877</c:v>
                </c:pt>
                <c:pt idx="5">
                  <c:v>29.33095</c:v>
                </c:pt>
                <c:pt idx="6">
                  <c:v>29.34043</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Optimization steps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validation 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10% sampling</c:v>
          </c:tx>
          <c:spPr>
            <a:solidFill xmlns:a="http://schemas.openxmlformats.org/drawingml/2006/main">
              <a:srgbClr val="147D78"/>
            </a:solidFill>
          </c:spPr>
          <c:cat>
            <c:strRef>
              <c:f>'Chart Data'!$A$2:$A$4</c:f>
              <c:strCache>
                <c:ptCount val="3"/>
                <c:pt idx="0">
                  <c:v>Kodak24</c:v>
                </c:pt>
                <c:pt idx="1">
                  <c:v>HEVC B</c:v>
                </c:pt>
                <c:pt idx="2">
                  <c:v>HEVC E</c:v>
                </c:pt>
              </c:strCache>
            </c:strRef>
          </c:cat>
          <c:val>
            <c:numRef>
              <c:f>'Chart Data'!$B$2:$B$4</c:f>
              <c:numCache>
                <c:formatCode>0.00</c:formatCode>
                <c:ptCount val="3"/>
                <c:pt idx="0">
                  <c:v>0.13507</c:v>
                </c:pt>
                <c:pt idx="1">
                  <c:v>0.14605</c:v>
                </c:pt>
                <c:pt idx="2">
                  <c:v>0.37151</c:v>
                </c:pt>
              </c:numCache>
            </c:numRef>
          </c:val>
        </c:ser>
        <c:ser>
          <c:idx val="1"/>
          <c:order val="1"/>
          <c:tx>
            <c:v>25% sampling</c:v>
          </c:tx>
          <c:spPr>
            <a:solidFill xmlns:a="http://schemas.openxmlformats.org/drawingml/2006/main">
              <a:srgbClr val="D78924"/>
            </a:solidFill>
          </c:spPr>
          <c:cat>
            <c:strRef>
              <c:f>'Chart Data'!$C$2:$C$4</c:f>
              <c:strCache>
                <c:ptCount val="3"/>
                <c:pt idx="0">
                  <c:v>Kodak24</c:v>
                </c:pt>
                <c:pt idx="1">
                  <c:v>HEVC B</c:v>
                </c:pt>
                <c:pt idx="2">
                  <c:v>HEVC E</c:v>
                </c:pt>
              </c:strCache>
            </c:strRef>
          </c:cat>
          <c:val>
            <c:numRef>
              <c:f>'Chart Data'!$D$2:$D$4</c:f>
              <c:numCache>
                <c:formatCode>0.00</c:formatCode>
                <c:ptCount val="3"/>
                <c:pt idx="0">
                  <c:v>0.1458</c:v>
                </c:pt>
                <c:pt idx="1">
                  <c:v>0.18457</c:v>
                </c:pt>
                <c:pt idx="2">
                  <c:v>0.31043</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Fine-tuned minus original 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D829E2-A9E8-41BD-826F-C8D0C7450AE4}"/>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Single-Pixel Imaging</a:t>
            </a:r>
          </a:p>
        </p:txBody>
      </p:sp>
      <p:sp>
        <p:nvSpPr>
          <p:cNvPr id="2" name="">
            <a:extLst xmlns:a="http://schemas.openxmlformats.org/drawingml/2006/main">
              <a:ext uri="{FF2B5EF4-FFF2-40B4-BE49-F238E27FC236}">
                <a16:creationId xmlns:a16="http://schemas.microsoft.com/office/drawing/2014/main" id="{DFB44788-E3AF-4551-AD7D-5179A851E3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4EFDEEF-B780-4A2D-9E28-629D0BF76451}"/>
              </a:ext>
            </a:extLst>
          </p:cNvPr>
          <p:cNvSpPr>
            <a:spLocks xmlns:a="http://schemas.openxmlformats.org/drawingml/2006/main" noGrp="1"/>
          </p:cNvSpPr>
          <p:nvPr/>
        </p:nvSpPr>
        <p:spPr>
          <a:xfrm xmlns:a="http://schemas.openxmlformats.org/drawingml/2006/main">
            <a:off x="619125" y="14097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External evaluation</a:t>
            </a:r>
          </a:p>
          <a:p xmlns:a="http://schemas.openxmlformats.org/drawingml/2006/main">
            <a:pPr>
              <a:buNone/>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and fixed-operator fine-tuning</a:t>
            </a:r>
          </a:p>
        </p:txBody>
      </p:sp>
      <p:sp>
        <p:nvSpPr>
          <p:cNvPr id="4" name="">
            <a:extLst xmlns:a="http://schemas.openxmlformats.org/drawingml/2006/main">
              <a:ext uri="{FF2B5EF4-FFF2-40B4-BE49-F238E27FC236}">
                <a16:creationId xmlns:a16="http://schemas.microsoft.com/office/drawing/2014/main" id="{E3F2D5D0-B91F-44D7-95CB-1EC3E3BDE8D0}"/>
              </a:ext>
            </a:extLst>
          </p:cNvPr>
          <p:cNvSpPr>
            <a:spLocks xmlns:a="http://schemas.openxmlformats.org/drawingml/2006/main" noGrp="1"/>
          </p:cNvSpPr>
          <p:nvPr/>
        </p:nvSpPr>
        <p:spPr>
          <a:xfrm xmlns:a="http://schemas.openxmlformats.org/drawingml/2006/main">
            <a:off x="619125" y="29146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Zicong Luo    522026230043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Shuhao Yang    502026230083</a:t>
            </a:r>
          </a:p>
          <a:p xmlns:a="http://schemas.openxmlformats.org/drawingml/2006/main">
            <a:pPr>
              <a:buNone/>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Yubowen Li    502026230092</a:t>
            </a:r>
          </a:p>
        </p:txBody>
      </p:sp>
      <p:sp>
        <p:nvSpPr>
          <p:cNvPr id="5" name="">
            <a:extLst xmlns:a="http://schemas.openxmlformats.org/drawingml/2006/main">
              <a:ext uri="{FF2B5EF4-FFF2-40B4-BE49-F238E27FC236}">
                <a16:creationId xmlns:a16="http://schemas.microsoft.com/office/drawing/2014/main" id="{4C70EA1E-02CA-4AA1-8E6B-D2BA82FDDC92}"/>
              </a:ext>
            </a:extLst>
          </p:cNvPr>
          <p:cNvSpPr>
            <a:spLocks xmlns:a="http://schemas.openxmlformats.org/drawingml/2006/main" noGrp="1"/>
          </p:cNvSpPr>
          <p:nvPr/>
        </p:nvSpPr>
        <p:spPr>
          <a:xfrm xmlns:a="http://schemas.openxmlformats.org/drawingml/2006/main">
            <a:off x="619125" y="55435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Topic 7  /  Computational Imaging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b38ebad8a964547"/>
          <a:stretch xmlns:a="http://schemas.openxmlformats.org/drawingml/2006/main"/>
        </p:blipFill>
        <p:spPr>
          <a:xfrm xmlns:a="http://schemas.openxmlformats.org/drawingml/2006/main">
            <a:off x="8382000" y="1828800"/>
            <a:ext cx="2857500" cy="2857500"/>
          </a:xfrm>
          <a:prstGeom xmlns:a="http://schemas.openxmlformats.org/drawingml/2006/main" prst="rect">
            <a:avLst/>
          </a:prstGeom>
        </p:spPr>
      </p:pic>
    </p:spTree>
    <p:extLst>
      <p:ext uri="{BB962C8B-B14F-4D97-AF65-F5344CB8AC3E}">
        <p14:creationId xmlns:p14="http://schemas.microsoft.com/office/powerpoint/2010/main" val="7176009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4552AD-C385-43E2-BACE-1FA7CAC8A0A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measurement model</a:t>
            </a:r>
          </a:p>
        </p:txBody>
      </p:sp>
      <p:sp>
        <p:nvSpPr>
          <p:cNvPr id="2" name="">
            <a:extLst xmlns:a="http://schemas.openxmlformats.org/drawingml/2006/main">
              <a:ext uri="{FF2B5EF4-FFF2-40B4-BE49-F238E27FC236}">
                <a16:creationId xmlns:a16="http://schemas.microsoft.com/office/drawing/2014/main" id="{D21F36D6-B69B-47FA-BBA3-81BEE98723F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2CC025-ECAC-4294-8179-019C6B01A021}"/>
              </a:ext>
            </a:extLst>
          </p:cNvPr>
          <p:cNvSpPr>
            <a:spLocks xmlns:a="http://schemas.openxmlformats.org/drawingml/2006/main" noGrp="1"/>
          </p:cNvSpPr>
          <p:nvPr/>
        </p:nvSpPr>
        <p:spPr>
          <a:xfrm xmlns:a="http://schemas.openxmlformats.org/drawingml/2006/main">
            <a:off x="857250" y="1571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47D78"/>
                </a:solidFill>
                <a:latin typeface="Helvetica Neue"/>
                <a:ea typeface="Helvetica Neue"/>
                <a:cs typeface="Helvetica Neue"/>
              </a:defRPr>
            </a:pPr>
            <a:r>
              <a:rPr sz="4350" b="1">
                <a:solidFill>
                  <a:srgbClr val="147D78"/>
                </a:solidFill>
                <a:latin typeface="Helvetica Neue"/>
                <a:ea typeface="Helvetica Neue"/>
                <a:cs typeface="Helvetica Neue"/>
              </a:rPr>
              <a:t>Y = H X W^T + E</a:t>
            </a:r>
          </a:p>
        </p:txBody>
      </p:sp>
      <p:sp>
        <p:nvSpPr>
          <p:cNvPr id="4" name="">
            <a:extLst xmlns:a="http://schemas.openxmlformats.org/drawingml/2006/main">
              <a:ext uri="{FF2B5EF4-FFF2-40B4-BE49-F238E27FC236}">
                <a16:creationId xmlns:a16="http://schemas.microsoft.com/office/drawing/2014/main" id="{8A58F390-B401-4139-A951-38BF43346E18}"/>
              </a:ext>
            </a:extLst>
          </p:cNvPr>
          <p:cNvSpPr>
            <a:spLocks xmlns:a="http://schemas.openxmlformats.org/drawingml/2006/main" noGrp="1"/>
          </p:cNvSpPr>
          <p:nvPr/>
        </p:nvSpPr>
        <p:spPr>
          <a:xfrm xmlns:a="http://schemas.openxmlformats.org/drawingml/2006/main">
            <a:off x="857250" y="26860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X: image     H, W: known sensing factors     E: measurement noise</a:t>
            </a:r>
          </a:p>
        </p:txBody>
      </p:sp>
      <p:sp>
        <p:nvSpPr>
          <p:cNvPr id="5" name="">
            <a:extLst xmlns:a="http://schemas.openxmlformats.org/drawingml/2006/main">
              <a:ext uri="{FF2B5EF4-FFF2-40B4-BE49-F238E27FC236}">
                <a16:creationId xmlns:a16="http://schemas.microsoft.com/office/drawing/2014/main" id="{23F4D130-3F39-47A3-A8EA-123C5CA1322A}"/>
              </a:ext>
            </a:extLst>
          </p:cNvPr>
          <p:cNvSpPr>
            <a:spLocks xmlns:a="http://schemas.openxmlformats.org/drawingml/2006/main" noGrp="1"/>
          </p:cNvSpPr>
          <p:nvPr/>
        </p:nvSpPr>
        <p:spPr>
          <a:xfrm xmlns:a="http://schemas.openxmlformats.org/drawingml/2006/main">
            <a:off x="857250" y="39243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One integrated measurement per mask</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A sequence of masks supplies spatial constraints</a:t>
            </a:r>
          </a:p>
          <a:p xmlns:a="http://schemas.openxmlformats.org/drawingml/2006/main">
            <a:pPr>
              <a:buNone/>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Fewer measurements leave more ambiguity</a:t>
            </a:r>
          </a:p>
        </p:txBody>
      </p:sp>
    </p:spTree>
    <p:extLst>
      <p:ext uri="{BB962C8B-B14F-4D97-AF65-F5344CB8AC3E}">
        <p14:creationId xmlns:p14="http://schemas.microsoft.com/office/powerpoint/2010/main" val="8015180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B91289-3F0A-4CC2-9697-E6A3EB54FBED}"/>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Explicit sparsity and a learned prior</a:t>
            </a:r>
          </a:p>
        </p:txBody>
      </p:sp>
      <p:sp>
        <p:nvSpPr>
          <p:cNvPr id="2" name="">
            <a:extLst xmlns:a="http://schemas.openxmlformats.org/drawingml/2006/main">
              <a:ext uri="{FF2B5EF4-FFF2-40B4-BE49-F238E27FC236}">
                <a16:creationId xmlns:a16="http://schemas.microsoft.com/office/drawing/2014/main" id="{4718C9C6-37C9-4960-81FE-9E9DCBEA92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90EE474-773F-4EE4-9C00-9986EE5BE23D}"/>
              </a:ext>
            </a:extLst>
          </p:cNvPr>
          <p:cNvSpPr>
            <a:spLocks xmlns:a="http://schemas.openxmlformats.org/drawingml/2006/main" noGrp="1"/>
          </p:cNvSpPr>
          <p:nvPr/>
        </p:nvSpPr>
        <p:spPr>
          <a:xfrm xmlns:a="http://schemas.openxmlformats.org/drawingml/2006/main">
            <a:off x="619125" y="1524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D78924"/>
                </a:solidFill>
                <a:latin typeface="Helvetica Neue"/>
                <a:ea typeface="Helvetica Neue"/>
                <a:cs typeface="Helvetica Neue"/>
              </a:defRPr>
            </a:pPr>
            <a:r>
              <a:rPr sz="2625" b="1">
                <a:solidFill>
                  <a:srgbClr val="D78924"/>
                </a:solidFill>
                <a:latin typeface="Helvetica Neue"/>
                <a:ea typeface="Helvetica Neue"/>
                <a:cs typeface="Helvetica Neue"/>
              </a:rPr>
              <a:t>DCT-FISTA</a:t>
            </a:r>
          </a:p>
        </p:txBody>
      </p:sp>
      <p:sp>
        <p:nvSpPr>
          <p:cNvPr id="4" name="">
            <a:extLst xmlns:a="http://schemas.openxmlformats.org/drawingml/2006/main">
              <a:ext uri="{FF2B5EF4-FFF2-40B4-BE49-F238E27FC236}">
                <a16:creationId xmlns:a16="http://schemas.microsoft.com/office/drawing/2014/main" id="{5DA73E26-A713-4F7A-A6C9-A7F1BC7AACBC}"/>
              </a:ext>
            </a:extLst>
          </p:cNvPr>
          <p:cNvSpPr>
            <a:spLocks xmlns:a="http://schemas.openxmlformats.org/drawingml/2006/main" noGrp="1"/>
          </p:cNvSpPr>
          <p:nvPr/>
        </p:nvSpPr>
        <p:spPr>
          <a:xfrm xmlns:a="http://schemas.openxmlformats.org/drawingml/2006/main">
            <a:off x="619125" y="2343150"/>
            <a:ext cx="5048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Explicit transform penalty</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200 optimization iterations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Validation-selected regularization</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 network training</a:t>
            </a:r>
          </a:p>
        </p:txBody>
      </p:sp>
      <p:sp>
        <p:nvSpPr>
          <p:cNvPr id="5" name="">
            <a:extLst xmlns:a="http://schemas.openxmlformats.org/drawingml/2006/main">
              <a:ext uri="{FF2B5EF4-FFF2-40B4-BE49-F238E27FC236}">
                <a16:creationId xmlns:a16="http://schemas.microsoft.com/office/drawing/2014/main" id="{F261370E-9A23-4569-BBE9-12C7C297CCAF}"/>
              </a:ext>
            </a:extLst>
          </p:cNvPr>
          <p:cNvSpPr>
            <a:spLocks xmlns:a="http://schemas.openxmlformats.org/drawingml/2006/main" noGrp="1"/>
          </p:cNvSpPr>
          <p:nvPr/>
        </p:nvSpPr>
        <p:spPr>
          <a:xfrm xmlns:a="http://schemas.openxmlformats.org/drawingml/2006/main">
            <a:off x="6619875" y="15240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47D78"/>
                </a:solidFill>
                <a:latin typeface="Helvetica Neue"/>
                <a:ea typeface="Helvetica Neue"/>
                <a:cs typeface="Helvetica Neue"/>
              </a:defRPr>
            </a:pPr>
            <a:r>
              <a:rPr sz="2625" b="1">
                <a:solidFill>
                  <a:srgbClr val="147D78"/>
                </a:solidFill>
                <a:latin typeface="Helvetica Neue"/>
                <a:ea typeface="Helvetica Neue"/>
                <a:cs typeface="Helvetica Neue"/>
              </a:rPr>
              <a:t>ProxUnroll</a:t>
            </a:r>
          </a:p>
        </p:txBody>
      </p:sp>
      <p:sp>
        <p:nvSpPr>
          <p:cNvPr id="6" name="">
            <a:extLst xmlns:a="http://schemas.openxmlformats.org/drawingml/2006/main">
              <a:ext uri="{FF2B5EF4-FFF2-40B4-BE49-F238E27FC236}">
                <a16:creationId xmlns:a16="http://schemas.microsoft.com/office/drawing/2014/main" id="{5C7DD062-8CE5-4AD5-9DB9-B7F3DFDE91F4}"/>
              </a:ext>
            </a:extLst>
          </p:cNvPr>
          <p:cNvSpPr>
            <a:spLocks xmlns:a="http://schemas.openxmlformats.org/drawingml/2006/main" noGrp="1"/>
          </p:cNvSpPr>
          <p:nvPr/>
        </p:nvSpPr>
        <p:spPr>
          <a:xfrm xmlns:a="http://schemas.openxmlformats.org/drawingml/2006/main">
            <a:off x="6619875" y="2343150"/>
            <a:ext cx="49053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Official HQS and ADMM</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Six shared-weight stages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Measurement consistency updates</a:t>
            </a:r>
          </a:p>
          <a:p xmlns:a="http://schemas.openxmlformats.org/drawingml/2006/main">
            <a:pPr>
              <a:buNone/>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Fixed-operator HQS fine-tuning</a:t>
            </a:r>
          </a:p>
        </p:txBody>
      </p:sp>
      <p:sp>
        <p:nvSpPr>
          <p:cNvPr id="7" name="">
            <a:extLst xmlns:a="http://schemas.openxmlformats.org/drawingml/2006/main">
              <a:ext uri="{FF2B5EF4-FFF2-40B4-BE49-F238E27FC236}">
                <a16:creationId xmlns:a16="http://schemas.microsoft.com/office/drawing/2014/main" id="{91C42CD8-6DEE-4230-B549-04E43A445751}"/>
              </a:ext>
            </a:extLst>
          </p:cNvPr>
          <p:cNvSpPr>
            <a:spLocks xmlns:a="http://schemas.openxmlformats.org/drawingml/2006/main" noGrp="1"/>
          </p:cNvSpPr>
          <p:nvPr/>
        </p:nvSpPr>
        <p:spPr>
          <a:xfrm xmlns:a="http://schemas.openxmlformats.org/drawingml/2006/main">
            <a:off x="619125" y="57912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Main comparison: identical images, sensing factors, measurements, and noise</a:t>
            </a:r>
          </a:p>
        </p:txBody>
      </p:sp>
    </p:spTree>
    <p:extLst>
      <p:ext uri="{BB962C8B-B14F-4D97-AF65-F5344CB8AC3E}">
        <p14:creationId xmlns:p14="http://schemas.microsoft.com/office/powerpoint/2010/main" val="2415943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38904A-09CB-4F27-80C5-103D7F5FB4F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shared image restorer</a:t>
            </a:r>
          </a:p>
        </p:txBody>
      </p:sp>
      <p:sp>
        <p:nvSpPr>
          <p:cNvPr id="2" name="">
            <a:extLst xmlns:a="http://schemas.openxmlformats.org/drawingml/2006/main">
              <a:ext uri="{FF2B5EF4-FFF2-40B4-BE49-F238E27FC236}">
                <a16:creationId xmlns:a16="http://schemas.microsoft.com/office/drawing/2014/main" id="{CCA9698D-F6A8-4AC1-9C50-2726E62CA49D}"/>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5888326bed74792"/>
          <a:stretch xmlns:a="http://schemas.openxmlformats.org/drawingml/2006/main"/>
        </p:blipFill>
        <p:spPr>
          <a:xfrm xmlns:a="http://schemas.openxmlformats.org/drawingml/2006/main">
            <a:off x="619125" y="1675544"/>
            <a:ext cx="10906125" cy="279253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C0B238-6886-444E-8FF2-4A448E7033AA}"/>
              </a:ext>
            </a:extLst>
          </p:cNvPr>
          <p:cNvSpPr>
            <a:spLocks xmlns:a="http://schemas.openxmlformats.org/drawingml/2006/main" noGrp="1"/>
          </p:cNvSpPr>
          <p:nvPr/>
        </p:nvSpPr>
        <p:spPr>
          <a:xfrm xmlns:a="http://schemas.openxmlformats.org/drawingml/2006/main">
            <a:off x="619125" y="5048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Convolution and attention restore the image at multiple scales</a:t>
            </a:r>
          </a:p>
          <a:p xmlns:a="http://schemas.openxmlformats.org/drawingml/2006/main">
            <a:pPr>
              <a:buNone/>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Shared weights and feature memory link the six stages</a:t>
            </a:r>
          </a:p>
        </p:txBody>
      </p:sp>
    </p:spTree>
    <p:extLst>
      <p:ext uri="{BB962C8B-B14F-4D97-AF65-F5344CB8AC3E}">
        <p14:creationId xmlns:p14="http://schemas.microsoft.com/office/powerpoint/2010/main" val="1308605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EEEC34-2AE1-41F7-BE84-0CAC3EC84271}"/>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External evaluation protocol</a:t>
            </a:r>
          </a:p>
        </p:txBody>
      </p:sp>
      <p:sp>
        <p:nvSpPr>
          <p:cNvPr id="2" name="">
            <a:extLst xmlns:a="http://schemas.openxmlformats.org/drawingml/2006/main">
              <a:ext uri="{FF2B5EF4-FFF2-40B4-BE49-F238E27FC236}">
                <a16:creationId xmlns:a16="http://schemas.microsoft.com/office/drawing/2014/main" id="{DE176A28-7B40-462F-AFF7-27AC8F97E46C}"/>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713ECFDB-1634-4E9C-A52F-5E230BE7719E}"/>
              </a:ext>
            </a:extLst>
          </p:cNvPr>
          <p:cNvSpPr>
            <a:spLocks xmlns:a="http://schemas.openxmlformats.org/drawingml/2006/main" noGrp="1"/>
          </p:cNvSpPr>
          <p:nvPr/>
        </p:nvSpPr>
        <p:spPr>
          <a:xfrm xmlns:a="http://schemas.openxmlformats.org/drawingml/2006/main">
            <a:off x="619125" y="152400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272B"/>
                </a:solidFill>
                <a:latin typeface="Helvetica Neue"/>
                <a:ea typeface="Helvetica Neue"/>
                <a:cs typeface="Helvetica Neue"/>
              </a:defRPr>
            </a:pPr>
            <a:r>
              <a:rPr sz="2250" b="0">
                <a:solidFill>
                  <a:srgbClr val="20272B"/>
                </a:solidFill>
                <a:latin typeface="Helvetica Neue"/>
                <a:ea typeface="Helvetica Neue"/>
                <a:cs typeface="Helvetica Neue"/>
              </a:rPr>
              <a:t>24 Kodak images</a:t>
            </a:r>
          </a:p>
          <a:p xmlns:a="http://schemas.openxmlformats.org/drawingml/2006/main">
            <a:pPr>
              <a:defRPr sz="2250" b="0">
                <a:solidFill>
                  <a:srgbClr val="20272B"/>
                </a:solidFill>
                <a:latin typeface="Helvetica Neue"/>
                <a:ea typeface="Helvetica Neue"/>
                <a:cs typeface="Helvetica Neue"/>
              </a:defRPr>
            </a:pPr>
            <a:r>
              <a:rPr sz="2250" b="0">
                <a:solidFill>
                  <a:srgbClr val="20272B"/>
                </a:solidFill>
                <a:latin typeface="Helvetica Neue"/>
                <a:ea typeface="Helvetica Neue"/>
                <a:cs typeface="Helvetica Neue"/>
              </a:rPr>
              <a:t>24 raw frames from 8 HEVC videos</a:t>
            </a:r>
          </a:p>
          <a:p xmlns:a="http://schemas.openxmlformats.org/drawingml/2006/main">
            <a:pPr>
              <a:defRPr sz="2250" b="0">
                <a:solidFill>
                  <a:srgbClr val="20272B"/>
                </a:solidFill>
                <a:latin typeface="Helvetica Neue"/>
                <a:ea typeface="Helvetica Neue"/>
                <a:cs typeface="Helvetica Neue"/>
              </a:defRPr>
            </a:pPr>
            <a:r>
              <a:rPr sz="2250" b="0">
                <a:solidFill>
                  <a:srgbClr val="20272B"/>
                </a:solidFill>
                <a:latin typeface="Helvetica Neue"/>
                <a:ea typeface="Helvetica Neue"/>
                <a:cs typeface="Helvetica Neue"/>
              </a:rPr>
              <a:t>Center-square crop, then 256 × 256 grayscale</a:t>
            </a:r>
          </a:p>
          <a:p xmlns:a="http://schemas.openxmlformats.org/drawingml/2006/main">
            <a:pPr>
              <a:defRPr sz="2250" b="0">
                <a:solidFill>
                  <a:srgbClr val="20272B"/>
                </a:solidFill>
                <a:latin typeface="Helvetica Neue"/>
                <a:ea typeface="Helvetica Neue"/>
                <a:cs typeface="Helvetica Neue"/>
              </a:defRPr>
            </a:pPr>
            <a:r>
              <a:rPr sz="2250" b="0">
                <a:solidFill>
                  <a:srgbClr val="20272B"/>
                </a:solidFill>
                <a:latin typeface="Helvetica Neue"/>
                <a:ea typeface="Helvetica Neue"/>
                <a:cs typeface="Helvetica Neue"/>
              </a:rPr>
              <a:t>5 clean rates and 2 noise levels with 3 seeds</a:t>
            </a:r>
          </a:p>
        </p:txBody>
      </p:sp>
      <p:sp>
        <p:nvSpPr>
          <p:cNvPr id="4" name="">
            <a:extLst xmlns:a="http://schemas.openxmlformats.org/drawingml/2006/main">
              <a:ext uri="{FF2B5EF4-FFF2-40B4-BE49-F238E27FC236}">
                <a16:creationId xmlns:a16="http://schemas.microsoft.com/office/drawing/2014/main" id="{792A3973-4BA4-4B2E-AA1E-E3946D428BA9}"/>
              </a:ext>
            </a:extLst>
          </p:cNvPr>
          <p:cNvSpPr>
            <a:spLocks xmlns:a="http://schemas.openxmlformats.org/drawingml/2006/main" noGrp="1"/>
          </p:cNvSpPr>
          <p:nvPr/>
        </p:nvSpPr>
        <p:spPr>
          <a:xfrm xmlns:a="http://schemas.openxmlformats.org/drawingml/2006/main">
            <a:off x="619125" y="5238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D78"/>
                </a:solidFill>
                <a:latin typeface="Helvetica Neue"/>
                <a:ea typeface="Helvetica Neue"/>
                <a:cs typeface="Helvetica Neue"/>
              </a:defRPr>
            </a:pPr>
            <a:r>
              <a:rPr sz="2175" b="1">
                <a:solidFill>
                  <a:srgbClr val="147D78"/>
                </a:solidFill>
                <a:latin typeface="Helvetica Neue"/>
                <a:ea typeface="Helvetica Neue"/>
                <a:cs typeface="Helvetica Neue"/>
              </a:rPr>
              <a:t>Equal video weights within each HEVC class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46b18945ccc4662"/>
          <a:stretch xmlns:a="http://schemas.openxmlformats.org/drawingml/2006/main"/>
        </p:blipFill>
        <p:spPr>
          <a:xfrm xmlns:a="http://schemas.openxmlformats.org/drawingml/2006/main">
            <a:off x="762000" y="3638550"/>
            <a:ext cx="1428750" cy="14287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05015a016b5430b"/>
          <a:stretch xmlns:a="http://schemas.openxmlformats.org/drawingml/2006/main"/>
        </p:blipFill>
        <p:spPr>
          <a:xfrm xmlns:a="http://schemas.openxmlformats.org/drawingml/2006/main">
            <a:off x="3619500" y="3638550"/>
            <a:ext cx="1428750" cy="142875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260588ff36b4ab6"/>
          <a:stretch xmlns:a="http://schemas.openxmlformats.org/drawingml/2006/main"/>
        </p:blipFill>
        <p:spPr>
          <a:xfrm xmlns:a="http://schemas.openxmlformats.org/drawingml/2006/main">
            <a:off x="6477000" y="3638550"/>
            <a:ext cx="1428750" cy="1428750"/>
          </a:xfrm>
          <a:prstGeom xmlns:a="http://schemas.openxmlformats.org/drawingml/2006/main" prst="rect">
            <a:avLst/>
          </a:prstGeom>
        </p:spPr>
      </p:pic>
    </p:spTree>
    <p:extLst>
      <p:ext uri="{BB962C8B-B14F-4D97-AF65-F5344CB8AC3E}">
        <p14:creationId xmlns:p14="http://schemas.microsoft.com/office/powerpoint/2010/main" val="6612522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1E54F0-AC71-4A1C-8638-A7F0DFD7668E}"/>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Kodak reconstruction across sampling rates</a:t>
            </a:r>
          </a:p>
        </p:txBody>
      </p:sp>
      <p:sp>
        <p:nvSpPr>
          <p:cNvPr id="2" name="">
            <a:extLst xmlns:a="http://schemas.openxmlformats.org/drawingml/2006/main">
              <a:ext uri="{FF2B5EF4-FFF2-40B4-BE49-F238E27FC236}">
                <a16:creationId xmlns:a16="http://schemas.microsoft.com/office/drawing/2014/main" id="{EC48CD69-631E-4F59-92FC-56876867A363}"/>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06</a:t>
            </a:r>
          </a:p>
        </p:txBody>
      </p:sp>
      <p:graphicFrame>
        <p:nvGraphicFramePr>
          <p:cNvPr id="6"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87a991b4abfa409d"/>
          </a:graphicData>
        </a:graphic>
      </p:graphicFrame>
    </p:spTree>
    <p:extLst>
      <p:ext uri="{BB962C8B-B14F-4D97-AF65-F5344CB8AC3E}">
        <p14:creationId xmlns:p14="http://schemas.microsoft.com/office/powerpoint/2010/main" val="5869735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1BA603-668C-4BA1-BFA6-AB55D31812E7}"/>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Results by dataset at 10% sampling</a:t>
            </a:r>
          </a:p>
        </p:txBody>
      </p:sp>
      <p:sp>
        <p:nvSpPr>
          <p:cNvPr id="2" name="">
            <a:extLst xmlns:a="http://schemas.openxmlformats.org/drawingml/2006/main">
              <a:ext uri="{FF2B5EF4-FFF2-40B4-BE49-F238E27FC236}">
                <a16:creationId xmlns:a16="http://schemas.microsoft.com/office/drawing/2014/main" id="{A7486F81-7A61-4B50-8B3F-597BEB9B0C89}"/>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07</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498b864061134212"/>
          </a:graphicData>
        </a:graphic>
      </p:graphicFrame>
      <p:sp>
        <p:nvSpPr>
          <p:cNvPr id="4" name="">
            <a:extLst xmlns:a="http://schemas.openxmlformats.org/drawingml/2006/main">
              <a:ext uri="{FF2B5EF4-FFF2-40B4-BE49-F238E27FC236}">
                <a16:creationId xmlns:a16="http://schemas.microsoft.com/office/drawing/2014/main" id="{06B33303-44FD-4C3F-A015-76F1E91F0A89}"/>
              </a:ext>
            </a:extLst>
          </p:cNvPr>
          <p:cNvSpPr>
            <a:spLocks xmlns:a="http://schemas.openxmlformats.org/drawingml/2006/main" noGrp="1"/>
          </p:cNvSpPr>
          <p:nvPr/>
        </p:nvSpPr>
        <p:spPr>
          <a:xfrm xmlns:a="http://schemas.openxmlformats.org/drawingml/2006/main">
            <a:off x="619125"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HEVC B: 5 videos       HEVC E: 3 videos</a:t>
            </a:r>
          </a:p>
        </p:txBody>
      </p:sp>
    </p:spTree>
    <p:extLst>
      <p:ext uri="{BB962C8B-B14F-4D97-AF65-F5344CB8AC3E}">
        <p14:creationId xmlns:p14="http://schemas.microsoft.com/office/powerpoint/2010/main" val="9959896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EF1EEA-A4B0-46FC-8E61-8936CAD85ECD}"/>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Bounded HQS fine-tuning</a:t>
            </a:r>
          </a:p>
        </p:txBody>
      </p:sp>
      <p:sp>
        <p:nvSpPr>
          <p:cNvPr id="2" name="">
            <a:extLst xmlns:a="http://schemas.openxmlformats.org/drawingml/2006/main">
              <a:ext uri="{FF2B5EF4-FFF2-40B4-BE49-F238E27FC236}">
                <a16:creationId xmlns:a16="http://schemas.microsoft.com/office/drawing/2014/main" id="{F279E2F1-82B9-4002-A166-443502BD6112}"/>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EBE9B5A4-813C-4009-B512-68F8EEB2BC32}"/>
              </a:ext>
            </a:extLst>
          </p:cNvPr>
          <p:cNvSpPr>
            <a:spLocks xmlns:a="http://schemas.openxmlformats.org/drawingml/2006/main" noGrp="1"/>
          </p:cNvSpPr>
          <p:nvPr/>
        </p:nvSpPr>
        <p:spPr>
          <a:xfrm xmlns:a="http://schemas.openxmlformats.org/drawingml/2006/main">
            <a:off x="619125" y="16192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128 DIV2K training originals</a:t>
            </a:r>
          </a:p>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16 separate validation originals</a:t>
            </a:r>
          </a:p>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Kodak and HEVC reserved for test</a:t>
            </a:r>
          </a:p>
        </p:txBody>
      </p:sp>
      <p:sp>
        <p:nvSpPr>
          <p:cNvPr id="4" name="">
            <a:extLst xmlns:a="http://schemas.openxmlformats.org/drawingml/2006/main">
              <a:ext uri="{FF2B5EF4-FFF2-40B4-BE49-F238E27FC236}">
                <a16:creationId xmlns:a16="http://schemas.microsoft.com/office/drawing/2014/main" id="{3B7E92CF-45DB-4A5F-A04D-41FED256DB6A}"/>
              </a:ext>
            </a:extLst>
          </p:cNvPr>
          <p:cNvSpPr>
            <a:spLocks xmlns:a="http://schemas.openxmlformats.org/drawingml/2006/main" noGrp="1"/>
          </p:cNvSpPr>
          <p:nvPr/>
        </p:nvSpPr>
        <p:spPr>
          <a:xfrm xmlns:a="http://schemas.openxmlformats.org/drawingml/2006/main">
            <a:off x="619125" y="342900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All sensing factors frozen</a:t>
            </a:r>
          </a:p>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Six-stage reconstruction parameters updated</a:t>
            </a:r>
          </a:p>
        </p:txBody>
      </p:sp>
      <p:sp>
        <p:nvSpPr>
          <p:cNvPr id="5" name="">
            <a:extLst xmlns:a="http://schemas.openxmlformats.org/drawingml/2006/main">
              <a:ext uri="{FF2B5EF4-FFF2-40B4-BE49-F238E27FC236}">
                <a16:creationId xmlns:a16="http://schemas.microsoft.com/office/drawing/2014/main" id="{F0D26228-3A1F-4F43-A678-F39DD351717F}"/>
              </a:ext>
            </a:extLst>
          </p:cNvPr>
          <p:cNvSpPr>
            <a:spLocks xmlns:a="http://schemas.openxmlformats.org/drawingml/2006/main" noGrp="1"/>
          </p:cNvSpPr>
          <p:nvPr/>
        </p:nvSpPr>
        <p:spPr>
          <a:xfrm xmlns:a="http://schemas.openxmlformats.org/drawingml/2006/main">
            <a:off x="619125" y="5105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100 total steps    Continued run: 2.9 min</a:t>
            </a:r>
          </a:p>
          <a:p xmlns:a="http://schemas.openxmlformats.org/drawingml/2006/main">
            <a:pPr>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Peak allocated memory: 10.85 GiB</a:t>
            </a:r>
          </a:p>
        </p:txBody>
      </p:sp>
    </p:spTree>
    <p:extLst>
      <p:ext uri="{BB962C8B-B14F-4D97-AF65-F5344CB8AC3E}">
        <p14:creationId xmlns:p14="http://schemas.microsoft.com/office/powerpoint/2010/main" val="1982388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06B5AF-CEE5-4D4E-8CA6-8A7541465BBF}"/>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Validation selects the checkpoint</a:t>
            </a:r>
          </a:p>
        </p:txBody>
      </p:sp>
      <p:sp>
        <p:nvSpPr>
          <p:cNvPr id="2" name="">
            <a:extLst xmlns:a="http://schemas.openxmlformats.org/drawingml/2006/main">
              <a:ext uri="{FF2B5EF4-FFF2-40B4-BE49-F238E27FC236}">
                <a16:creationId xmlns:a16="http://schemas.microsoft.com/office/drawing/2014/main" id="{1E8B491D-542B-4F9E-8D94-ADEE07797D3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09</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b816331536ab4986"/>
          </a:graphicData>
        </a:graphic>
      </p:graphicFrame>
      <p:sp>
        <p:nvSpPr>
          <p:cNvPr id="4" name="">
            <a:extLst xmlns:a="http://schemas.openxmlformats.org/drawingml/2006/main">
              <a:ext uri="{FF2B5EF4-FFF2-40B4-BE49-F238E27FC236}">
                <a16:creationId xmlns:a16="http://schemas.microsoft.com/office/drawing/2014/main" id="{45370DB0-AF8F-47F3-B728-6A2350E01595}"/>
              </a:ext>
            </a:extLst>
          </p:cNvPr>
          <p:cNvSpPr>
            <a:spLocks xmlns:a="http://schemas.openxmlformats.org/drawingml/2006/main" noGrp="1"/>
          </p:cNvSpPr>
          <p:nvPr/>
        </p:nvSpPr>
        <p:spPr>
          <a:xfrm xmlns:a="http://schemas.openxmlformats.org/drawingml/2006/main">
            <a:off x="619125" y="58388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D78"/>
                </a:solidFill>
                <a:latin typeface="Helvetica Neue"/>
                <a:ea typeface="Helvetica Neue"/>
                <a:cs typeface="Helvetica Neue"/>
              </a:defRPr>
            </a:pPr>
            <a:r>
              <a:rPr sz="2025" b="1">
                <a:solidFill>
                  <a:srgbClr val="147D78"/>
                </a:solidFill>
                <a:latin typeface="Helvetica Neue"/>
                <a:ea typeface="Helvetica Neue"/>
                <a:cs typeface="Helvetica Neue"/>
              </a:rPr>
              <a:t>Selected step: 100</a:t>
            </a:r>
          </a:p>
        </p:txBody>
      </p:sp>
    </p:spTree>
    <p:extLst>
      <p:ext uri="{BB962C8B-B14F-4D97-AF65-F5344CB8AC3E}">
        <p14:creationId xmlns:p14="http://schemas.microsoft.com/office/powerpoint/2010/main" val="18855123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926777-1B27-4C70-9CD2-C5417CA6C038}"/>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Test change after HQS fine-tuning</a:t>
            </a:r>
          </a:p>
        </p:txBody>
      </p:sp>
      <p:sp>
        <p:nvSpPr>
          <p:cNvPr id="2" name="">
            <a:extLst xmlns:a="http://schemas.openxmlformats.org/drawingml/2006/main">
              <a:ext uri="{FF2B5EF4-FFF2-40B4-BE49-F238E27FC236}">
                <a16:creationId xmlns:a16="http://schemas.microsoft.com/office/drawing/2014/main" id="{23D020F9-CB7B-4A85-B45A-E213A62D0A86}"/>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10</a:t>
            </a:r>
          </a:p>
        </p:txBody>
      </p:sp>
      <p:graphicFrame>
        <p:nvGraphicFramePr>
          <p:cNvPr id="7" name="Chart"/>
          <p:cNvGraphicFramePr/>
          <p:nvPr/>
        </p:nvGraphicFramePr>
        <p:xfrm>
          <a:off xmlns:a="http://schemas.openxmlformats.org/drawingml/2006/main" x="619125" y="1524000"/>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c77b948a51884f1a"/>
          </a:graphicData>
        </a:graphic>
      </p:graphicFrame>
      <p:sp>
        <p:nvSpPr>
          <p:cNvPr id="4" name="">
            <a:extLst xmlns:a="http://schemas.openxmlformats.org/drawingml/2006/main">
              <a:ext uri="{FF2B5EF4-FFF2-40B4-BE49-F238E27FC236}">
                <a16:creationId xmlns:a16="http://schemas.microsoft.com/office/drawing/2014/main" id="{ABC8C407-DEC9-4383-B98D-3A58A0A21639}"/>
              </a:ext>
            </a:extLst>
          </p:cNvPr>
          <p:cNvSpPr>
            <a:spLocks xmlns:a="http://schemas.openxmlformats.org/drawingml/2006/main" noGrp="1"/>
          </p:cNvSpPr>
          <p:nvPr/>
        </p:nvSpPr>
        <p:spPr>
          <a:xfrm xmlns:a="http://schemas.openxmlformats.org/drawingml/2006/main">
            <a:off x="619125"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Strong-noise HEVC B/E change: -0.03 / -0.04 dB</a:t>
            </a:r>
          </a:p>
        </p:txBody>
      </p:sp>
    </p:spTree>
    <p:extLst>
      <p:ext uri="{BB962C8B-B14F-4D97-AF65-F5344CB8AC3E}">
        <p14:creationId xmlns:p14="http://schemas.microsoft.com/office/powerpoint/2010/main" val="6231990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0AE7A4-4B6B-4436-AF93-BDB65FD52E7C}"/>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A difficult held-out test case</a:t>
            </a:r>
          </a:p>
        </p:txBody>
      </p:sp>
      <p:sp>
        <p:nvSpPr>
          <p:cNvPr id="2" name="">
            <a:extLst xmlns:a="http://schemas.openxmlformats.org/drawingml/2006/main">
              <a:ext uri="{FF2B5EF4-FFF2-40B4-BE49-F238E27FC236}">
                <a16:creationId xmlns:a16="http://schemas.microsoft.com/office/drawing/2014/main" id="{44DC1CE6-27B8-43D6-91EE-862132F88F85}"/>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09AAE4EE-C33B-47E9-9CC1-987DD953013E}"/>
              </a:ext>
            </a:extLst>
          </p:cNvPr>
          <p:cNvSpPr>
            <a:spLocks xmlns:a="http://schemas.openxmlformats.org/drawingml/2006/main" noGrp="1"/>
          </p:cNvSpPr>
          <p:nvPr/>
        </p:nvSpPr>
        <p:spPr>
          <a:xfrm xmlns:a="http://schemas.openxmlformats.org/drawingml/2006/main">
            <a:off x="619125" y="15525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72B"/>
                </a:solidFill>
                <a:latin typeface="Helvetica Neue"/>
                <a:ea typeface="Helvetica Neue"/>
                <a:cs typeface="Helvetica Neue"/>
              </a:defRPr>
            </a:pPr>
            <a:r>
              <a:rPr sz="2025" b="1">
                <a:solidFill>
                  <a:srgbClr val="20272B"/>
                </a:solidFill>
                <a:latin typeface="Helvetica Neue"/>
                <a:ea typeface="Helvetica Neue"/>
                <a:cs typeface="Helvetica Neue"/>
              </a:rPr>
              <a:t>Reference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a77b74f6fe04b65"/>
          <a:stretch xmlns:a="http://schemas.openxmlformats.org/drawingml/2006/main"/>
        </p:blipFill>
        <p:spPr>
          <a:xfrm xmlns:a="http://schemas.openxmlformats.org/drawingml/2006/main">
            <a:off x="619125" y="2181225"/>
            <a:ext cx="3238500" cy="3238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511AAD-B034-4373-A68A-2847270958C6}"/>
              </a:ext>
            </a:extLst>
          </p:cNvPr>
          <p:cNvSpPr>
            <a:spLocks xmlns:a="http://schemas.openxmlformats.org/drawingml/2006/main" noGrp="1"/>
          </p:cNvSpPr>
          <p:nvPr/>
        </p:nvSpPr>
        <p:spPr>
          <a:xfrm xmlns:a="http://schemas.openxmlformats.org/drawingml/2006/main">
            <a:off x="4333875" y="15525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72B"/>
                </a:solidFill>
                <a:latin typeface="Helvetica Neue"/>
                <a:ea typeface="Helvetica Neue"/>
                <a:cs typeface="Helvetica Neue"/>
              </a:defRPr>
            </a:pPr>
            <a:r>
              <a:rPr sz="2025" b="1">
                <a:solidFill>
                  <a:srgbClr val="20272B"/>
                </a:solidFill>
                <a:latin typeface="Helvetica Neue"/>
                <a:ea typeface="Helvetica Neue"/>
                <a:cs typeface="Helvetica Neue"/>
              </a:rPr>
              <a:t>Original HQS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0e73fc648ba4450"/>
          <a:stretch xmlns:a="http://schemas.openxmlformats.org/drawingml/2006/main"/>
        </p:blipFill>
        <p:spPr>
          <a:xfrm xmlns:a="http://schemas.openxmlformats.org/drawingml/2006/main">
            <a:off x="4333875" y="2181225"/>
            <a:ext cx="3238500" cy="3238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B4AA79-756B-4AA9-AEFA-90C06475708A}"/>
              </a:ext>
            </a:extLst>
          </p:cNvPr>
          <p:cNvSpPr>
            <a:spLocks xmlns:a="http://schemas.openxmlformats.org/drawingml/2006/main" noGrp="1"/>
          </p:cNvSpPr>
          <p:nvPr/>
        </p:nvSpPr>
        <p:spPr>
          <a:xfrm xmlns:a="http://schemas.openxmlformats.org/drawingml/2006/main">
            <a:off x="8048625" y="15525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72B"/>
                </a:solidFill>
                <a:latin typeface="Helvetica Neue"/>
                <a:ea typeface="Helvetica Neue"/>
                <a:cs typeface="Helvetica Neue"/>
              </a:defRPr>
            </a:pPr>
            <a:r>
              <a:rPr sz="2025" b="1">
                <a:solidFill>
                  <a:srgbClr val="20272B"/>
                </a:solidFill>
                <a:latin typeface="Helvetica Neue"/>
                <a:ea typeface="Helvetica Neue"/>
                <a:cs typeface="Helvetica Neue"/>
              </a:rPr>
              <a:t>Fine-tuned HQS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ac4343de35b4617"/>
          <a:stretch xmlns:a="http://schemas.openxmlformats.org/drawingml/2006/main"/>
        </p:blipFill>
        <p:spPr>
          <a:xfrm xmlns:a="http://schemas.openxmlformats.org/drawingml/2006/main">
            <a:off x="8048625" y="2181225"/>
            <a:ext cx="3238500" cy="3238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1688EBC-4FB3-4DCF-9C87-0442EAE04215}"/>
              </a:ext>
            </a:extLst>
          </p:cNvPr>
          <p:cNvSpPr>
            <a:spLocks xmlns:a="http://schemas.openxmlformats.org/drawingml/2006/main" noGrp="1"/>
          </p:cNvSpPr>
          <p:nvPr/>
        </p:nvSpPr>
        <p:spPr>
          <a:xfrm xmlns:a="http://schemas.openxmlformats.org/drawingml/2006/main">
            <a:off x="619125" y="57912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kodim20    10% sampling    Noise 0.05    Change -0.248 dB</a:t>
            </a:r>
          </a:p>
        </p:txBody>
      </p:sp>
    </p:spTree>
    <p:extLst>
      <p:ext uri="{BB962C8B-B14F-4D97-AF65-F5344CB8AC3E}">
        <p14:creationId xmlns:p14="http://schemas.microsoft.com/office/powerpoint/2010/main" val="8557180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A616CE-8441-464F-84B8-86C41F39762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Conclusions and limits</a:t>
            </a:r>
          </a:p>
        </p:txBody>
      </p:sp>
      <p:sp>
        <p:nvSpPr>
          <p:cNvPr id="2" name="">
            <a:extLst xmlns:a="http://schemas.openxmlformats.org/drawingml/2006/main">
              <a:ext uri="{FF2B5EF4-FFF2-40B4-BE49-F238E27FC236}">
                <a16:creationId xmlns:a16="http://schemas.microsoft.com/office/drawing/2014/main" id="{D4EDF5A4-5396-4827-85F9-1EADFB44FFE5}"/>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FB91ACD0-4431-418C-8451-0D4557BD22F9}"/>
              </a:ext>
            </a:extLst>
          </p:cNvPr>
          <p:cNvSpPr>
            <a:spLocks xmlns:a="http://schemas.openxmlformats.org/drawingml/2006/main" noGrp="1"/>
          </p:cNvSpPr>
          <p:nvPr/>
        </p:nvSpPr>
        <p:spPr>
          <a:xfrm xmlns:a="http://schemas.openxmlformats.org/drawingml/2006/main">
            <a:off x="619125" y="17145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D78"/>
                </a:solidFill>
                <a:latin typeface="Helvetica Neue"/>
                <a:ea typeface="Helvetica Neue"/>
                <a:cs typeface="Helvetica Neue"/>
              </a:defRPr>
            </a:pPr>
            <a:r>
              <a:rPr sz="2325" b="1">
                <a:solidFill>
                  <a:srgbClr val="147D78"/>
                </a:solidFill>
                <a:latin typeface="Helvetica Neue"/>
                <a:ea typeface="Helvetica Neue"/>
                <a:cs typeface="Helvetica Neue"/>
              </a:rPr>
              <a:t>Clean-test PSNR gains: 0.14-0.37 dB at 10% sampling</a:t>
            </a:r>
          </a:p>
          <a:p xmlns:a="http://schemas.openxmlformats.org/drawingml/2006/main">
            <a:pPr>
              <a:defRPr sz="2325" b="1">
                <a:solidFill>
                  <a:srgbClr val="147D78"/>
                </a:solidFill>
                <a:latin typeface="Helvetica Neue"/>
                <a:ea typeface="Helvetica Neue"/>
                <a:cs typeface="Helvetica Neue"/>
              </a:defRPr>
            </a:pPr>
            <a:r>
              <a:rPr sz="2325" b="1">
                <a:solidFill>
                  <a:srgbClr val="147D78"/>
                </a:solidFill>
                <a:latin typeface="Helvetica Neue"/>
                <a:ea typeface="Helvetica Neue"/>
                <a:cs typeface="Helvetica Neue"/>
              </a:rPr>
              <a:t>Strong-noise HEVC PSNR decreases slightly</a:t>
            </a:r>
          </a:p>
          <a:p xmlns:a="http://schemas.openxmlformats.org/drawingml/2006/main">
            <a:pPr>
              <a:defRPr sz="2325" b="1">
                <a:solidFill>
                  <a:srgbClr val="147D78"/>
                </a:solidFill>
                <a:latin typeface="Helvetica Neue"/>
                <a:ea typeface="Helvetica Neue"/>
                <a:cs typeface="Helvetica Neue"/>
              </a:defRPr>
            </a:pPr>
            <a:r>
              <a:rPr sz="2325" b="1">
                <a:solidFill>
                  <a:srgbClr val="147D78"/>
                </a:solidFill>
                <a:latin typeface="Helvetica Neue"/>
                <a:ea typeface="Helvetica Neue"/>
                <a:cs typeface="Helvetica Neue"/>
              </a:rPr>
              <a:t>Raw results include failures and recovery checkpoints</a:t>
            </a:r>
          </a:p>
        </p:txBody>
      </p:sp>
      <p:sp>
        <p:nvSpPr>
          <p:cNvPr id="4" name="">
            <a:extLst xmlns:a="http://schemas.openxmlformats.org/drawingml/2006/main">
              <a:ext uri="{FF2B5EF4-FFF2-40B4-BE49-F238E27FC236}">
                <a16:creationId xmlns:a16="http://schemas.microsoft.com/office/drawing/2014/main" id="{7D495A8E-4CFA-4339-AC3E-AE27EC0ACDC3}"/>
              </a:ext>
            </a:extLst>
          </p:cNvPr>
          <p:cNvSpPr>
            <a:spLocks xmlns:a="http://schemas.openxmlformats.org/drawingml/2006/main" noGrp="1"/>
          </p:cNvSpPr>
          <p:nvPr/>
        </p:nvSpPr>
        <p:spPr>
          <a:xfrm xmlns:a="http://schemas.openxmlformats.org/drawingml/2006/main">
            <a:off x="619125" y="40195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72B"/>
                </a:solidFill>
                <a:latin typeface="Helvetica Neue"/>
                <a:ea typeface="Helvetica Neue"/>
                <a:cs typeface="Helvetica Neue"/>
              </a:defRPr>
            </a:pPr>
            <a:r>
              <a:rPr sz="2025" b="0">
                <a:solidFill>
                  <a:srgbClr val="20272B"/>
                </a:solidFill>
                <a:latin typeface="Helvetica Neue"/>
                <a:ea typeface="Helvetica Neue"/>
                <a:cs typeface="Helvetica Neue"/>
              </a:rPr>
              <a:t>Limits: one training seed and a small DIV2K subset</a:t>
            </a:r>
          </a:p>
          <a:p xmlns:a="http://schemas.openxmlformats.org/drawingml/2006/main">
            <a:pPr>
              <a:defRPr sz="2025" b="0">
                <a:solidFill>
                  <a:srgbClr val="20272B"/>
                </a:solidFill>
                <a:latin typeface="Helvetica Neue"/>
                <a:ea typeface="Helvetica Neue"/>
                <a:cs typeface="Helvetica Neue"/>
              </a:defRPr>
            </a:pPr>
            <a:r>
              <a:rPr sz="2025" b="0">
                <a:solidFill>
                  <a:srgbClr val="20272B"/>
                </a:solidFill>
                <a:latin typeface="Helvetica Neue"/>
                <a:ea typeface="Helvetica Neue"/>
                <a:cs typeface="Helvetica Neue"/>
              </a:rPr>
              <a:t>Center cropping changes the benchmark task</a:t>
            </a:r>
          </a:p>
          <a:p xmlns:a="http://schemas.openxmlformats.org/drawingml/2006/main">
            <a:pPr>
              <a:defRPr sz="2025" b="0">
                <a:solidFill>
                  <a:srgbClr val="20272B"/>
                </a:solidFill>
                <a:latin typeface="Helvetica Neue"/>
                <a:ea typeface="Helvetica Neue"/>
                <a:cs typeface="Helvetica Neue"/>
              </a:defRPr>
            </a:pPr>
            <a:r>
              <a:rPr sz="2025" b="0">
                <a:solidFill>
                  <a:srgbClr val="20272B"/>
                </a:solidFill>
                <a:latin typeface="Helvetica Neue"/>
                <a:ea typeface="Helvetica Neue"/>
                <a:cs typeface="Helvetica Neue"/>
              </a:rPr>
              <a:t>HEVC frames use single-image reconstruction</a:t>
            </a:r>
          </a:p>
        </p:txBody>
      </p:sp>
      <p:sp>
        <p:nvSpPr>
          <p:cNvPr id="5" name="">
            <a:extLst xmlns:a="http://schemas.openxmlformats.org/drawingml/2006/main">
              <a:ext uri="{FF2B5EF4-FFF2-40B4-BE49-F238E27FC236}">
                <a16:creationId xmlns:a16="http://schemas.microsoft.com/office/drawing/2014/main" id="{246E0B72-C438-41C5-80F4-CBDB6C433407}"/>
              </a:ext>
            </a:extLst>
          </p:cNvPr>
          <p:cNvSpPr>
            <a:spLocks xmlns:a="http://schemas.openxmlformats.org/drawingml/2006/main" noGrp="1"/>
          </p:cNvSpPr>
          <p:nvPr/>
        </p:nvSpPr>
        <p:spPr>
          <a:xfrm xmlns:a="http://schemas.openxmlformats.org/drawingml/2006/main">
            <a:off x="619125" y="58388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66C"/>
                </a:solidFill>
                <a:latin typeface="Helvetica Neue"/>
                <a:ea typeface="Helvetica Neue"/>
                <a:cs typeface="Helvetica Neue"/>
              </a:defRPr>
            </a:pPr>
            <a:r>
              <a:rPr sz="1425" b="0">
                <a:solidFill>
                  <a:srgbClr val="59666C"/>
                </a:solidFill>
                <a:latin typeface="Helvetica Neue"/>
                <a:ea typeface="Helvetica Neue"/>
                <a:cs typeface="Helvetica Neue"/>
              </a:rPr>
              <a:t>AI disclosure: Codex assisted with implementation, experiments, analysis and writing</a:t>
            </a:r>
          </a:p>
          <a:p xmlns:a="http://schemas.openxmlformats.org/drawingml/2006/main">
            <a:pPr>
              <a:defRPr sz="1425" b="0">
                <a:solidFill>
                  <a:srgbClr val="59666C"/>
                </a:solidFill>
                <a:latin typeface="Helvetica Neue"/>
                <a:ea typeface="Helvetica Neue"/>
                <a:cs typeface="Helvetica Neue"/>
              </a:defRPr>
            </a:pPr>
            <a:r>
              <a:rPr sz="1425" b="0">
                <a:solidFill>
                  <a:srgbClr val="59666C"/>
                </a:solidFill>
                <a:latin typeface="Helvetica Neue"/>
                <a:ea typeface="Helvetica Neue"/>
                <a:cs typeface="Helvetica Neue"/>
              </a:rPr>
              <a:t>Architecture and official weights: Wang et al., CVPR 2025</a:t>
            </a:r>
          </a:p>
        </p:txBody>
      </p:sp>
    </p:spTree>
    <p:extLst>
      <p:ext uri="{BB962C8B-B14F-4D97-AF65-F5344CB8AC3E}">
        <p14:creationId xmlns:p14="http://schemas.microsoft.com/office/powerpoint/2010/main" val="96525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2026-10-09T01:50:58.9730000Z</dcterms:created>
  <dcterms:modified xsi:type="dcterms:W3CDTF">2026-10-09T01:50:58.9730000Z</dcterms:modified>
</coreProperties>
</file>